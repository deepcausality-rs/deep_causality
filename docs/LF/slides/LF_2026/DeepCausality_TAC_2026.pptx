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6" r:id="rId3"/>
    <p:sldId id="257" r:id="rId4"/>
    <p:sldId id="258" r:id="rId5"/>
    <p:sldId id="259" r:id="rId6"/>
    <p:sldId id="260" r:id="rId7"/>
    <p:sldId id="263" r:id="rId8"/>
    <p:sldId id="261" r:id="rId9"/>
    <p:sldId id="271" r:id="rId10"/>
    <p:sldId id="272" r:id="rId11"/>
    <p:sldId id="273" r:id="rId12"/>
    <p:sldId id="277" r:id="rId13"/>
    <p:sldId id="268" r:id="rId14"/>
    <p:sldId id="274" r:id="rId15"/>
    <p:sldId id="278" r:id="rId16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88148"/>
  </p:normalViewPr>
  <p:slideViewPr>
    <p:cSldViewPr snapToGrid="0" snapToObjects="1">
      <p:cViewPr varScale="1">
        <p:scale>
          <a:sx n="101" d="100"/>
          <a:sy n="101" d="100"/>
        </p:scale>
        <p:origin x="216" y="2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609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Thank you to our sponsors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parts.</a:t>
            </a:r>
          </a:p>
          <a:p>
            <a:endParaRPr/>
          </a:p>
          <a:p>
            <a:r>
              <a:t>First the premise — one slide on why we did not simply build another causal-graph</a:t>
            </a:r>
          </a:p>
          <a:p>
            <a:r>
              <a:t>library. Then the axiom and the primitives that make it computable. Then the piece I</a:t>
            </a:r>
          </a:p>
          <a:p>
            <a:r>
              <a:t>most want you to take away: one causal stack running from raw data to a governed</a:t>
            </a:r>
          </a:p>
          <a:p>
            <a:r>
              <a:t>production action.</a:t>
            </a:r>
          </a:p>
          <a:p>
            <a:endParaRPr/>
          </a:p>
          <a:p>
            <a:r>
              <a:t>Then two downstream projects built on that stack, which are in my view the proof that</a:t>
            </a:r>
          </a:p>
          <a:p>
            <a:r>
              <a:t>the substrate generalizes: counterfactual fluid dynamics, and quantum causal models.</a:t>
            </a:r>
          </a:p>
          <a:p>
            <a:endParaRPr/>
          </a:p>
          <a:p>
            <a:r>
              <a:t>Then a case study, and finally project health and where we could use help.</a:t>
            </a:r>
          </a:p>
          <a:p>
            <a:endParaRPr/>
          </a:p>
          <a:p>
            <a:r>
              <a:t>Roughly a minute per slide. Stop me at any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the project rests on, so I will spend a full minute here.</a:t>
            </a:r>
          </a:p>
          <a:p>
            <a:endParaRPr/>
          </a:p>
          <a:p>
            <a:r>
              <a:t>Classical computational causality traces its definition of cause back to Seneca — two</a:t>
            </a:r>
          </a:p>
          <a:p>
            <a:r>
              <a:t>thousand years old — and it inherits the static spacetime that came with it. Pearl's</a:t>
            </a:r>
          </a:p>
          <a:p>
            <a:r>
              <a:t>structural causal models, Granger, Rubin, dynamic Bayesian networks: all excellent, all</a:t>
            </a:r>
          </a:p>
          <a:p>
            <a:r>
              <a:t>well validated, and all assuming time runs straight, that the rules are fixed at design</a:t>
            </a:r>
          </a:p>
          <a:p>
            <a:r>
              <a:t>time, and that the causal structure is enumerated up front.</a:t>
            </a:r>
          </a:p>
          <a:p>
            <a:endParaRPr/>
          </a:p>
          <a:p>
            <a:r>
              <a:t>That is not a flaw. It is a scope. And contemporary science has already moved outside</a:t>
            </a:r>
          </a:p>
          <a:p>
            <a:r>
              <a:t>it. In quantum physics and in general relativity the fixed background does not hold.</a:t>
            </a:r>
          </a:p>
          <a:p>
            <a:r>
              <a:t>Closer to home, any system that crosses a physical or operational regime boundary</a:t>
            </a:r>
          </a:p>
          <a:p>
            <a:r>
              <a:t>changes its own causal rules mid-flight.</a:t>
            </a:r>
          </a:p>
          <a:p>
            <a:endParaRPr/>
          </a:p>
          <a:p>
            <a:r>
              <a:t>So we change the starting point. We root the project in Whitehead's process philosophy —</a:t>
            </a:r>
          </a:p>
          <a:p>
            <a:r>
              <a:t>causality as a process of becoming — and make spacetime data the model reads rather than</a:t>
            </a:r>
          </a:p>
          <a:p>
            <a:r>
              <a:t>a frame the model assumes.</a:t>
            </a:r>
          </a:p>
          <a:p>
            <a:endParaRPr/>
          </a:p>
          <a:p>
            <a:r>
              <a:t>The consequence is on the right: rules may evolve at runtime, structure may emerge, and</a:t>
            </a:r>
          </a:p>
          <a:p>
            <a:r>
              <a:t>— the part that matters for production — it is still governable. I will come back to</a:t>
            </a:r>
          </a:p>
          <a:p>
            <a:r>
              <a:t>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whole premise in one line: m-two equals m-one bind f.</a:t>
            </a:r>
          </a:p>
          <a:p>
            <a:endParaRPr/>
          </a:p>
          <a:p>
            <a:r>
              <a:t>Read it as: dynamic causality is the spacetime-agnostic monadic process in which one</a:t>
            </a:r>
          </a:p>
          <a:p>
            <a:r>
              <a:t>propagating effect is obtained from another by applying a causal function within the</a:t>
            </a:r>
          </a:p>
          <a:p>
            <a:r>
              <a:t>monad.</a:t>
            </a:r>
          </a:p>
          <a:p>
            <a:endParaRPr/>
          </a:p>
          <a:p>
            <a:r>
              <a:t>Four things are packed in there.</a:t>
            </a:r>
          </a:p>
          <a:p>
            <a:endParaRPr/>
          </a:p>
          <a:p>
            <a:r>
              <a:t>Monadic process — the carrier is an arity-five record: value, state, context, error, and</a:t>
            </a:r>
          </a:p>
          <a:p>
            <a:r>
              <a:t>an audit log. Because it obeys the monad laws, that bookkeeping is threaded</a:t>
            </a:r>
          </a:p>
          <a:p>
            <a:r>
              <a:t>automatically. That is where end-to-end explainability comes from; nobody has to remember</a:t>
            </a:r>
          </a:p>
          <a:p>
            <a:r>
              <a:t>to log.</a:t>
            </a:r>
          </a:p>
          <a:p>
            <a:endParaRPr/>
          </a:p>
          <a:p>
            <a:r>
              <a:t>Functional dependency — each effect comes from the previous one by applying a causal</a:t>
            </a:r>
          </a:p>
          <a:p>
            <a:r>
              <a:t>function. Chain those and you get effect propagation.</a:t>
            </a:r>
          </a:p>
          <a:p>
            <a:endParaRPr/>
          </a:p>
          <a:p>
            <a:r>
              <a:t>Spacetime-agnostic — time and space are not in the relation. They are inputs.</a:t>
            </a:r>
          </a:p>
          <a:p>
            <a:endParaRPr/>
          </a:p>
          <a:p>
            <a:r>
              <a:t>And because they are not built in, anything time-like or space-like has to live somewhere</a:t>
            </a:r>
          </a:p>
          <a:p>
            <a:r>
              <a:t>explicit: the Context, a typed hypergraph. That is what lets the same model run in</a:t>
            </a:r>
          </a:p>
          <a:p>
            <a:r>
              <a:t>Euclidean space, in Minkowski spacetime, or in a non-Euclidean context.</a:t>
            </a:r>
          </a:p>
          <a:p>
            <a:endParaRPr/>
          </a:p>
          <a:p>
            <a:r>
              <a:t>The intuition, if you want one: a ripple in a pond. One ripple is an effect, it</a:t>
            </a:r>
          </a:p>
          <a:p>
            <a:r>
              <a:t>propagates, it produces the next one. We define how ripples spread — and what happens</a:t>
            </a:r>
          </a:p>
          <a:p>
            <a:r>
              <a:t>when the rules for spreading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slide I would ask you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5C8C8-DB3C-65FF-9C20-6D196D13D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93F14-E1F3-6B6E-29CC-D6098590E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60500-47B3-9414-5FF8-84F910912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0481A-9AB6-8FDC-B3A3-A807AC39B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07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917BB-B43A-A6C8-50B2-8114D844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54576-FAA0-DB5F-E239-B809C235A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4288E-1B08-FEE5-ECBE-7FB297AF6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2F66A-7429-DF1B-73DB-11FC73470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6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63146-3FD9-5C0E-8DA8-D2C88D36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D1F05-E0B8-A015-7A68-1FBA61642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235FF-D3B9-3A96-F0B7-91159D6A0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B460E-E9C5-261B-FCE8-71C75B82A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38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2B83B-9A34-2DE8-D14A-F7AE9B0A3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F69BB-D0A3-7489-7DD2-581235BB5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97E4F-E8B2-E18F-9527-8E2B6B42D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E44DD-E75C-5400-0C19-8C955224E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53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CBE93-43C3-AFCF-ED81-20D7491D5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F5A6E-FA40-6C7B-2151-7062203FEF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3D797-5185-EEED-B59F-23AC7452B4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D3D4C-3FC9-0EBE-E146-25719D1DB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02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F3488-9E2F-353F-D706-963DD8ED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C4333-769C-A70D-DA2E-D8AA3C81B8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B3590-B470-3F98-0909-0237608016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CEE2A-0933-7F26-35EF-A8A286CBB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03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01224" y="420624"/>
            <a:ext cx="7589519" cy="4071366"/>
          </a:xfrm>
          <a:prstGeom prst="roundRect">
            <a:avLst>
              <a:gd name="adj" fmla="val 3593"/>
            </a:avLst>
          </a:prstGeom>
          <a:solidFill>
            <a:srgbClr val="0B1118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c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664" y="512064"/>
            <a:ext cx="7406640" cy="38884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" name="Connector 3"/>
          <p:cNvCxnSpPr/>
          <p:nvPr/>
        </p:nvCxnSpPr>
        <p:spPr>
          <a:xfrm>
            <a:off x="2301224" y="420624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301224" y="420624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689576" y="420624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90744" y="420624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1224" y="4491990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301224" y="4290822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689576" y="4491990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890744" y="4290822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78664" y="4802886"/>
            <a:ext cx="2834640" cy="0"/>
          </a:xfrm>
          <a:prstGeom prst="line">
            <a:avLst/>
          </a:prstGeom>
          <a:ln w="9525">
            <a:solidFill>
              <a:srgbClr val="2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364464" y="4780026"/>
            <a:ext cx="45720" cy="45720"/>
          </a:xfrm>
          <a:prstGeom prst="ellipse">
            <a:avLst/>
          </a:prstGeom>
          <a:solidFill>
            <a:srgbClr val="5CD4E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073124" y="4780026"/>
            <a:ext cx="45720" cy="45720"/>
          </a:xfrm>
          <a:prstGeom prst="ellipse">
            <a:avLst/>
          </a:prstGeom>
          <a:solidFill>
            <a:srgbClr val="5CD4E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781784" y="4780026"/>
            <a:ext cx="45720" cy="45720"/>
          </a:xfrm>
          <a:prstGeom prst="ellipse">
            <a:avLst/>
          </a:prstGeom>
          <a:solidFill>
            <a:srgbClr val="5CD4E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0" y="5040630"/>
            <a:ext cx="12191969" cy="3914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93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spc="-31" dirty="0">
                <a:solidFill>
                  <a:srgbClr val="E6EDF3"/>
                </a:solidFill>
                <a:latin typeface="Geist Medium"/>
              </a:rPr>
              <a:t>DeepCausality: One Stack from Discovery to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633212"/>
            <a:ext cx="12191969" cy="2576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 dirty="0">
                <a:solidFill>
                  <a:srgbClr val="AAB3BD"/>
                </a:solidFill>
                <a:latin typeface="Geist"/>
              </a:rPr>
              <a:t>Marvin Hansen · Director, Center for Dynamic Causality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2861" y="6431216"/>
            <a:ext cx="1219196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 dirty="0">
                <a:solidFill>
                  <a:srgbClr val="5CD4E1"/>
                </a:solidFill>
                <a:latin typeface="JetBrains Mono Medium"/>
              </a:rPr>
              <a:t>LF AI &amp; DATA · TECHNICAL ADVISORY COUNCIL · 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8315EB-F580-A488-60CD-D90B135C3A61}"/>
              </a:ext>
            </a:extLst>
          </p:cNvPr>
          <p:cNvSpPr txBox="1"/>
          <p:nvPr/>
        </p:nvSpPr>
        <p:spPr>
          <a:xfrm>
            <a:off x="3228644" y="5972364"/>
            <a:ext cx="5688958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AAB3BD"/>
                </a:solidFill>
                <a:latin typeface="Geist"/>
              </a:rPr>
              <a:t>marvin.hansen@causalcenter.com</a:t>
            </a:r>
            <a:endParaRPr lang="en-US" sz="1450" dirty="0">
              <a:solidFill>
                <a:srgbClr val="AAB3BD"/>
              </a:solidFill>
              <a:latin typeface="Ge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75"/>
              </a:lnSpc>
            </a:pPr>
            <a:r>
              <a:rPr lang="en-US" sz="1100" spc="88" dirty="0">
                <a:solidFill>
                  <a:srgbClr val="5CD4E1"/>
                </a:solidFill>
                <a:latin typeface="JetBrains Mono Medium"/>
              </a:rPr>
              <a:t>ACKNOWLEDGMENT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 dirty="0">
                <a:solidFill>
                  <a:srgbClr val="E6EDF3"/>
                </a:solidFill>
                <a:latin typeface="Geist Medium"/>
              </a:rPr>
              <a:t>DeepCausality project sponsors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60096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1875282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1875282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295857" y="1875282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460449" y="1875282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" y="614476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31520" y="5980176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1295857" y="614476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460449" y="5980176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F90645DA-6583-C5BC-E18E-1C321ECDCA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5634" y="2131314"/>
            <a:ext cx="2850517" cy="28505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F98F00A0-7392-70A5-EC6B-960B89758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5402" y="1938248"/>
            <a:ext cx="3280932" cy="328093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A0C8C1E-12F5-1CA0-B123-072AE35C5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634" y="5128988"/>
            <a:ext cx="7120700" cy="861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 dirty="0">
                <a:solidFill>
                  <a:srgbClr val="E6EDF3"/>
                </a:solidFill>
                <a:latin typeface="Geist Medium"/>
              </a:rPr>
              <a:t>What this talk covers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22605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155524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747266"/>
            <a:ext cx="621792" cy="2246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spc="90">
                <a:solidFill>
                  <a:srgbClr val="5CD4E1"/>
                </a:solidFill>
                <a:latin typeface="JetBrains Mono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10690"/>
            <a:ext cx="3246120" cy="266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spc="-14">
                <a:solidFill>
                  <a:srgbClr val="E6EDF3"/>
                </a:solidFill>
                <a:latin typeface="Geist Medium"/>
              </a:rPr>
              <a:t>The premise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3751" y="1728978"/>
            <a:ext cx="6586697" cy="248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AAB3BD"/>
                </a:solidFill>
                <a:latin typeface="Geist"/>
              </a:rPr>
              <a:t>Why DeepCausality starts from a different premise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132457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24481"/>
            <a:ext cx="621792" cy="2246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spc="90">
                <a:solidFill>
                  <a:srgbClr val="5CD4E1"/>
                </a:solidFill>
                <a:latin typeface="JetBrains Mono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287905"/>
            <a:ext cx="3246120" cy="266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spc="-14" dirty="0">
                <a:solidFill>
                  <a:srgbClr val="E6EDF3"/>
                </a:solidFill>
                <a:latin typeface="Geist Medium"/>
              </a:rPr>
              <a:t>The axiom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1" y="2306193"/>
            <a:ext cx="6586697" cy="248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AAB3BD"/>
                </a:solidFill>
                <a:latin typeface="Geist"/>
              </a:rPr>
              <a:t>One working definition, two computable primitives, one safety layer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270967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901696"/>
            <a:ext cx="621792" cy="2246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spc="90">
                <a:solidFill>
                  <a:srgbClr val="5CD4E1"/>
                </a:solidFill>
                <a:latin typeface="JetBrains Mono Medium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865120"/>
            <a:ext cx="3246120" cy="266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spc="-14" dirty="0">
                <a:solidFill>
                  <a:srgbClr val="E6EDF3"/>
                </a:solidFill>
                <a:latin typeface="Geist Medium"/>
              </a:rPr>
              <a:t>One causal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1" y="2883408"/>
            <a:ext cx="6586697" cy="248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AAB3BD"/>
                </a:solidFill>
                <a:latin typeface="Geist"/>
              </a:rPr>
              <a:t>Discovery, modeling, action, governance, deployment in a single substrate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3286886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3478910"/>
            <a:ext cx="621792" cy="2246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spc="90">
                <a:solidFill>
                  <a:srgbClr val="5CD4E1"/>
                </a:solidFill>
                <a:latin typeface="JetBrains Mono Medium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442334"/>
            <a:ext cx="3246120" cy="266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spc="-14" dirty="0">
                <a:solidFill>
                  <a:srgbClr val="E6EDF3"/>
                </a:solidFill>
                <a:latin typeface="Geist Medium"/>
              </a:rPr>
              <a:t>Downstream 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1" y="3460622"/>
            <a:ext cx="6586697" cy="248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AAB3BD"/>
                </a:solidFill>
                <a:latin typeface="Geist"/>
              </a:rPr>
              <a:t>Counterfactual fluid dynamics, quantum causal models, DeepBrain, and Scrith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86410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056125"/>
            <a:ext cx="621792" cy="2246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spc="90">
                <a:solidFill>
                  <a:srgbClr val="5CD4E1"/>
                </a:solidFill>
                <a:latin typeface="JetBrains Mono Medium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019550"/>
            <a:ext cx="3246120" cy="266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spc="-14">
                <a:solidFill>
                  <a:srgbClr val="E6EDF3"/>
                </a:solidFill>
                <a:latin typeface="Geist Medium"/>
              </a:rPr>
              <a:t>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1" y="4037838"/>
            <a:ext cx="6586697" cy="248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AAB3BD"/>
                </a:solidFill>
                <a:latin typeface="Geist"/>
              </a:rPr>
              <a:t>DeepCausality at United Airlines via the ServiceRadar integration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441317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4633341"/>
            <a:ext cx="621792" cy="2246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spc="90">
                <a:solidFill>
                  <a:srgbClr val="5CD4E1"/>
                </a:solidFill>
                <a:latin typeface="JetBrains Mono Medium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596765"/>
            <a:ext cx="3246120" cy="266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spc="-14">
                <a:solidFill>
                  <a:srgbClr val="E6EDF3"/>
                </a:solidFill>
                <a:latin typeface="Geist Medium"/>
              </a:rPr>
              <a:t>Project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1" y="4615053"/>
            <a:ext cx="6586697" cy="248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AAB3BD"/>
                </a:solidFill>
                <a:latin typeface="Geist"/>
              </a:rPr>
              <a:t>Project health and where collaboration would help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501853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 dirty="0">
                <a:solidFill>
                  <a:srgbClr val="E6EDF3"/>
                </a:solidFill>
                <a:latin typeface="Geist Medium"/>
              </a:rPr>
              <a:t>Dynamic Causality for a dynamic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1194"/>
            <a:ext cx="9441457" cy="5303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AAB3BD"/>
                </a:solidFill>
                <a:latin typeface="Geist"/>
              </a:rPr>
              <a:t>Every classical framework inherits a definition of causality that is two thousand years old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856994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2131314"/>
            <a:ext cx="5236448" cy="3314192"/>
          </a:xfrm>
          <a:prstGeom prst="roundRect">
            <a:avLst>
              <a:gd name="adj" fmla="val 2483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69264" y="2369058"/>
            <a:ext cx="4760960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CLASSICAL CAUSALITY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625979"/>
            <a:ext cx="4760960" cy="28117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spc="-21">
                <a:solidFill>
                  <a:srgbClr val="E6EDF3"/>
                </a:solidFill>
                <a:latin typeface="Geist Medium"/>
              </a:rPr>
              <a:t>Seneca → Pearl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9264" y="3053461"/>
            <a:ext cx="4760960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94409" y="3319399"/>
            <a:ext cx="50292" cy="50292"/>
          </a:xfrm>
          <a:prstGeom prst="ellipse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07008" y="3236341"/>
            <a:ext cx="4523216" cy="2437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dirty="0">
                <a:solidFill>
                  <a:srgbClr val="AAB3BD"/>
                </a:solidFill>
                <a:latin typeface="Geist"/>
              </a:rPr>
              <a:t>Time is a straight arrow. Cause precedes effect.</a:t>
            </a:r>
          </a:p>
        </p:txBody>
      </p:sp>
      <p:sp>
        <p:nvSpPr>
          <p:cNvPr id="12" name="Oval 11"/>
          <p:cNvSpPr/>
          <p:nvPr/>
        </p:nvSpPr>
        <p:spPr>
          <a:xfrm>
            <a:off x="994409" y="3691128"/>
            <a:ext cx="50292" cy="50292"/>
          </a:xfrm>
          <a:prstGeom prst="ellipse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07008" y="3608070"/>
            <a:ext cx="4523216" cy="2437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dirty="0">
                <a:solidFill>
                  <a:srgbClr val="AAB3BD"/>
                </a:solidFill>
                <a:latin typeface="Geist"/>
              </a:rPr>
              <a:t>The causal rules are fixed.</a:t>
            </a:r>
          </a:p>
        </p:txBody>
      </p:sp>
      <p:sp>
        <p:nvSpPr>
          <p:cNvPr id="14" name="Oval 13"/>
          <p:cNvSpPr/>
          <p:nvPr/>
        </p:nvSpPr>
        <p:spPr>
          <a:xfrm>
            <a:off x="994409" y="4062857"/>
            <a:ext cx="50292" cy="50292"/>
          </a:xfrm>
          <a:prstGeom prst="ellipse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207008" y="3979799"/>
            <a:ext cx="4523216" cy="4691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dirty="0">
                <a:solidFill>
                  <a:srgbClr val="AAB3BD"/>
                </a:solidFill>
                <a:latin typeface="Geist"/>
              </a:rPr>
              <a:t>Space and time are static background. The model is a </a:t>
            </a:r>
            <a:br>
              <a:rPr lang="en-US" sz="1250" dirty="0">
                <a:solidFill>
                  <a:srgbClr val="AAB3BD"/>
                </a:solidFill>
                <a:latin typeface="Geist"/>
              </a:rPr>
            </a:br>
            <a:r>
              <a:rPr lang="en-US" sz="1250" dirty="0">
                <a:solidFill>
                  <a:srgbClr val="AAB3BD"/>
                </a:solidFill>
                <a:latin typeface="Geist"/>
              </a:rPr>
              <a:t>static snapshot in time with a fixed regime.</a:t>
            </a:r>
          </a:p>
        </p:txBody>
      </p:sp>
      <p:sp>
        <p:nvSpPr>
          <p:cNvPr id="16" name="Oval 15"/>
          <p:cNvSpPr/>
          <p:nvPr/>
        </p:nvSpPr>
        <p:spPr>
          <a:xfrm>
            <a:off x="994409" y="4660011"/>
            <a:ext cx="50292" cy="50292"/>
          </a:xfrm>
          <a:prstGeom prst="ellipse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207008" y="4576953"/>
            <a:ext cx="4523216" cy="2437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dirty="0">
                <a:solidFill>
                  <a:srgbClr val="AAB3BD"/>
                </a:solidFill>
                <a:latin typeface="Geist"/>
              </a:rPr>
              <a:t>Structure is enumerated up front, then held constant.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5003546"/>
            <a:ext cx="4760960" cy="2225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6B7682"/>
                </a:solidFill>
                <a:latin typeface="Geist"/>
              </a:rPr>
              <a:t>Sound on its own ground.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4000" y="2131314"/>
            <a:ext cx="5236448" cy="3314192"/>
          </a:xfrm>
          <a:prstGeom prst="roundRect">
            <a:avLst>
              <a:gd name="adj" fmla="val 2483"/>
            </a:avLst>
          </a:prstGeom>
          <a:solidFill>
            <a:srgbClr val="0B1118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 19"/>
          <p:cNvCxnSpPr/>
          <p:nvPr/>
        </p:nvCxnSpPr>
        <p:spPr>
          <a:xfrm>
            <a:off x="6224000" y="2131314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224000" y="2131314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857" y="2131314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460449" y="2131314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24000" y="5445505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224000" y="5280914"/>
            <a:ext cx="0" cy="164591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295857" y="5445505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460449" y="5280914"/>
            <a:ext cx="0" cy="164591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61744" y="2369058"/>
            <a:ext cx="4760960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DYNAMIC CAUSALITY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1744" y="2625979"/>
            <a:ext cx="4760960" cy="28117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spc="-21">
                <a:solidFill>
                  <a:srgbClr val="E6EDF3"/>
                </a:solidFill>
                <a:latin typeface="Geist Medium"/>
              </a:rPr>
              <a:t>Whitehead → process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61744" y="3053461"/>
            <a:ext cx="4760961" cy="0"/>
          </a:xfrm>
          <a:prstGeom prst="line">
            <a:avLst/>
          </a:prstGeom>
          <a:ln w="9525">
            <a:solidFill>
              <a:srgbClr val="2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486890" y="3319399"/>
            <a:ext cx="50292" cy="50292"/>
          </a:xfrm>
          <a:prstGeom prst="ellipse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6699488" y="3236341"/>
            <a:ext cx="4523216" cy="2437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dirty="0">
                <a:solidFill>
                  <a:srgbClr val="AAB3BD"/>
                </a:solidFill>
                <a:latin typeface="Geist"/>
              </a:rPr>
              <a:t>Causality is a dynamic process.</a:t>
            </a:r>
          </a:p>
        </p:txBody>
      </p:sp>
      <p:sp>
        <p:nvSpPr>
          <p:cNvPr id="33" name="Oval 32"/>
          <p:cNvSpPr/>
          <p:nvPr/>
        </p:nvSpPr>
        <p:spPr>
          <a:xfrm>
            <a:off x="6486890" y="3691128"/>
            <a:ext cx="50292" cy="50292"/>
          </a:xfrm>
          <a:prstGeom prst="ellipse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699488" y="3608070"/>
            <a:ext cx="4523216" cy="2437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AAB3BD"/>
                </a:solidFill>
                <a:latin typeface="Geist"/>
              </a:rPr>
              <a:t>Causal rules may evolve while the system is running.</a:t>
            </a:r>
          </a:p>
        </p:txBody>
      </p:sp>
      <p:sp>
        <p:nvSpPr>
          <p:cNvPr id="35" name="Oval 34"/>
          <p:cNvSpPr/>
          <p:nvPr/>
        </p:nvSpPr>
        <p:spPr>
          <a:xfrm>
            <a:off x="6486890" y="4062857"/>
            <a:ext cx="50292" cy="50292"/>
          </a:xfrm>
          <a:prstGeom prst="ellipse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699488" y="3979799"/>
            <a:ext cx="4523216" cy="2437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dirty="0">
                <a:solidFill>
                  <a:srgbClr val="AAB3BD"/>
                </a:solidFill>
                <a:latin typeface="Geist"/>
              </a:rPr>
              <a:t>Spacetime is context with a variable regime.</a:t>
            </a:r>
          </a:p>
        </p:txBody>
      </p:sp>
      <p:sp>
        <p:nvSpPr>
          <p:cNvPr id="37" name="Oval 36"/>
          <p:cNvSpPr/>
          <p:nvPr/>
        </p:nvSpPr>
        <p:spPr>
          <a:xfrm>
            <a:off x="6486890" y="4434586"/>
            <a:ext cx="50292" cy="50292"/>
          </a:xfrm>
          <a:prstGeom prst="ellipse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699488" y="4351528"/>
            <a:ext cx="4523216" cy="2437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AAB3BD"/>
                </a:solidFill>
                <a:latin typeface="Geist"/>
              </a:rPr>
              <a:t>Structure may emerge at runtime and still be governable.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1744" y="4778121"/>
            <a:ext cx="476096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Quantum physics and general relativity broke the fixed</a:t>
            </a:r>
          </a:p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background spacetime assumption.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THE AXIOM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>
                <a:solidFill>
                  <a:srgbClr val="E6EDF3"/>
                </a:solidFill>
                <a:latin typeface="Geist Medium"/>
              </a:rPr>
              <a:t>One working definition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22605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500378"/>
            <a:ext cx="10728929" cy="1520698"/>
          </a:xfrm>
          <a:prstGeom prst="roundRect">
            <a:avLst>
              <a:gd name="adj" fmla="val 5411"/>
            </a:avLst>
          </a:prstGeom>
          <a:solidFill>
            <a:srgbClr val="121A23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 5"/>
          <p:cNvCxnSpPr/>
          <p:nvPr/>
        </p:nvCxnSpPr>
        <p:spPr>
          <a:xfrm>
            <a:off x="731520" y="150037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1500378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295857" y="150037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460449" y="1500378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3021076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31520" y="2856484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295857" y="3021076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460449" y="2856484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738122"/>
            <a:ext cx="10728929" cy="5148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390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spc="15">
                <a:solidFill>
                  <a:srgbClr val="5CD4E1"/>
                </a:solidFill>
                <a:latin typeface="JetBrains Mono Medium"/>
              </a:rPr>
              <a:t>m₂ = m₁ &gt;&gt;=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80996"/>
            <a:ext cx="8534369" cy="420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Dynamic causality is the spacetime-agnostic monadic process in which one propagating effect is obtained from</a:t>
            </a:r>
          </a:p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another by applying a causal function within the monadic composition.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77108"/>
            <a:ext cx="2517640" cy="2093976"/>
          </a:xfrm>
          <a:prstGeom prst="roundRect">
            <a:avLst>
              <a:gd name="adj" fmla="val 3930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31520" y="3533139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987552" y="3514851"/>
            <a:ext cx="2023864" cy="2392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39"/>
              </a:lnSpc>
            </a:pPr>
            <a:r>
              <a:rPr lang="en-US" sz="1450" spc="-15" dirty="0">
                <a:solidFill>
                  <a:srgbClr val="E6EDF3"/>
                </a:solidFill>
                <a:latin typeface="Geist Medium"/>
              </a:rPr>
              <a:t>Monadic 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845559"/>
            <a:ext cx="2023864" cy="1085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An arity-5 monad: value,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state, context, error, and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audit log. The monad laws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thread that bookkeeping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through every step.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8616" y="3277108"/>
            <a:ext cx="2517640" cy="2093976"/>
          </a:xfrm>
          <a:prstGeom prst="roundRect">
            <a:avLst>
              <a:gd name="adj" fmla="val 3930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468616" y="3533139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724648" y="3514851"/>
            <a:ext cx="2023864" cy="4602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 spc="-15" dirty="0">
                <a:solidFill>
                  <a:srgbClr val="E6EDF3"/>
                </a:solidFill>
                <a:latin typeface="Geist Medium"/>
              </a:rPr>
              <a:t>Causal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4648" y="4066539"/>
            <a:ext cx="2023864" cy="1085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Each effect is obtained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from the previous one by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applying a causal function f.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Chained, those steps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propagate effect.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5712" y="3277108"/>
            <a:ext cx="2517640" cy="2093976"/>
          </a:xfrm>
          <a:prstGeom prst="roundRect">
            <a:avLst>
              <a:gd name="adj" fmla="val 3930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205712" y="3533139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61744" y="3514851"/>
            <a:ext cx="2023864" cy="2392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 spc="-15">
                <a:solidFill>
                  <a:srgbClr val="E6EDF3"/>
                </a:solidFill>
                <a:latin typeface="Geist Medium"/>
              </a:rPr>
              <a:t>Spacetime-agnostic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744" y="3845559"/>
            <a:ext cx="2023864" cy="1085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Time and space are not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built into the relation. They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are declared inputs the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causal function reads.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Euclidean, Minkowski,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anything in between.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42809" y="3277108"/>
            <a:ext cx="2517640" cy="2093976"/>
          </a:xfrm>
          <a:prstGeom prst="roundRect">
            <a:avLst>
              <a:gd name="adj" fmla="val 3930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942809" y="3533139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9198841" y="3514851"/>
            <a:ext cx="2023864" cy="2392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 spc="-15">
                <a:solidFill>
                  <a:srgbClr val="E6EDF3"/>
                </a:solidFill>
                <a:latin typeface="Geist Medium"/>
              </a:rPr>
              <a:t>Explicit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41" y="3845559"/>
            <a:ext cx="2023864" cy="1085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Anything time-like,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space-like, and all data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live in a queryable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hypergraph.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08828"/>
            <a:ext cx="10728929" cy="43281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6B7682"/>
                </a:solidFill>
                <a:latin typeface="Geist"/>
              </a:rPr>
              <a:t>Imagine a ripple in a pond. One ripple is an effect; it propagates and produces the next. DeepCausality defines how ripples spread, what each carries, and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6B7682"/>
                </a:solidFill>
                <a:latin typeface="Geist"/>
              </a:rPr>
              <a:t>what happens when the rules for spreading themselves change dynamically.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CONSEQUENCE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>
                <a:solidFill>
                  <a:srgbClr val="E6EDF3"/>
                </a:solidFill>
                <a:latin typeface="Geist Medium"/>
              </a:rPr>
              <a:t>Classical frameworks fall out as special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1194"/>
            <a:ext cx="9441457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solidFill>
                  <a:srgbClr val="AAB3BD"/>
                </a:solidFill>
                <a:latin typeface="Geist"/>
              </a:rPr>
              <a:t>The axiom sits low enough in the stack that we did not have to replace anything.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60096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75282"/>
            <a:ext cx="5364464" cy="2903347"/>
          </a:xfrm>
          <a:prstGeom prst="roundRect">
            <a:avLst>
              <a:gd name="adj" fmla="val 2834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69264" y="2113025"/>
            <a:ext cx="4888976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SPECIALIZATIONS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9264" y="2415667"/>
            <a:ext cx="4888976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9264" y="2548255"/>
            <a:ext cx="1298448" cy="1833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80">
                <a:solidFill>
                  <a:srgbClr val="5CD4E1"/>
                </a:solidFill>
                <a:latin typeface="JetBrains Mono Medium"/>
              </a:rPr>
              <a:t>SCM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2534539"/>
            <a:ext cx="3590528" cy="2225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AAB3BD"/>
                </a:solidFill>
                <a:latin typeface="Geist"/>
              </a:rPr>
              <a:t>Pearl structural causal models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9264" y="2857626"/>
            <a:ext cx="4888976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9264" y="2990214"/>
            <a:ext cx="1298448" cy="1833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80">
                <a:solidFill>
                  <a:srgbClr val="5CD4E1"/>
                </a:solidFill>
                <a:latin typeface="JetBrains Mono Medium"/>
              </a:rPr>
              <a:t>DBN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2976498"/>
            <a:ext cx="3590528" cy="2225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AAB3BD"/>
                </a:solidFill>
                <a:latin typeface="Geist"/>
              </a:rPr>
              <a:t>Dynamic Bayesian networks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9264" y="3299586"/>
            <a:ext cx="4888976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9264" y="3432174"/>
            <a:ext cx="1298448" cy="1833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80">
                <a:solidFill>
                  <a:srgbClr val="5CD4E1"/>
                </a:solidFill>
                <a:latin typeface="JetBrains Mono Medium"/>
              </a:rPr>
              <a:t>GRANGER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3418458"/>
            <a:ext cx="3590528" cy="2225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AAB3BD"/>
                </a:solidFill>
                <a:latin typeface="Geist"/>
              </a:rPr>
              <a:t>Granger causality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9264" y="3741546"/>
            <a:ext cx="4888976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9264" y="3874134"/>
            <a:ext cx="1298448" cy="1833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80">
                <a:solidFill>
                  <a:srgbClr val="5CD4E1"/>
                </a:solidFill>
                <a:latin typeface="JetBrains Mono Medium"/>
              </a:rPr>
              <a:t>RUBIN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3860418"/>
            <a:ext cx="3590528" cy="2225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AAB3BD"/>
                </a:solidFill>
                <a:latin typeface="Geist"/>
              </a:rPr>
              <a:t>Rubin causal model and CATE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9264" y="4183506"/>
            <a:ext cx="4888976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69264" y="4348098"/>
            <a:ext cx="4888976" cy="21107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B7682"/>
                </a:solidFill>
                <a:latin typeface="Geist"/>
              </a:rPr>
              <a:t>Each implemented under examples/classical_causality_examples.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2016" y="1875282"/>
            <a:ext cx="5108432" cy="2903347"/>
          </a:xfrm>
          <a:prstGeom prst="roundRect">
            <a:avLst>
              <a:gd name="adj" fmla="val 2834"/>
            </a:avLst>
          </a:prstGeom>
          <a:solidFill>
            <a:srgbClr val="0B1118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onnector 22"/>
          <p:cNvCxnSpPr/>
          <p:nvPr/>
        </p:nvCxnSpPr>
        <p:spPr>
          <a:xfrm>
            <a:off x="6352016" y="1875282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352016" y="1875282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95857" y="1875282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60449" y="1875282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52016" y="4778629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352016" y="4614037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295857" y="4778629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460449" y="4614037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9760" y="2113025"/>
            <a:ext cx="4632944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WHAT THE AXIOM ADDS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9760" y="2415667"/>
            <a:ext cx="4632945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9760" y="2548255"/>
            <a:ext cx="1298448" cy="1833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80">
                <a:solidFill>
                  <a:srgbClr val="5CD4E1"/>
                </a:solidFill>
                <a:latin typeface="JetBrains Mono Medium"/>
              </a:rPr>
              <a:t>DYNAMIC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8208" y="2534539"/>
            <a:ext cx="3334496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AAB3BD"/>
                </a:solidFill>
                <a:latin typeface="Geist"/>
              </a:rPr>
              <a:t>Causal structure changes as the context</a:t>
            </a:r>
          </a:p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AAB3BD"/>
                </a:solidFill>
                <a:latin typeface="Geist"/>
              </a:rPr>
              <a:t>changes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9760" y="3061843"/>
            <a:ext cx="4632945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9760" y="3194431"/>
            <a:ext cx="1298448" cy="1833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80">
                <a:solidFill>
                  <a:srgbClr val="5CD4E1"/>
                </a:solidFill>
                <a:latin typeface="JetBrains Mono Medium"/>
              </a:rPr>
              <a:t>ADAPTIVE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8208" y="3180714"/>
            <a:ext cx="3334496" cy="2225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AAB3BD"/>
                </a:solidFill>
                <a:latin typeface="Geist"/>
              </a:rPr>
              <a:t>Causal rules update themselves at runtime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9760" y="3503802"/>
            <a:ext cx="4632945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9760" y="3636390"/>
            <a:ext cx="1298448" cy="1833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80">
                <a:solidFill>
                  <a:srgbClr val="5CD4E1"/>
                </a:solidFill>
                <a:latin typeface="JetBrains Mono Medium"/>
              </a:rPr>
              <a:t>EMERGENT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8208" y="3622674"/>
            <a:ext cx="3334496" cy="2225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AAB3BD"/>
                </a:solidFill>
                <a:latin typeface="Geist"/>
              </a:rPr>
              <a:t>Structure not enumerable at design time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9760" y="3945762"/>
            <a:ext cx="4632945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9760" y="4110354"/>
            <a:ext cx="4632944" cy="21107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AAB3BD"/>
                </a:solidFill>
                <a:latin typeface="Geist"/>
              </a:rPr>
              <a:t>Three modalities a fixed-structure framework cannot express.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034661"/>
            <a:ext cx="10728929" cy="1097874"/>
          </a:xfrm>
          <a:prstGeom prst="roundRect">
            <a:avLst>
              <a:gd name="adj" fmla="val 7495"/>
            </a:avLst>
          </a:prstGeom>
          <a:solidFill>
            <a:srgbClr val="121A23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731520" y="5224124"/>
            <a:ext cx="41148" cy="310896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969264" y="5205836"/>
            <a:ext cx="10253441" cy="2739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0" spc="-18" dirty="0">
                <a:solidFill>
                  <a:srgbClr val="E6EDF3"/>
                </a:solidFill>
                <a:latin typeface="Geist Medium"/>
              </a:rPr>
              <a:t>Causal reasoning becomes emergent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" y="5552927"/>
            <a:ext cx="10253441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Where structure emerges at runtime, static verification of the reasoning stops being deterministic. Verifiability is restored at the action boundary</a:t>
            </a:r>
          </a:p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via the Effect Ethos.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 dirty="0">
                <a:solidFill>
                  <a:srgbClr val="5CD4E1"/>
                </a:solidFill>
                <a:latin typeface="JetBrains Mono Medium"/>
              </a:rPr>
              <a:t>THE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>
                <a:solidFill>
                  <a:srgbClr val="E6EDF3"/>
                </a:solidFill>
                <a:latin typeface="Geist Medium"/>
              </a:rPr>
              <a:t>One causal stack: from discovery to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1194"/>
            <a:ext cx="9441457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AAB3BD"/>
                </a:solidFill>
                <a:latin typeface="Geist"/>
              </a:rPr>
              <a:t>One uniform substrate for the whole causal process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60096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96112" y="1875282"/>
            <a:ext cx="10399745" cy="3589020"/>
          </a:xfrm>
          <a:prstGeom prst="roundRect">
            <a:avLst>
              <a:gd name="adj" fmla="val 2547"/>
            </a:avLst>
          </a:prstGeom>
          <a:gradFill rotWithShape="1">
            <a:gsLst>
              <a:gs pos="0">
                <a:srgbClr val="070B10"/>
              </a:gs>
              <a:gs pos="100000">
                <a:srgbClr val="0B1118"/>
              </a:gs>
            </a:gsLst>
            <a:lin ang="16200000" scaled="0"/>
          </a:gra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 6"/>
          <p:cNvCxnSpPr/>
          <p:nvPr/>
        </p:nvCxnSpPr>
        <p:spPr>
          <a:xfrm>
            <a:off x="896112" y="1875282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96112" y="1875282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094689" y="1875282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95857" y="1875282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6112" y="5464302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96112" y="5263134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1094689" y="5464302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95857" y="5263134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97280" y="2097024"/>
            <a:ext cx="38404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353312" y="2012441"/>
            <a:ext cx="3108960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DISCOVER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223643"/>
            <a:ext cx="3108960" cy="2505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9" dirty="0">
                <a:solidFill>
                  <a:srgbClr val="E6EDF3"/>
                </a:solidFill>
                <a:latin typeface="Geist Medium"/>
              </a:rPr>
              <a:t>Causal Discovery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030730"/>
            <a:ext cx="4389120" cy="4500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dirty="0">
                <a:solidFill>
                  <a:srgbClr val="AAB3BD"/>
                </a:solidFill>
                <a:latin typeface="Geist"/>
              </a:rPr>
              <a:t>Surface causal structure from raw observational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049018"/>
            <a:ext cx="1786097" cy="1871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25">
                <a:solidFill>
                  <a:srgbClr val="6B7682"/>
                </a:solidFill>
                <a:latin typeface="JetBrains Mono"/>
              </a:rPr>
              <a:t>SURD · MRMR · BRCD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" y="2593086"/>
            <a:ext cx="10399745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097280" y="2814828"/>
            <a:ext cx="38404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353312" y="2730246"/>
            <a:ext cx="3108960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2941447"/>
            <a:ext cx="3108960" cy="2505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9">
                <a:solidFill>
                  <a:srgbClr val="E6EDF3"/>
                </a:solidFill>
                <a:latin typeface="Geist Medium"/>
              </a:rPr>
              <a:t>Causaloid &amp;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748534"/>
            <a:ext cx="4389120" cy="4500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AAB3BD"/>
                </a:solidFill>
                <a:latin typeface="Geist"/>
              </a:rPr>
              <a:t>Encode causal structure as composable logic with an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dirty="0">
                <a:solidFill>
                  <a:srgbClr val="AAB3BD"/>
                </a:solidFill>
                <a:latin typeface="Geist"/>
              </a:rPr>
              <a:t>explicit context.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766822"/>
            <a:ext cx="1786097" cy="3561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25">
                <a:solidFill>
                  <a:srgbClr val="6B7682"/>
                </a:solidFill>
                <a:latin typeface="JetBrains Mono"/>
              </a:rPr>
              <a:t>Singleton · collection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25">
                <a:solidFill>
                  <a:srgbClr val="6B7682"/>
                </a:solidFill>
                <a:latin typeface="JetBrains Mono"/>
              </a:rPr>
              <a:t>· graph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6112" y="3310890"/>
            <a:ext cx="10399745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097280" y="3532631"/>
            <a:ext cx="38404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353312" y="3448049"/>
            <a:ext cx="3108960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3659251"/>
            <a:ext cx="3108960" cy="2505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9">
                <a:solidFill>
                  <a:srgbClr val="E6EDF3"/>
                </a:solidFill>
                <a:latin typeface="Geist Medium"/>
              </a:rPr>
              <a:t>Causal State Machine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3466337"/>
            <a:ext cx="4389120" cy="4500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AAB3BD"/>
                </a:solidFill>
                <a:latin typeface="Geist"/>
              </a:rPr>
              <a:t>Turn a causal verdict into an action and interact with the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AAB3BD"/>
                </a:solidFill>
                <a:latin typeface="Geist"/>
              </a:rPr>
              <a:t>outside world.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484625"/>
            <a:ext cx="1786097" cy="3561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25">
                <a:solidFill>
                  <a:srgbClr val="6B7682"/>
                </a:solidFill>
                <a:latin typeface="JetBrains Mono"/>
              </a:rPr>
              <a:t>State inferred at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25">
                <a:solidFill>
                  <a:srgbClr val="6B7682"/>
                </a:solidFill>
                <a:latin typeface="JetBrains Mono"/>
              </a:rPr>
              <a:t>runtime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6112" y="4028693"/>
            <a:ext cx="10399745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97280" y="4250435"/>
            <a:ext cx="38404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353312" y="4165854"/>
            <a:ext cx="3108960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GOVERN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2" y="4377055"/>
            <a:ext cx="3108960" cy="2505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9">
                <a:solidFill>
                  <a:srgbClr val="E6EDF3"/>
                </a:solidFill>
                <a:latin typeface="Geist Medium"/>
              </a:rPr>
              <a:t>Effect Ethos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4184141"/>
            <a:ext cx="4389120" cy="2341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AAB3BD"/>
                </a:solidFill>
                <a:latin typeface="Geist"/>
              </a:rPr>
              <a:t>Verify deterministically what is allowed to happen.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4202430"/>
            <a:ext cx="1786097" cy="3561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25">
                <a:solidFill>
                  <a:srgbClr val="6B7682"/>
                </a:solidFill>
                <a:latin typeface="JetBrains Mono"/>
              </a:rPr>
              <a:t>Defeasible deontic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25">
                <a:solidFill>
                  <a:srgbClr val="6B7682"/>
                </a:solidFill>
                <a:latin typeface="JetBrains Mono"/>
              </a:rPr>
              <a:t>calculus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96112" y="4746498"/>
            <a:ext cx="10399745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097280" y="4968239"/>
            <a:ext cx="38404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353312" y="4883658"/>
            <a:ext cx="3108960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RUN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3312" y="5094859"/>
            <a:ext cx="3108960" cy="2505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9" dirty="0">
                <a:solidFill>
                  <a:srgbClr val="E6EDF3"/>
                </a:solidFill>
                <a:latin typeface="Geist Medium"/>
              </a:rPr>
              <a:t>Serve the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4901946"/>
            <a:ext cx="4389120" cy="2341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AAB3BD"/>
                </a:solidFill>
                <a:latin typeface="Geist"/>
              </a:rPr>
              <a:t>Run the model thread-safely and asynchronously at scale.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4920234"/>
            <a:ext cx="1786097" cy="3561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6B7682"/>
                </a:solidFill>
                <a:latin typeface="JetBrains Mono"/>
              </a:rPr>
              <a:t>Embeds in any Rust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6B7682"/>
                </a:solidFill>
                <a:latin typeface="JetBrains Mono"/>
              </a:rPr>
              <a:t>sync or async runtime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PRIMITIVES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 dirty="0">
                <a:solidFill>
                  <a:srgbClr val="E6EDF3"/>
                </a:solidFill>
                <a:latin typeface="Geist Medium"/>
              </a:rPr>
              <a:t>Dynamic causal process with a safety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1194"/>
            <a:ext cx="9441457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AAB3BD"/>
                </a:solidFill>
                <a:latin typeface="Geist"/>
              </a:rPr>
              <a:t>All primitives emit the same carrier, so structural and sequential reasoning compose in one path.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60096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22949" y="2079244"/>
            <a:ext cx="1901952" cy="822960"/>
          </a:xfrm>
          <a:prstGeom prst="roundRect">
            <a:avLst>
              <a:gd name="adj" fmla="val 8888"/>
            </a:avLst>
          </a:prstGeom>
          <a:solidFill>
            <a:srgbClr val="0B1118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96100" y="2280983"/>
            <a:ext cx="1755648" cy="2240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spc="-12">
                <a:solidFill>
                  <a:srgbClr val="E6EDF3"/>
                </a:solidFill>
                <a:latin typeface="Geist Medium"/>
              </a:rPr>
              <a:t>Causaloid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244" y="2532443"/>
            <a:ext cx="1737360" cy="1863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AAB3BD"/>
                </a:solidFill>
                <a:latin typeface="Geist"/>
              </a:rPr>
              <a:t>structural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9796" y="4863846"/>
            <a:ext cx="1901952" cy="822960"/>
          </a:xfrm>
          <a:prstGeom prst="roundRect">
            <a:avLst>
              <a:gd name="adj" fmla="val 8888"/>
            </a:avLst>
          </a:prstGeom>
          <a:solidFill>
            <a:srgbClr val="0B1118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22947" y="5065585"/>
            <a:ext cx="1755648" cy="2240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spc="-12">
                <a:solidFill>
                  <a:srgbClr val="E6EDF3"/>
                </a:solidFill>
                <a:latin typeface="Geist Medium"/>
              </a:rPr>
              <a:t>Causal Monad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091" y="5317045"/>
            <a:ext cx="1737360" cy="1863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AAB3BD"/>
                </a:solidFill>
                <a:latin typeface="Geist"/>
              </a:rPr>
              <a:t>sequential reasoning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2101" y="3332796"/>
            <a:ext cx="2121408" cy="731520"/>
          </a:xfrm>
          <a:prstGeom prst="roundRect">
            <a:avLst>
              <a:gd name="adj" fmla="val 50000"/>
            </a:avLst>
          </a:prstGeom>
          <a:solidFill>
            <a:srgbClr val="5CD4E1">
              <a:alpha val="18000"/>
            </a:srgbClr>
          </a:solidFill>
          <a:ln w="9525">
            <a:solidFill>
              <a:srgbClr val="5CD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982101" y="3595228"/>
            <a:ext cx="2121408" cy="2246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spc="20">
                <a:solidFill>
                  <a:srgbClr val="5CD4E1"/>
                </a:solidFill>
                <a:latin typeface="JetBrains Mono Medium"/>
              </a:rPr>
              <a:t>PropagatingEffect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50981" y="3287076"/>
            <a:ext cx="2066543" cy="822960"/>
          </a:xfrm>
          <a:prstGeom prst="roundRect">
            <a:avLst>
              <a:gd name="adj" fmla="val 8888"/>
            </a:avLst>
          </a:prstGeom>
          <a:solidFill>
            <a:srgbClr val="0B1118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524133" y="3496435"/>
            <a:ext cx="1920239" cy="2087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spc="-12">
                <a:solidFill>
                  <a:srgbClr val="E6EDF3"/>
                </a:solidFill>
                <a:latin typeface="Geist Medium"/>
              </a:rPr>
              <a:t>Causal State Machine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3277" y="3732655"/>
            <a:ext cx="1901951" cy="1863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AAB3BD"/>
                </a:solidFill>
                <a:latin typeface="Geist"/>
              </a:rPr>
              <a:t>infers active states at runtime</a:t>
            </a:r>
          </a:p>
        </p:txBody>
      </p:sp>
      <p:sp>
        <p:nvSpPr>
          <p:cNvPr id="17" name="Diamond 16"/>
          <p:cNvSpPr/>
          <p:nvPr/>
        </p:nvSpPr>
        <p:spPr>
          <a:xfrm>
            <a:off x="7828421" y="3040188"/>
            <a:ext cx="1536192" cy="1316736"/>
          </a:xfrm>
          <a:prstGeom prst="diamond">
            <a:avLst/>
          </a:prstGeom>
          <a:solidFill>
            <a:srgbClr val="0B1118"/>
          </a:solidFill>
          <a:ln w="11430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828421" y="3460812"/>
            <a:ext cx="1536192" cy="2151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E6EDF3"/>
                </a:solidFill>
                <a:latin typeface="Geist Medium"/>
              </a:rPr>
              <a:t>Effect Ethos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8421" y="3675950"/>
            <a:ext cx="1536192" cy="1836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0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AAB3BD"/>
                </a:solidFill>
                <a:latin typeface="Geist"/>
              </a:rPr>
              <a:t>verdict?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9517" y="2491548"/>
            <a:ext cx="1901952" cy="932688"/>
          </a:xfrm>
          <a:prstGeom prst="roundRect">
            <a:avLst>
              <a:gd name="adj" fmla="val 7843"/>
            </a:avLst>
          </a:prstGeom>
          <a:solidFill>
            <a:srgbClr val="0B1118"/>
          </a:solidFill>
          <a:ln w="9525">
            <a:solidFill>
              <a:srgbClr val="5CD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9812669" y="2660267"/>
            <a:ext cx="1755648" cy="1452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spc="64">
                <a:solidFill>
                  <a:srgbClr val="5CD4E1"/>
                </a:solidFill>
                <a:latin typeface="JetBrains Mono Medium"/>
              </a:rPr>
              <a:t>OBLIGATORY / OPTIONAL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2669" y="2851275"/>
            <a:ext cx="1755648" cy="2087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spc="-12">
                <a:solidFill>
                  <a:srgbClr val="E6EDF3"/>
                </a:solidFill>
                <a:latin typeface="Geist Medium"/>
              </a:rPr>
              <a:t>Action fires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1813" y="3087495"/>
            <a:ext cx="1737360" cy="1863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AAB3BD"/>
                </a:solidFill>
                <a:latin typeface="Geist"/>
              </a:rPr>
              <a:t>+ audit entry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9517" y="3972876"/>
            <a:ext cx="1901952" cy="932688"/>
          </a:xfrm>
          <a:prstGeom prst="roundRect">
            <a:avLst>
              <a:gd name="adj" fmla="val 7843"/>
            </a:avLst>
          </a:prstGeom>
          <a:solidFill>
            <a:srgbClr val="0B1118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9812669" y="4141595"/>
            <a:ext cx="1755648" cy="1452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spc="64">
                <a:solidFill>
                  <a:srgbClr val="6B7682"/>
                </a:solidFill>
                <a:latin typeface="JetBrains Mono Medium"/>
              </a:rPr>
              <a:t>IMPERMISSIBLE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2669" y="4332603"/>
            <a:ext cx="1755648" cy="2087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spc="-12">
                <a:solidFill>
                  <a:srgbClr val="E6EDF3"/>
                </a:solidFill>
                <a:latin typeface="Geist Medium"/>
              </a:rPr>
              <a:t>Action stopped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1813" y="4568823"/>
            <a:ext cx="1737360" cy="18630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AAB3BD"/>
                </a:solidFill>
                <a:latin typeface="Geist"/>
              </a:rPr>
              <a:t>+ reason locked to log</a:t>
            </a:r>
          </a:p>
        </p:txBody>
      </p:sp>
      <p:cxnSp>
        <p:nvCxnSpPr>
          <p:cNvPr id="28" name="Connector 27"/>
          <p:cNvCxnSpPr>
            <a:cxnSpLocks/>
          </p:cNvCxnSpPr>
          <p:nvPr/>
        </p:nvCxnSpPr>
        <p:spPr>
          <a:xfrm>
            <a:off x="2561477" y="2939348"/>
            <a:ext cx="384048" cy="658624"/>
          </a:xfrm>
          <a:prstGeom prst="line">
            <a:avLst/>
          </a:prstGeom>
          <a:ln w="13970">
            <a:solidFill>
              <a:srgbClr val="2A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</p:cNvCxnSpPr>
          <p:nvPr/>
        </p:nvCxnSpPr>
        <p:spPr>
          <a:xfrm flipV="1">
            <a:off x="2515757" y="4064316"/>
            <a:ext cx="429767" cy="743139"/>
          </a:xfrm>
          <a:prstGeom prst="line">
            <a:avLst/>
          </a:prstGeom>
          <a:ln w="13970">
            <a:solidFill>
              <a:srgbClr val="2A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121797" y="3698556"/>
            <a:ext cx="292608" cy="0"/>
          </a:xfrm>
          <a:prstGeom prst="line">
            <a:avLst/>
          </a:prstGeom>
          <a:ln w="13970">
            <a:solidFill>
              <a:srgbClr val="2A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554101" y="3698556"/>
            <a:ext cx="237744" cy="0"/>
          </a:xfrm>
          <a:prstGeom prst="line">
            <a:avLst/>
          </a:prstGeom>
          <a:ln w="13970">
            <a:solidFill>
              <a:srgbClr val="2A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382901" y="3040188"/>
            <a:ext cx="320040" cy="457200"/>
          </a:xfrm>
          <a:prstGeom prst="line">
            <a:avLst/>
          </a:prstGeom>
          <a:ln w="13970">
            <a:solidFill>
              <a:srgbClr val="5CD4E1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382901" y="3899724"/>
            <a:ext cx="320040" cy="457200"/>
          </a:xfrm>
          <a:prstGeom prst="line">
            <a:avLst/>
          </a:prstGeom>
          <a:ln w="13970">
            <a:solidFill>
              <a:srgbClr val="2A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49214" y="3440250"/>
            <a:ext cx="1901951" cy="720695"/>
          </a:xfrm>
          <a:prstGeom prst="roundRect">
            <a:avLst>
              <a:gd name="adj" fmla="val 11764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2141" y="3655897"/>
            <a:ext cx="1825872" cy="24199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spc="-12">
                <a:solidFill>
                  <a:srgbClr val="E6EDF3"/>
                </a:solidFill>
                <a:latin typeface="Geist Medium"/>
              </a:rPr>
              <a:t>Context</a:t>
            </a:r>
          </a:p>
        </p:txBody>
      </p:sp>
      <p:cxnSp>
        <p:nvCxnSpPr>
          <p:cNvPr id="36" name="Connector 35"/>
          <p:cNvCxnSpPr>
            <a:cxnSpLocks/>
            <a:stCxn id="34" idx="0"/>
          </p:cNvCxnSpPr>
          <p:nvPr/>
        </p:nvCxnSpPr>
        <p:spPr>
          <a:xfrm flipV="1">
            <a:off x="1400190" y="2886595"/>
            <a:ext cx="11575" cy="553655"/>
          </a:xfrm>
          <a:prstGeom prst="line">
            <a:avLst/>
          </a:prstGeom>
          <a:ln w="12700">
            <a:solidFill>
              <a:srgbClr val="1F2A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  <p:cxnSp>
        <p:nvCxnSpPr>
          <p:cNvPr id="47" name="Connector 35">
            <a:extLst>
              <a:ext uri="{FF2B5EF4-FFF2-40B4-BE49-F238E27FC236}">
                <a16:creationId xmlns:a16="http://schemas.microsoft.com/office/drawing/2014/main" id="{B6625369-CE5C-CF87-79C8-16489667AC3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53502" y="4298405"/>
            <a:ext cx="11575" cy="553655"/>
          </a:xfrm>
          <a:prstGeom prst="line">
            <a:avLst/>
          </a:prstGeom>
          <a:ln w="12700">
            <a:solidFill>
              <a:srgbClr val="1F2A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BCA0EE-4BD0-1E40-3C34-7E9818325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4D491-37BE-048B-412A-5D67D7B086DF}"/>
              </a:ext>
            </a:extLst>
          </p:cNvPr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75"/>
              </a:lnSpc>
            </a:pPr>
            <a:r>
              <a:rPr lang="en-US" sz="1100" spc="88" dirty="0">
                <a:solidFill>
                  <a:srgbClr val="5CD4E1"/>
                </a:solidFill>
                <a:latin typeface="JetBrains Mono Medium"/>
              </a:rPr>
              <a:t>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C2518-491F-3DD9-AF5B-59F55B9379F7}"/>
              </a:ext>
            </a:extLst>
          </p:cNvPr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390"/>
              </a:lnSpc>
            </a:pPr>
            <a:r>
              <a:rPr lang="en-US" sz="3000" spc="-36" dirty="0">
                <a:solidFill>
                  <a:srgbClr val="E6EDF3"/>
                </a:solidFill>
                <a:latin typeface="Geist Medium"/>
              </a:rPr>
              <a:t>DeepCausality CDL: Causal Discovery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2297A-8143-2F6B-8655-AE859FFF770C}"/>
              </a:ext>
            </a:extLst>
          </p:cNvPr>
          <p:cNvSpPr txBox="1"/>
          <p:nvPr/>
        </p:nvSpPr>
        <p:spPr>
          <a:xfrm>
            <a:off x="731520" y="1171194"/>
            <a:ext cx="9441457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AAB3BD"/>
                </a:solidFill>
                <a:latin typeface="Geist"/>
              </a:rPr>
              <a:t>Causal discovery, simplified via the CDL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67F0B85-6DD2-6979-F2F5-359DF1FA1EC3}"/>
              </a:ext>
            </a:extLst>
          </p:cNvPr>
          <p:cNvCxnSpPr/>
          <p:nvPr/>
        </p:nvCxnSpPr>
        <p:spPr>
          <a:xfrm>
            <a:off x="731520" y="160096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3814F9-92E4-C120-63CE-7A9A0A3531B4}"/>
              </a:ext>
            </a:extLst>
          </p:cNvPr>
          <p:cNvSpPr/>
          <p:nvPr/>
        </p:nvSpPr>
        <p:spPr>
          <a:xfrm>
            <a:off x="731520" y="1875282"/>
            <a:ext cx="10728929" cy="4269486"/>
          </a:xfrm>
          <a:prstGeom prst="roundRect">
            <a:avLst>
              <a:gd name="adj" fmla="val 1927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3DF56CBF-4657-4F0D-5A2B-22BFAD41E37D}"/>
              </a:ext>
            </a:extLst>
          </p:cNvPr>
          <p:cNvCxnSpPr/>
          <p:nvPr/>
        </p:nvCxnSpPr>
        <p:spPr>
          <a:xfrm>
            <a:off x="731520" y="1875282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20C3E9C3-E81D-A46E-F2A3-9D490E57F9B3}"/>
              </a:ext>
            </a:extLst>
          </p:cNvPr>
          <p:cNvCxnSpPr/>
          <p:nvPr/>
        </p:nvCxnSpPr>
        <p:spPr>
          <a:xfrm>
            <a:off x="731520" y="1875282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4159A6E1-52B7-B06C-03E0-93DB9D050BFC}"/>
              </a:ext>
            </a:extLst>
          </p:cNvPr>
          <p:cNvCxnSpPr/>
          <p:nvPr/>
        </p:nvCxnSpPr>
        <p:spPr>
          <a:xfrm flipH="1">
            <a:off x="11295857" y="1875282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3461DF50-9C5E-6A62-9129-1EAA9434F821}"/>
              </a:ext>
            </a:extLst>
          </p:cNvPr>
          <p:cNvCxnSpPr/>
          <p:nvPr/>
        </p:nvCxnSpPr>
        <p:spPr>
          <a:xfrm>
            <a:off x="11460449" y="1875282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7409FD8C-2F49-393F-C9A7-51012E2B1792}"/>
              </a:ext>
            </a:extLst>
          </p:cNvPr>
          <p:cNvCxnSpPr/>
          <p:nvPr/>
        </p:nvCxnSpPr>
        <p:spPr>
          <a:xfrm>
            <a:off x="731520" y="614476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43F1AEA0-81D8-78CC-49D2-4C4ECACAA969}"/>
              </a:ext>
            </a:extLst>
          </p:cNvPr>
          <p:cNvCxnSpPr/>
          <p:nvPr/>
        </p:nvCxnSpPr>
        <p:spPr>
          <a:xfrm flipV="1">
            <a:off x="731520" y="5980176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DA86B14C-629D-93F9-F1A4-38D579B6DE14}"/>
              </a:ext>
            </a:extLst>
          </p:cNvPr>
          <p:cNvCxnSpPr/>
          <p:nvPr/>
        </p:nvCxnSpPr>
        <p:spPr>
          <a:xfrm flipH="1">
            <a:off x="11295857" y="614476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FBBF4687-3770-033B-7B6B-30CCAE53E0D4}"/>
              </a:ext>
            </a:extLst>
          </p:cNvPr>
          <p:cNvCxnSpPr/>
          <p:nvPr/>
        </p:nvCxnSpPr>
        <p:spPr>
          <a:xfrm flipV="1">
            <a:off x="11460449" y="5980176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944D2812-82A5-CE5A-32E2-023962C5A6F8}"/>
              </a:ext>
            </a:extLst>
          </p:cNvPr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D71F868-974F-E7EA-A927-7DA654CBD15E}"/>
              </a:ext>
            </a:extLst>
          </p:cNvPr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47299B5-D235-49B1-EC40-3FEA549494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9" t="4167" r="12500" b="4167"/>
          <a:stretch>
            <a:fillRect/>
          </a:stretch>
        </p:blipFill>
        <p:spPr>
          <a:xfrm>
            <a:off x="2506796" y="2039874"/>
            <a:ext cx="7342969" cy="379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08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97AED-A890-4FF0-8862-EA1D2BCA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238ECA-D84D-B2F6-C914-C06A70B30AC4}"/>
              </a:ext>
            </a:extLst>
          </p:cNvPr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75"/>
              </a:lnSpc>
            </a:pPr>
            <a:r>
              <a:rPr lang="en-US" sz="1100" spc="88" dirty="0">
                <a:solidFill>
                  <a:srgbClr val="5CD4E1"/>
                </a:solidFill>
                <a:latin typeface="JetBrains Mono Medium"/>
              </a:rPr>
              <a:t>DOWNSTREAM PROJECTS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EE7F9-5564-B54D-1A67-030946BC59FC}"/>
              </a:ext>
            </a:extLst>
          </p:cNvPr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 dirty="0">
                <a:solidFill>
                  <a:srgbClr val="E6EDF3"/>
                </a:solidFill>
                <a:latin typeface="Geist Medium"/>
              </a:rPr>
              <a:t>DeepCausality: downstream projects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B12C9-4D98-AC03-2EBA-85DB09FB8B9E}"/>
              </a:ext>
            </a:extLst>
          </p:cNvPr>
          <p:cNvSpPr txBox="1"/>
          <p:nvPr/>
        </p:nvSpPr>
        <p:spPr>
          <a:xfrm>
            <a:off x="731520" y="1171194"/>
            <a:ext cx="9441457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016"/>
              </a:lnSpc>
            </a:pPr>
            <a:r>
              <a:rPr lang="en-US" sz="1400" dirty="0">
                <a:solidFill>
                  <a:srgbClr val="AAB3BD"/>
                </a:solidFill>
                <a:latin typeface="Geist"/>
              </a:rPr>
              <a:t>A shared foundation across projects. More details at www.deepcausality.com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9F47492-DEEC-D024-2AE2-635C30C3DB29}"/>
              </a:ext>
            </a:extLst>
          </p:cNvPr>
          <p:cNvCxnSpPr/>
          <p:nvPr/>
        </p:nvCxnSpPr>
        <p:spPr>
          <a:xfrm>
            <a:off x="731520" y="160096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892B244-56F9-4942-D2C3-B4FFDFBDB7D1}"/>
              </a:ext>
            </a:extLst>
          </p:cNvPr>
          <p:cNvCxnSpPr>
            <a:cxnSpLocks/>
          </p:cNvCxnSpPr>
          <p:nvPr/>
        </p:nvCxnSpPr>
        <p:spPr>
          <a:xfrm>
            <a:off x="731520" y="1875282"/>
            <a:ext cx="148726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93955073-C4D6-8CF6-84DC-204A29684A3F}"/>
              </a:ext>
            </a:extLst>
          </p:cNvPr>
          <p:cNvCxnSpPr>
            <a:cxnSpLocks/>
          </p:cNvCxnSpPr>
          <p:nvPr/>
        </p:nvCxnSpPr>
        <p:spPr>
          <a:xfrm>
            <a:off x="731520" y="1875282"/>
            <a:ext cx="0" cy="8108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44117F04-2F97-3705-CD38-D8550BEAFF15}"/>
              </a:ext>
            </a:extLst>
          </p:cNvPr>
          <p:cNvCxnSpPr/>
          <p:nvPr/>
        </p:nvCxnSpPr>
        <p:spPr>
          <a:xfrm flipH="1">
            <a:off x="11295857" y="1875282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3B96225D-259B-B171-FA6F-ED3203538111}"/>
              </a:ext>
            </a:extLst>
          </p:cNvPr>
          <p:cNvCxnSpPr/>
          <p:nvPr/>
        </p:nvCxnSpPr>
        <p:spPr>
          <a:xfrm>
            <a:off x="11460449" y="1875282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76538E1C-06F6-15A9-9C74-B57221035F52}"/>
              </a:ext>
            </a:extLst>
          </p:cNvPr>
          <p:cNvCxnSpPr/>
          <p:nvPr/>
        </p:nvCxnSpPr>
        <p:spPr>
          <a:xfrm>
            <a:off x="731520" y="614476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7EB466AF-6578-E871-B123-2CB6DF2EB11E}"/>
              </a:ext>
            </a:extLst>
          </p:cNvPr>
          <p:cNvCxnSpPr>
            <a:cxnSpLocks/>
          </p:cNvCxnSpPr>
          <p:nvPr/>
        </p:nvCxnSpPr>
        <p:spPr>
          <a:xfrm flipV="1">
            <a:off x="731520" y="5980176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F50F9163-D885-D110-25E3-05CE2F8D4DBB}"/>
              </a:ext>
            </a:extLst>
          </p:cNvPr>
          <p:cNvCxnSpPr/>
          <p:nvPr/>
        </p:nvCxnSpPr>
        <p:spPr>
          <a:xfrm flipH="1">
            <a:off x="11295857" y="614476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41D86E86-FBD4-A9B8-78BF-EA35148395F7}"/>
              </a:ext>
            </a:extLst>
          </p:cNvPr>
          <p:cNvCxnSpPr/>
          <p:nvPr/>
        </p:nvCxnSpPr>
        <p:spPr>
          <a:xfrm flipV="1">
            <a:off x="11460449" y="5980176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681682E2-69AF-E911-D8D0-F07A0D392DFF}"/>
              </a:ext>
            </a:extLst>
          </p:cNvPr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803A751-C8B3-FCDC-D8FA-9614EFBE4E54}"/>
              </a:ext>
            </a:extLst>
          </p:cNvPr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AADDB48B-3994-7C93-3B23-F5228ACA31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280" y="2027457"/>
            <a:ext cx="3728712" cy="96567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BAF9F62-A4AF-D86B-0D55-8AAE74619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8418" y="1993134"/>
            <a:ext cx="3635134" cy="10000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43B6E087-E6DC-4F4D-01A6-972E77F726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0304" y="1996181"/>
            <a:ext cx="3739081" cy="963728"/>
          </a:xfrm>
          <a:prstGeom prst="rect">
            <a:avLst/>
          </a:prstGeom>
        </p:spPr>
      </p:pic>
      <p:sp>
        <p:nvSpPr>
          <p:cNvPr id="41" name="Project Card 1"/>
          <p:cNvSpPr/>
          <p:nvPr/>
        </p:nvSpPr>
        <p:spPr>
          <a:xfrm>
            <a:off x="731520" y="3080000"/>
            <a:ext cx="3417813" cy="2860000"/>
          </a:xfrm>
          <a:prstGeom prst="roundRect">
            <a:avLst>
              <a:gd name="adj" fmla="val 3816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roject Bar 1"/>
          <p:cNvSpPr/>
          <p:nvPr/>
        </p:nvSpPr>
        <p:spPr>
          <a:xfrm>
            <a:off x="731520" y="3498288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roject Status 1"/>
          <p:cNvSpPr txBox="1"/>
          <p:nvPr/>
        </p:nvSpPr>
        <p:spPr>
          <a:xfrm>
            <a:off x="987552" y="3250000"/>
            <a:ext cx="2924037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01 / 03</a:t>
            </a:r>
            <a:r>
              <a:rPr lang="en-US" sz="850" spc="68" dirty="0">
                <a:solidFill>
                  <a:srgbClr val="5CD4E1"/>
                </a:solidFill>
                <a:latin typeface="JetBrains Mono Medium"/>
              </a:rPr>
              <a:t>  RELEASED · ON CRATES.IO</a:t>
            </a:r>
          </a:p>
        </p:txBody>
      </p:sp>
      <p:sp>
        <p:nvSpPr>
          <p:cNvPr id="44" name="Project Heading 1"/>
          <p:cNvSpPr txBox="1"/>
          <p:nvPr/>
        </p:nvSpPr>
        <p:spPr>
          <a:xfrm>
            <a:off x="987552" y="3480000"/>
            <a:ext cx="2924037" cy="2545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7" dirty="0">
                <a:solidFill>
                  <a:srgbClr val="E6EDF3"/>
                </a:solidFill>
                <a:latin typeface="Geist Medium"/>
              </a:rPr>
              <a:t>Counterfactual fluid dynamics</a:t>
            </a:r>
          </a:p>
        </p:txBody>
      </p:sp>
      <p:sp>
        <p:nvSpPr>
          <p:cNvPr id="45" name="Project Body 1"/>
          <p:cNvSpPr txBox="1"/>
          <p:nvPr/>
        </p:nvSpPr>
        <p:spPr>
          <a:xfrm>
            <a:off x="987552" y="3780000"/>
            <a:ext cx="2924037" cy="2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AAB3BD"/>
                </a:solidFill>
                <a:latin typeface="Geist"/>
              </a:rPr>
              <a:t>Three solver families, one Flow DSL: DEC Navier-Stokes, tensor-train marchers, fitted closures.</a:t>
            </a:r>
          </a:p>
          <a:p>
            <a:pPr algn="l">
              <a:lnSpc>
                <a:spcPts val="1584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100" dirty="0">
                <a:solidFill>
                  <a:srgbClr val="AAB3BD"/>
                </a:solidFill>
                <a:latin typeface="Geist"/>
              </a:rPr>
              <a:t>Fork a live run into counterfactual worlds, each with its own provenance log.</a:t>
            </a:r>
          </a:p>
          <a:p>
            <a:pPr algn="l">
              <a:lnSpc>
                <a:spcPts val="1584"/>
              </a:lnSpc>
              <a:spcBef>
                <a:spcPts val="400"/>
              </a:spcBef>
              <a:spcAft>
                <a:spcPts val="0"/>
              </a:spcAft>
            </a:pPr>
            <a:endParaRPr lang="en-US" sz="1100">
              <a:solidFill>
                <a:srgbClr val="AAB3BD"/>
              </a:solidFill>
              <a:latin typeface="Geist"/>
            </a:endParaRPr>
          </a:p>
          <a:p>
            <a:pPr algn="l">
              <a:lnSpc>
                <a:spcPts val="1584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100">
                <a:solidFill>
                  <a:srgbClr val="AAB3BD"/>
                </a:solidFill>
                <a:latin typeface="Geist"/>
              </a:rPr>
              <a:t>Fourteen </a:t>
            </a:r>
            <a:r>
              <a:rPr lang="en-US" sz="1100" dirty="0">
                <a:solidFill>
                  <a:srgbClr val="AAB3BD"/>
                </a:solidFill>
                <a:latin typeface="Geist"/>
              </a:rPr>
              <a:t>verification programs gate CI against analytic and published references.</a:t>
            </a:r>
          </a:p>
        </p:txBody>
      </p:sp>
      <p:sp>
        <p:nvSpPr>
          <p:cNvPr id="46" name="Project Card 2"/>
          <p:cNvSpPr/>
          <p:nvPr/>
        </p:nvSpPr>
        <p:spPr>
          <a:xfrm>
            <a:off x="4387077" y="3080000"/>
            <a:ext cx="3417813" cy="2860000"/>
          </a:xfrm>
          <a:prstGeom prst="roundRect">
            <a:avLst>
              <a:gd name="adj" fmla="val 3816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roject Bar 2"/>
          <p:cNvSpPr/>
          <p:nvPr/>
        </p:nvSpPr>
        <p:spPr>
          <a:xfrm>
            <a:off x="4387077" y="3498288"/>
            <a:ext cx="34747" cy="274320"/>
          </a:xfrm>
          <a:prstGeom prst="rect">
            <a:avLst/>
          </a:prstGeom>
          <a:solidFill>
            <a:srgbClr val="5CD4E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roject Status 2"/>
          <p:cNvSpPr txBox="1"/>
          <p:nvPr/>
        </p:nvSpPr>
        <p:spPr>
          <a:xfrm>
            <a:off x="4643109" y="3250000"/>
            <a:ext cx="2924037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02 / 03</a:t>
            </a:r>
            <a:r>
              <a:rPr lang="en-US" sz="850" spc="68" dirty="0">
                <a:solidFill>
                  <a:srgbClr val="5CD4E1"/>
                </a:solidFill>
                <a:latin typeface="JetBrains Mono Medium"/>
              </a:rPr>
              <a:t>  IN DEVELOPMENT · QCL IN DESIGN</a:t>
            </a:r>
          </a:p>
        </p:txBody>
      </p:sp>
      <p:sp>
        <p:nvSpPr>
          <p:cNvPr id="49" name="Project Heading 2"/>
          <p:cNvSpPr txBox="1"/>
          <p:nvPr/>
        </p:nvSpPr>
        <p:spPr>
          <a:xfrm>
            <a:off x="4643109" y="3480000"/>
            <a:ext cx="2924037" cy="2545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7" dirty="0">
                <a:solidFill>
                  <a:srgbClr val="E6EDF3"/>
                </a:solidFill>
                <a:latin typeface="Geist Medium"/>
              </a:rPr>
              <a:t>Quantum causal models</a:t>
            </a:r>
          </a:p>
        </p:txBody>
      </p:sp>
      <p:sp>
        <p:nvSpPr>
          <p:cNvPr id="50" name="Project Body 2"/>
          <p:cNvSpPr txBox="1"/>
          <p:nvPr/>
        </p:nvSpPr>
        <p:spPr>
          <a:xfrm>
            <a:off x="4643109" y="3780000"/>
            <a:ext cx="2924037" cy="2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AAB3BD"/>
                </a:solidFill>
                <a:latin typeface="Geist"/>
              </a:rPr>
              <a:t>Ships today: quantum causal models on the causal monad; the quantum Markov condition is checked at graph freeze.</a:t>
            </a:r>
          </a:p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AAB3BD"/>
              </a:solidFill>
              <a:latin typeface="Geist"/>
            </a:endParaRPr>
          </a:p>
          <a:p>
            <a:pPr algn="l">
              <a:lnSpc>
                <a:spcPts val="1584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100" dirty="0">
                <a:solidFill>
                  <a:srgbClr val="AAB3BD"/>
                </a:solidFill>
                <a:latin typeface="Geist"/>
              </a:rPr>
              <a:t>In the making: QCL, a Quantum Causal Language. One builder, one decision form: validate, then control.</a:t>
            </a:r>
          </a:p>
        </p:txBody>
      </p:sp>
      <p:sp>
        <p:nvSpPr>
          <p:cNvPr id="51" name="Project Card 3"/>
          <p:cNvSpPr/>
          <p:nvPr/>
        </p:nvSpPr>
        <p:spPr>
          <a:xfrm>
            <a:off x="8060938" y="3080000"/>
            <a:ext cx="3417813" cy="2860000"/>
          </a:xfrm>
          <a:prstGeom prst="roundRect">
            <a:avLst>
              <a:gd name="adj" fmla="val 3816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roject Bar 3"/>
          <p:cNvSpPr/>
          <p:nvPr/>
        </p:nvSpPr>
        <p:spPr>
          <a:xfrm>
            <a:off x="8060938" y="3498288"/>
            <a:ext cx="34747" cy="274320"/>
          </a:xfrm>
          <a:prstGeom prst="rect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roject Status 3"/>
          <p:cNvSpPr txBox="1"/>
          <p:nvPr/>
        </p:nvSpPr>
        <p:spPr>
          <a:xfrm>
            <a:off x="8316970" y="3250000"/>
            <a:ext cx="2924037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03 / 03</a:t>
            </a:r>
            <a:r>
              <a:rPr lang="en-US" sz="850" spc="68" dirty="0">
                <a:solidFill>
                  <a:srgbClr val="5CD4E1"/>
                </a:solidFill>
                <a:latin typeface="JetBrains Mono Medium"/>
              </a:rPr>
              <a:t>  DESIGN STAGE · NO CODE YET</a:t>
            </a:r>
          </a:p>
        </p:txBody>
      </p:sp>
      <p:sp>
        <p:nvSpPr>
          <p:cNvPr id="54" name="Project Heading 3"/>
          <p:cNvSpPr txBox="1"/>
          <p:nvPr/>
        </p:nvSpPr>
        <p:spPr>
          <a:xfrm>
            <a:off x="8316970" y="3480000"/>
            <a:ext cx="2924037" cy="2545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7" dirty="0">
                <a:solidFill>
                  <a:srgbClr val="E6EDF3"/>
                </a:solidFill>
                <a:latin typeface="Geist Medium"/>
              </a:rPr>
              <a:t>Knowledge propagation</a:t>
            </a:r>
          </a:p>
        </p:txBody>
      </p:sp>
      <p:sp>
        <p:nvSpPr>
          <p:cNvPr id="55" name="Project Body 3"/>
          <p:cNvSpPr txBox="1"/>
          <p:nvPr/>
        </p:nvSpPr>
        <p:spPr>
          <a:xfrm>
            <a:off x="8316970" y="3780000"/>
            <a:ext cx="2924037" cy="2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AAB3BD"/>
                </a:solidFill>
                <a:latin typeface="Geist"/>
              </a:rPr>
              <a:t>Status: architecture and ontology documents only. No code exists yet.</a:t>
            </a:r>
          </a:p>
          <a:p>
            <a:pPr algn="l">
              <a:lnSpc>
                <a:spcPts val="1584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100" dirty="0">
                <a:solidFill>
                  <a:srgbClr val="AAB3BD"/>
                </a:solidFill>
                <a:latin typeface="Geist"/>
              </a:rPr>
              <a:t>Thesis: knowledge propagates the way the causal monad propagates effects.</a:t>
            </a:r>
          </a:p>
          <a:p>
            <a:pPr algn="l">
              <a:lnSpc>
                <a:spcPts val="1584"/>
              </a:lnSpc>
              <a:spcBef>
                <a:spcPts val="400"/>
              </a:spcBef>
              <a:spcAft>
                <a:spcPts val="0"/>
              </a:spcAft>
            </a:pPr>
            <a:endParaRPr lang="en-US" sz="1100" dirty="0">
              <a:solidFill>
                <a:srgbClr val="AAB3BD"/>
              </a:solidFill>
              <a:latin typeface="Geist"/>
            </a:endParaRPr>
          </a:p>
          <a:p>
            <a:pPr algn="l">
              <a:lnSpc>
                <a:spcPts val="1584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100" dirty="0">
                <a:solidFill>
                  <a:srgbClr val="AAB3BD"/>
                </a:solidFill>
                <a:latin typeface="Geist"/>
              </a:rPr>
              <a:t>Design: one embedded graph store links papers, specs, Lean proofs, and code into one audit chain.</a:t>
            </a:r>
          </a:p>
        </p:txBody>
      </p:sp>
    </p:spTree>
    <p:extLst>
      <p:ext uri="{BB962C8B-B14F-4D97-AF65-F5344CB8AC3E}">
        <p14:creationId xmlns:p14="http://schemas.microsoft.com/office/powerpoint/2010/main" val="1299301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C332B-A14E-9532-6DC2-FD73B6A6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888BC8-0613-89A5-3308-296A586ECCDB}"/>
              </a:ext>
            </a:extLst>
          </p:cNvPr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CASE STUDY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2C2D1-2E79-DBFC-89B2-3AC2F3F3F35A}"/>
              </a:ext>
            </a:extLst>
          </p:cNvPr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 dirty="0">
                <a:solidFill>
                  <a:srgbClr val="E6EDF3"/>
                </a:solidFill>
                <a:latin typeface="Geist Medium"/>
              </a:rPr>
              <a:t>DeepCausality at United Airlines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E091F9-955F-9190-B0F3-7DB46DB65C1A}"/>
              </a:ext>
            </a:extLst>
          </p:cNvPr>
          <p:cNvSpPr txBox="1"/>
          <p:nvPr/>
        </p:nvSpPr>
        <p:spPr>
          <a:xfrm>
            <a:off x="731520" y="1171194"/>
            <a:ext cx="9441457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B3BD"/>
                </a:solidFill>
                <a:latin typeface="Geist"/>
              </a:rPr>
              <a:t>Where the integration stands today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BCD3452-0891-A67A-0901-0D79ACA6375B}"/>
              </a:ext>
            </a:extLst>
          </p:cNvPr>
          <p:cNvCxnSpPr/>
          <p:nvPr/>
        </p:nvCxnSpPr>
        <p:spPr>
          <a:xfrm>
            <a:off x="731520" y="160096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6F0B6B3-9F47-3267-78E8-81C544138A47}"/>
              </a:ext>
            </a:extLst>
          </p:cNvPr>
          <p:cNvCxnSpPr/>
          <p:nvPr/>
        </p:nvCxnSpPr>
        <p:spPr>
          <a:xfrm>
            <a:off x="731520" y="1809857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AAD5F96C-2086-5E4B-0FC0-5F550E07DD65}"/>
              </a:ext>
            </a:extLst>
          </p:cNvPr>
          <p:cNvCxnSpPr/>
          <p:nvPr/>
        </p:nvCxnSpPr>
        <p:spPr>
          <a:xfrm>
            <a:off x="731520" y="1809857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BBB4B9D9-5759-2C2F-CB5F-CDE7AEBC1B0E}"/>
              </a:ext>
            </a:extLst>
          </p:cNvPr>
          <p:cNvCxnSpPr/>
          <p:nvPr/>
        </p:nvCxnSpPr>
        <p:spPr>
          <a:xfrm flipH="1">
            <a:off x="11295857" y="1875282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9995E70A-1860-0B38-E173-AF8732F028F2}"/>
              </a:ext>
            </a:extLst>
          </p:cNvPr>
          <p:cNvCxnSpPr/>
          <p:nvPr/>
        </p:nvCxnSpPr>
        <p:spPr>
          <a:xfrm>
            <a:off x="11460449" y="1875282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A32B3DE9-CE6E-55FF-229F-92B0F8A93E0D}"/>
              </a:ext>
            </a:extLst>
          </p:cNvPr>
          <p:cNvCxnSpPr/>
          <p:nvPr/>
        </p:nvCxnSpPr>
        <p:spPr>
          <a:xfrm>
            <a:off x="731520" y="6079343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9C8E0C93-6D22-A48F-6B0D-B1E4A49250B9}"/>
              </a:ext>
            </a:extLst>
          </p:cNvPr>
          <p:cNvCxnSpPr/>
          <p:nvPr/>
        </p:nvCxnSpPr>
        <p:spPr>
          <a:xfrm flipV="1">
            <a:off x="731520" y="5914751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82244C98-1860-EEDF-86C3-7AB8FFC3D506}"/>
              </a:ext>
            </a:extLst>
          </p:cNvPr>
          <p:cNvCxnSpPr/>
          <p:nvPr/>
        </p:nvCxnSpPr>
        <p:spPr>
          <a:xfrm flipH="1">
            <a:off x="11295857" y="614476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6044569B-5280-3015-D01E-ED93F8809F28}"/>
              </a:ext>
            </a:extLst>
          </p:cNvPr>
          <p:cNvCxnSpPr/>
          <p:nvPr/>
        </p:nvCxnSpPr>
        <p:spPr>
          <a:xfrm flipV="1">
            <a:off x="11460449" y="5980176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F846430F-BE83-B38A-2408-EFB84FCDF70B}"/>
              </a:ext>
            </a:extLst>
          </p:cNvPr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DA14647-F0F7-302A-C383-7900A0A5A901}"/>
              </a:ext>
            </a:extLst>
          </p:cNvPr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  <p:pic>
        <p:nvPicPr>
          <p:cNvPr id="24" name="Picture 23" descr="ServiceRadar unified operations dashboard showing live network health, a global flow map, and threat intel">
            <a:extLst>
              <a:ext uri="{FF2B5EF4-FFF2-40B4-BE49-F238E27FC236}">
                <a16:creationId xmlns:a16="http://schemas.microsoft.com/office/drawing/2014/main" id="{699A8BC1-6240-5483-2592-A20B87819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561" y="1905313"/>
            <a:ext cx="6413887" cy="419373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096AAF5-AA09-C6B8-3C56-6C13BFA0E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562" y="901089"/>
            <a:ext cx="6529736" cy="857233"/>
          </a:xfrm>
          <a:prstGeom prst="rect">
            <a:avLst/>
          </a:prstGeom>
        </p:spPr>
      </p:pic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F44ADBA-969C-1878-A434-359D1319DDF3}"/>
              </a:ext>
            </a:extLst>
          </p:cNvPr>
          <p:cNvSpPr/>
          <p:nvPr/>
        </p:nvSpPr>
        <p:spPr>
          <a:xfrm>
            <a:off x="896112" y="1829563"/>
            <a:ext cx="2517640" cy="2093976"/>
          </a:xfrm>
          <a:prstGeom prst="roundRect">
            <a:avLst>
              <a:gd name="adj" fmla="val 3930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F22892C-D1D0-D9EF-5A27-561CCC9452E3}"/>
              </a:ext>
            </a:extLst>
          </p:cNvPr>
          <p:cNvSpPr/>
          <p:nvPr/>
        </p:nvSpPr>
        <p:spPr>
          <a:xfrm>
            <a:off x="896112" y="2085594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86258A-F9D8-8577-A1BB-7D28A3D80BE9}"/>
              </a:ext>
            </a:extLst>
          </p:cNvPr>
          <p:cNvSpPr txBox="1"/>
          <p:nvPr/>
        </p:nvSpPr>
        <p:spPr>
          <a:xfrm>
            <a:off x="1152144" y="2067306"/>
            <a:ext cx="2023864" cy="2392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016"/>
              </a:lnSpc>
            </a:pPr>
            <a:r>
              <a:rPr lang="en-US" sz="1450" spc="-15" dirty="0">
                <a:solidFill>
                  <a:srgbClr val="E6EDF3"/>
                </a:solidFill>
                <a:latin typeface="Geist Medium"/>
              </a:rPr>
              <a:t>ServiceRadar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8E5719-5551-0998-4A5E-FB85B9066049}"/>
              </a:ext>
            </a:extLst>
          </p:cNvPr>
          <p:cNvSpPr txBox="1"/>
          <p:nvPr/>
        </p:nvSpPr>
        <p:spPr>
          <a:xfrm>
            <a:off x="1152144" y="2398014"/>
            <a:ext cx="2023864" cy="1085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Unified Network Solution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Network monitoring.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Network management.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Security management.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IT Ops.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Deployed at United Airlines.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4A7112C8-E140-A36C-0A1F-AB27BA5F8B5C}"/>
              </a:ext>
            </a:extLst>
          </p:cNvPr>
          <p:cNvSpPr/>
          <p:nvPr/>
        </p:nvSpPr>
        <p:spPr>
          <a:xfrm>
            <a:off x="930859" y="3962139"/>
            <a:ext cx="2517640" cy="2093976"/>
          </a:xfrm>
          <a:prstGeom prst="roundRect">
            <a:avLst>
              <a:gd name="adj" fmla="val 3930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E90FB75-FB1E-EED4-407A-BA78DB0F4B52}"/>
              </a:ext>
            </a:extLst>
          </p:cNvPr>
          <p:cNvSpPr/>
          <p:nvPr/>
        </p:nvSpPr>
        <p:spPr>
          <a:xfrm>
            <a:off x="930859" y="4218170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DB8C0D-D3AB-A08F-9131-930CE5D0DC36}"/>
              </a:ext>
            </a:extLst>
          </p:cNvPr>
          <p:cNvSpPr txBox="1"/>
          <p:nvPr/>
        </p:nvSpPr>
        <p:spPr>
          <a:xfrm>
            <a:off x="1186891" y="4199882"/>
            <a:ext cx="2023864" cy="2392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39"/>
              </a:lnSpc>
            </a:pPr>
            <a:r>
              <a:rPr lang="en-US" sz="1450" spc="-15" dirty="0">
                <a:solidFill>
                  <a:srgbClr val="E6EDF3"/>
                </a:solidFill>
                <a:latin typeface="Geist Medium"/>
              </a:rPr>
              <a:t>DeepCausality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FCAD98-BCEA-ADF7-1145-FB9D2E5E4482}"/>
              </a:ext>
            </a:extLst>
          </p:cNvPr>
          <p:cNvSpPr txBox="1"/>
          <p:nvPr/>
        </p:nvSpPr>
        <p:spPr>
          <a:xfrm>
            <a:off x="1186891" y="4530590"/>
            <a:ext cx="2023864" cy="1085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Real-time anomaly detection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1 million ops/sec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200" dirty="0">
              <a:solidFill>
                <a:srgbClr val="AAB3BD"/>
              </a:solidFill>
              <a:latin typeface="Geist"/>
            </a:endParaRP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Components used: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UltraGraph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DeepCausality Core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Dynamic Context</a:t>
            </a:r>
          </a:p>
        </p:txBody>
      </p:sp>
    </p:spTree>
    <p:extLst>
      <p:ext uri="{BB962C8B-B14F-4D97-AF65-F5344CB8AC3E}">
        <p14:creationId xmlns:p14="http://schemas.microsoft.com/office/powerpoint/2010/main" val="3064884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AF3DE-FD4A-81E1-3B20-D68EAAB8B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DF30A4-2951-8897-FBDD-CD42267C2151}"/>
              </a:ext>
            </a:extLst>
          </p:cNvPr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CASE STUDY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B9D72-0703-9B10-FBF7-21A9FFF61538}"/>
              </a:ext>
            </a:extLst>
          </p:cNvPr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 dirty="0">
                <a:solidFill>
                  <a:srgbClr val="E6EDF3"/>
                </a:solidFill>
                <a:latin typeface="Geist Medium"/>
              </a:rPr>
              <a:t>DeepCausality at United Airlines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D472AA-2683-FE1F-9141-002F00AFA38A}"/>
              </a:ext>
            </a:extLst>
          </p:cNvPr>
          <p:cNvSpPr txBox="1"/>
          <p:nvPr/>
        </p:nvSpPr>
        <p:spPr>
          <a:xfrm>
            <a:off x="731520" y="1171194"/>
            <a:ext cx="9441457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B3BD"/>
                </a:solidFill>
                <a:latin typeface="Geist"/>
              </a:rPr>
              <a:t>Where the integration goes next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070C5539-2375-BC5E-5191-A616C4F53B57}"/>
              </a:ext>
            </a:extLst>
          </p:cNvPr>
          <p:cNvCxnSpPr/>
          <p:nvPr/>
        </p:nvCxnSpPr>
        <p:spPr>
          <a:xfrm>
            <a:off x="731520" y="160096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94362B2A-084F-3E71-C61F-3EBBEFA1D248}"/>
              </a:ext>
            </a:extLst>
          </p:cNvPr>
          <p:cNvCxnSpPr/>
          <p:nvPr/>
        </p:nvCxnSpPr>
        <p:spPr>
          <a:xfrm>
            <a:off x="731520" y="1875282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BEA4CE00-9FA0-36AB-85A4-481D54A5476C}"/>
              </a:ext>
            </a:extLst>
          </p:cNvPr>
          <p:cNvCxnSpPr/>
          <p:nvPr/>
        </p:nvCxnSpPr>
        <p:spPr>
          <a:xfrm>
            <a:off x="731520" y="1875282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B99DBC7A-564B-A76D-72CA-7865D8B992E3}"/>
              </a:ext>
            </a:extLst>
          </p:cNvPr>
          <p:cNvCxnSpPr/>
          <p:nvPr/>
        </p:nvCxnSpPr>
        <p:spPr>
          <a:xfrm flipH="1">
            <a:off x="11295857" y="1875282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2B4EFCAA-DBFB-0AFA-B542-D57B6803DB7F}"/>
              </a:ext>
            </a:extLst>
          </p:cNvPr>
          <p:cNvCxnSpPr/>
          <p:nvPr/>
        </p:nvCxnSpPr>
        <p:spPr>
          <a:xfrm>
            <a:off x="11460449" y="1875282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F2EDCB5A-19C0-37F8-B7BD-DC854E04BE90}"/>
              </a:ext>
            </a:extLst>
          </p:cNvPr>
          <p:cNvCxnSpPr/>
          <p:nvPr/>
        </p:nvCxnSpPr>
        <p:spPr>
          <a:xfrm>
            <a:off x="731520" y="614476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FD5D144E-F35B-9466-69F6-ED327F89FF22}"/>
              </a:ext>
            </a:extLst>
          </p:cNvPr>
          <p:cNvCxnSpPr/>
          <p:nvPr/>
        </p:nvCxnSpPr>
        <p:spPr>
          <a:xfrm flipV="1">
            <a:off x="731520" y="5980176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799A03EF-1B0C-3524-D982-FE2D0EBD7A8A}"/>
              </a:ext>
            </a:extLst>
          </p:cNvPr>
          <p:cNvCxnSpPr/>
          <p:nvPr/>
        </p:nvCxnSpPr>
        <p:spPr>
          <a:xfrm flipH="1">
            <a:off x="11295857" y="614476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0FFB1250-2B17-928E-82A9-BABE0AF784C8}"/>
              </a:ext>
            </a:extLst>
          </p:cNvPr>
          <p:cNvCxnSpPr/>
          <p:nvPr/>
        </p:nvCxnSpPr>
        <p:spPr>
          <a:xfrm flipV="1">
            <a:off x="11460449" y="5980176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DE4412F0-041A-2413-9F30-F607559937BD}"/>
              </a:ext>
            </a:extLst>
          </p:cNvPr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CD1B92B-70CC-B682-894D-4F7350BF0C50}"/>
              </a:ext>
            </a:extLst>
          </p:cNvPr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AC7853D-B207-77E3-FE69-744FE9D81E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3259" y="1875282"/>
            <a:ext cx="7650712" cy="433540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6018B6-9BB6-0A55-FEF4-C6B7A4E37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562" y="901089"/>
            <a:ext cx="6529736" cy="857233"/>
          </a:xfrm>
          <a:prstGeom prst="rect">
            <a:avLst/>
          </a:prstGeom>
        </p:spPr>
      </p:pic>
      <p:cxnSp>
        <p:nvCxnSpPr>
          <p:cNvPr id="6" name="Connector 6">
            <a:extLst>
              <a:ext uri="{FF2B5EF4-FFF2-40B4-BE49-F238E27FC236}">
                <a16:creationId xmlns:a16="http://schemas.microsoft.com/office/drawing/2014/main" id="{AD7301B4-8A85-5A29-50F5-045DB339B862}"/>
              </a:ext>
            </a:extLst>
          </p:cNvPr>
          <p:cNvCxnSpPr/>
          <p:nvPr/>
        </p:nvCxnSpPr>
        <p:spPr>
          <a:xfrm>
            <a:off x="731520" y="1875282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7">
            <a:extLst>
              <a:ext uri="{FF2B5EF4-FFF2-40B4-BE49-F238E27FC236}">
                <a16:creationId xmlns:a16="http://schemas.microsoft.com/office/drawing/2014/main" id="{21712284-C54D-4994-28DA-1E4E2ED465D7}"/>
              </a:ext>
            </a:extLst>
          </p:cNvPr>
          <p:cNvCxnSpPr/>
          <p:nvPr/>
        </p:nvCxnSpPr>
        <p:spPr>
          <a:xfrm>
            <a:off x="731520" y="1875282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0">
            <a:extLst>
              <a:ext uri="{FF2B5EF4-FFF2-40B4-BE49-F238E27FC236}">
                <a16:creationId xmlns:a16="http://schemas.microsoft.com/office/drawing/2014/main" id="{EFCD74E6-6F39-97A4-733E-880B8EB86D10}"/>
              </a:ext>
            </a:extLst>
          </p:cNvPr>
          <p:cNvCxnSpPr/>
          <p:nvPr/>
        </p:nvCxnSpPr>
        <p:spPr>
          <a:xfrm>
            <a:off x="731520" y="6144768"/>
            <a:ext cx="164592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1">
            <a:extLst>
              <a:ext uri="{FF2B5EF4-FFF2-40B4-BE49-F238E27FC236}">
                <a16:creationId xmlns:a16="http://schemas.microsoft.com/office/drawing/2014/main" id="{D72BD827-81F8-19D5-F629-2EE798D8E1C2}"/>
              </a:ext>
            </a:extLst>
          </p:cNvPr>
          <p:cNvCxnSpPr/>
          <p:nvPr/>
        </p:nvCxnSpPr>
        <p:spPr>
          <a:xfrm flipV="1">
            <a:off x="731520" y="5980176"/>
            <a:ext cx="0" cy="164592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A51D932-34CD-8902-F259-CE4623FDB880}"/>
              </a:ext>
            </a:extLst>
          </p:cNvPr>
          <p:cNvSpPr/>
          <p:nvPr/>
        </p:nvSpPr>
        <p:spPr>
          <a:xfrm>
            <a:off x="896112" y="1875282"/>
            <a:ext cx="2517640" cy="2093976"/>
          </a:xfrm>
          <a:prstGeom prst="roundRect">
            <a:avLst>
              <a:gd name="adj" fmla="val 3930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062268-269B-D37A-F030-3C5D5E11D611}"/>
              </a:ext>
            </a:extLst>
          </p:cNvPr>
          <p:cNvSpPr/>
          <p:nvPr/>
        </p:nvSpPr>
        <p:spPr>
          <a:xfrm>
            <a:off x="896112" y="2131313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87724-DCEE-47C8-ADEE-79574A408386}"/>
              </a:ext>
            </a:extLst>
          </p:cNvPr>
          <p:cNvSpPr txBox="1"/>
          <p:nvPr/>
        </p:nvSpPr>
        <p:spPr>
          <a:xfrm>
            <a:off x="1152144" y="2113025"/>
            <a:ext cx="2023864" cy="2392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016"/>
              </a:lnSpc>
            </a:pPr>
            <a:r>
              <a:rPr lang="en-US" sz="1450" spc="-15" dirty="0">
                <a:solidFill>
                  <a:srgbClr val="E6EDF3"/>
                </a:solidFill>
                <a:latin typeface="Geist Medium"/>
              </a:rPr>
              <a:t>ServiceRadar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0608F4-8ED7-8045-C28E-A5952F11EEB9}"/>
              </a:ext>
            </a:extLst>
          </p:cNvPr>
          <p:cNvSpPr txBox="1"/>
          <p:nvPr/>
        </p:nvSpPr>
        <p:spPr>
          <a:xfrm>
            <a:off x="1152144" y="2443733"/>
            <a:ext cx="2023864" cy="1085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Works toward: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Holistic security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Cross-domain diagnostics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Dynamic incident response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0CC8B49-5519-4842-92A2-00F2F984D2CF}"/>
              </a:ext>
            </a:extLst>
          </p:cNvPr>
          <p:cNvSpPr/>
          <p:nvPr/>
        </p:nvSpPr>
        <p:spPr>
          <a:xfrm>
            <a:off x="896112" y="4050792"/>
            <a:ext cx="2517640" cy="2093976"/>
          </a:xfrm>
          <a:prstGeom prst="roundRect">
            <a:avLst>
              <a:gd name="adj" fmla="val 3930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60B5AA-BB55-5672-A3A8-62D9DB4BBE3A}"/>
              </a:ext>
            </a:extLst>
          </p:cNvPr>
          <p:cNvSpPr/>
          <p:nvPr/>
        </p:nvSpPr>
        <p:spPr>
          <a:xfrm>
            <a:off x="896112" y="4306823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31F2C-71FE-9B9B-0E6C-8824F4369E34}"/>
              </a:ext>
            </a:extLst>
          </p:cNvPr>
          <p:cNvSpPr txBox="1"/>
          <p:nvPr/>
        </p:nvSpPr>
        <p:spPr>
          <a:xfrm>
            <a:off x="1152144" y="4288535"/>
            <a:ext cx="2023864" cy="2392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39"/>
              </a:lnSpc>
            </a:pPr>
            <a:r>
              <a:rPr lang="en-US" sz="1450" spc="-15" dirty="0">
                <a:solidFill>
                  <a:srgbClr val="E6EDF3"/>
                </a:solidFill>
                <a:latin typeface="Geist Medium"/>
              </a:rPr>
              <a:t>DeepCausality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AB7D4-0686-644A-390B-1D756ABB195B}"/>
              </a:ext>
            </a:extLst>
          </p:cNvPr>
          <p:cNvSpPr txBox="1"/>
          <p:nvPr/>
        </p:nvSpPr>
        <p:spPr>
          <a:xfrm>
            <a:off x="1152144" y="4619243"/>
            <a:ext cx="2023864" cy="10850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Foundational to the initiative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srgbClr val="AAB3BD"/>
              </a:solidFill>
              <a:latin typeface="Geist"/>
            </a:endParaRP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Anticipated usage: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Dynamic causal reasoning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Dynamic context</a:t>
            </a:r>
          </a:p>
          <a:p>
            <a:pPr marL="171450" indent="-171450"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DeepBrain ontology</a:t>
            </a:r>
          </a:p>
        </p:txBody>
      </p:sp>
    </p:spTree>
    <p:extLst>
      <p:ext uri="{BB962C8B-B14F-4D97-AF65-F5344CB8AC3E}">
        <p14:creationId xmlns:p14="http://schemas.microsoft.com/office/powerpoint/2010/main" val="4101438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PROJECT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>
                <a:solidFill>
                  <a:srgbClr val="E6EDF3"/>
                </a:solidFill>
                <a:latin typeface="Geist Medium"/>
              </a:rPr>
              <a:t>Where the project stands in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1194"/>
            <a:ext cx="9441457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AAB3BD"/>
                </a:solidFill>
                <a:latin typeface="Geist"/>
              </a:rPr>
              <a:t>In September 2023, at the LF Sandbox admission, the project was in its infancy.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60096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75282"/>
            <a:ext cx="3430005" cy="1233510"/>
          </a:xfrm>
          <a:prstGeom prst="roundRect">
            <a:avLst>
              <a:gd name="adj" fmla="val 6671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31520" y="2092177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87552" y="2046457"/>
            <a:ext cx="2936229" cy="42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spc="-38" dirty="0">
                <a:solidFill>
                  <a:srgbClr val="E6EDF3"/>
                </a:solidFill>
                <a:latin typeface="Geist Medium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44297"/>
            <a:ext cx="2936229" cy="17513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76">
                <a:solidFill>
                  <a:srgbClr val="5CD4E1"/>
                </a:solidFill>
                <a:latin typeface="JetBrains Mono Medium"/>
              </a:rPr>
              <a:t>CRATES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56006"/>
            <a:ext cx="2936229" cy="19989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rgbClr val="AAB3BD"/>
                </a:solidFill>
                <a:latin typeface="Geist"/>
              </a:rPr>
              <a:t>Four in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0981" y="1875282"/>
            <a:ext cx="3430005" cy="1233510"/>
          </a:xfrm>
          <a:prstGeom prst="roundRect">
            <a:avLst>
              <a:gd name="adj" fmla="val 6671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380981" y="2092177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637013" y="2046457"/>
            <a:ext cx="2936229" cy="42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spc="-38" dirty="0">
                <a:solidFill>
                  <a:srgbClr val="E6EDF3"/>
                </a:solidFill>
                <a:latin typeface="Geist Medium"/>
              </a:rPr>
              <a:t>475k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7013" y="2544297"/>
            <a:ext cx="2936229" cy="17513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76">
                <a:solidFill>
                  <a:srgbClr val="5CD4E1"/>
                </a:solidFill>
                <a:latin typeface="JetBrains Mono Medium"/>
              </a:rPr>
              <a:t>LINES OF 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7013" y="2756006"/>
            <a:ext cx="2936229" cy="19989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rgbClr val="AAB3BD"/>
                </a:solidFill>
                <a:latin typeface="Geist"/>
              </a:rPr>
              <a:t>20.7k in 2023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0443" y="1875282"/>
            <a:ext cx="3430005" cy="1233510"/>
          </a:xfrm>
          <a:prstGeom prst="roundRect">
            <a:avLst>
              <a:gd name="adj" fmla="val 6671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030443" y="2092177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286475" y="2046457"/>
            <a:ext cx="2936229" cy="42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spc="-38" dirty="0">
                <a:solidFill>
                  <a:srgbClr val="E6EDF3"/>
                </a:solidFill>
                <a:latin typeface="Geist Medium"/>
              </a:rPr>
              <a:t>14,463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475" y="2544297"/>
            <a:ext cx="2936229" cy="17513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76">
                <a:solidFill>
                  <a:srgbClr val="5CD4E1"/>
                </a:solidFill>
                <a:latin typeface="JetBrains Mono Medium"/>
              </a:rPr>
              <a:t>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475" y="2756006"/>
            <a:ext cx="2936229" cy="19989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rgbClr val="AAB3BD"/>
                </a:solidFill>
                <a:latin typeface="Geist"/>
              </a:rPr>
              <a:t>534 in 2023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28248"/>
            <a:ext cx="3430005" cy="1233510"/>
          </a:xfrm>
          <a:prstGeom prst="roundRect">
            <a:avLst>
              <a:gd name="adj" fmla="val 6671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31520" y="3545144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987552" y="3499424"/>
            <a:ext cx="2936229" cy="42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spc="-38" dirty="0">
                <a:solidFill>
                  <a:srgbClr val="E6EDF3"/>
                </a:solidFill>
                <a:latin typeface="Geist Medium"/>
              </a:rPr>
              <a:t>155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997264"/>
            <a:ext cx="2936229" cy="17513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76">
                <a:solidFill>
                  <a:srgbClr val="5CD4E1"/>
                </a:solidFill>
                <a:latin typeface="JetBrains Mono Medium"/>
              </a:rPr>
              <a:t>RUNNABLE EXAMPLES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208973"/>
            <a:ext cx="2936229" cy="19989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rgbClr val="AAB3BD"/>
                </a:solidFill>
                <a:latin typeface="Geist"/>
              </a:rPr>
              <a:t>Across 14 domains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0981" y="3328248"/>
            <a:ext cx="3430005" cy="1233510"/>
          </a:xfrm>
          <a:prstGeom prst="roundRect">
            <a:avLst>
              <a:gd name="adj" fmla="val 6671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380981" y="3545144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4637013" y="3499424"/>
            <a:ext cx="2936229" cy="42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spc="-38">
                <a:solidFill>
                  <a:srgbClr val="E6EDF3"/>
                </a:solidFill>
                <a:latin typeface="Geist Medium"/>
              </a:rPr>
              <a:t>183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7013" y="3997264"/>
            <a:ext cx="2936229" cy="17513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76">
                <a:solidFill>
                  <a:srgbClr val="5CD4E1"/>
                </a:solidFill>
                <a:latin typeface="JetBrains Mono Medium"/>
              </a:rPr>
              <a:t>LEAN THEOREMS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7013" y="4208973"/>
            <a:ext cx="2936229" cy="19989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rgbClr val="AAB3BD"/>
                </a:solidFill>
                <a:latin typeface="Geist"/>
              </a:rPr>
              <a:t>Bound to Rust witnesses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0443" y="3328248"/>
            <a:ext cx="3430005" cy="1233510"/>
          </a:xfrm>
          <a:prstGeom prst="roundRect">
            <a:avLst>
              <a:gd name="adj" fmla="val 6671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030443" y="3545144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8286475" y="3499424"/>
            <a:ext cx="2936229" cy="424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spc="-38" dirty="0">
                <a:solidFill>
                  <a:srgbClr val="E6EDF3"/>
                </a:solidFill>
                <a:latin typeface="Geist Medium"/>
              </a:rPr>
              <a:t>33 / 33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6475" y="3997264"/>
            <a:ext cx="2936229" cy="17513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spc="76" dirty="0">
                <a:solidFill>
                  <a:srgbClr val="5CD4E1"/>
                </a:solidFill>
                <a:latin typeface="JetBrains Mono Medium"/>
              </a:rPr>
              <a:t>ZERO-UNSAFE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475" y="4208973"/>
            <a:ext cx="2936229" cy="19989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AAB3BD"/>
                </a:solidFill>
                <a:latin typeface="Geist"/>
              </a:rPr>
              <a:t>Verified by the Rust compiler!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799502"/>
            <a:ext cx="10728929" cy="1042629"/>
          </a:xfrm>
          <a:prstGeom prst="roundRect">
            <a:avLst>
              <a:gd name="adj" fmla="val 7893"/>
            </a:avLst>
          </a:prstGeom>
          <a:solidFill>
            <a:srgbClr val="121A23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731520" y="4988966"/>
            <a:ext cx="41148" cy="292608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69264" y="4970678"/>
            <a:ext cx="10253441" cy="25069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spc="-17" dirty="0">
                <a:solidFill>
                  <a:srgbClr val="E6EDF3"/>
                </a:solidFill>
                <a:latin typeface="Geist Medium"/>
              </a:rPr>
              <a:t>Dynamic Causality is just getting started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" y="5285384"/>
            <a:ext cx="10253441" cy="4038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dirty="0">
                <a:solidFill>
                  <a:srgbClr val="AAB3BD"/>
                </a:solidFill>
                <a:latin typeface="Geist"/>
              </a:rPr>
              <a:t>ServiceRadar integration just began and is structured to continue.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dirty="0">
                <a:solidFill>
                  <a:srgbClr val="AAB3BD"/>
                </a:solidFill>
                <a:latin typeface="Geist"/>
              </a:rPr>
              <a:t>Research in advanced topics started only in mid-2026 and will continue.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7A8BA1-29F1-4942-344D-47CE020B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3A2731-A734-F1BD-7D18-03DA1854BCC2}"/>
              </a:ext>
            </a:extLst>
          </p:cNvPr>
          <p:cNvSpPr txBox="1"/>
          <p:nvPr/>
        </p:nvSpPr>
        <p:spPr>
          <a:xfrm>
            <a:off x="731520" y="384048"/>
            <a:ext cx="1072892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>
                <a:solidFill>
                  <a:srgbClr val="5CD4E1"/>
                </a:solidFill>
                <a:latin typeface="JetBrains Mono Medium"/>
              </a:rPr>
              <a:t>COLLABORATE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5E647-000F-8182-D74C-3852F280B503}"/>
              </a:ext>
            </a:extLst>
          </p:cNvPr>
          <p:cNvSpPr txBox="1"/>
          <p:nvPr/>
        </p:nvSpPr>
        <p:spPr>
          <a:xfrm>
            <a:off x="731520" y="621792"/>
            <a:ext cx="10728929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spc="-36" dirty="0">
                <a:solidFill>
                  <a:srgbClr val="E6EDF3"/>
                </a:solidFill>
                <a:latin typeface="Geist Medium"/>
              </a:rPr>
              <a:t>Where the project seeks help and offers value in return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8648EB1D-30DF-5368-887C-54B1ECF13E91}"/>
              </a:ext>
            </a:extLst>
          </p:cNvPr>
          <p:cNvCxnSpPr/>
          <p:nvPr/>
        </p:nvCxnSpPr>
        <p:spPr>
          <a:xfrm>
            <a:off x="731520" y="1235202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04B1F3-D3F6-FB6A-658E-AC724341B105}"/>
              </a:ext>
            </a:extLst>
          </p:cNvPr>
          <p:cNvSpPr/>
          <p:nvPr/>
        </p:nvSpPr>
        <p:spPr>
          <a:xfrm>
            <a:off x="731520" y="1527810"/>
            <a:ext cx="3417813" cy="2156460"/>
          </a:xfrm>
          <a:prstGeom prst="roundRect">
            <a:avLst>
              <a:gd name="adj" fmla="val 3816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565FB7-BBB2-6620-AB1A-06993ED073F8}"/>
              </a:ext>
            </a:extLst>
          </p:cNvPr>
          <p:cNvSpPr/>
          <p:nvPr/>
        </p:nvSpPr>
        <p:spPr>
          <a:xfrm>
            <a:off x="731520" y="1783842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9E067-BCB6-3B46-F7FA-A9F882C9CBB5}"/>
              </a:ext>
            </a:extLst>
          </p:cNvPr>
          <p:cNvSpPr txBox="1"/>
          <p:nvPr/>
        </p:nvSpPr>
        <p:spPr>
          <a:xfrm>
            <a:off x="987552" y="1765554"/>
            <a:ext cx="2924037" cy="2545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7">
                <a:solidFill>
                  <a:srgbClr val="E6EDF3"/>
                </a:solidFill>
                <a:latin typeface="Geist Medium"/>
              </a:rPr>
              <a:t>Domain partners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FE6EE-A38F-A474-64B9-02422B9B774F}"/>
              </a:ext>
            </a:extLst>
          </p:cNvPr>
          <p:cNvSpPr txBox="1"/>
          <p:nvPr/>
        </p:nvSpPr>
        <p:spPr>
          <a:xfrm>
            <a:off x="987552" y="2129790"/>
            <a:ext cx="2924037" cy="1335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The stack is strongest where a domain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needs verification and an audit trail. If </a:t>
            </a:r>
            <a:br>
              <a:rPr lang="en-US" sz="1200" dirty="0">
                <a:solidFill>
                  <a:srgbClr val="AAB3BD"/>
                </a:solidFill>
                <a:latin typeface="Geist"/>
              </a:rPr>
            </a:br>
            <a:r>
              <a:rPr lang="en-US" sz="1200" dirty="0">
                <a:solidFill>
                  <a:srgbClr val="AAB3BD"/>
                </a:solidFill>
                <a:latin typeface="Geist"/>
              </a:rPr>
              <a:t>your team struggles to meet verification </a:t>
            </a:r>
            <a:br>
              <a:rPr lang="en-US" sz="1200" dirty="0">
                <a:solidFill>
                  <a:srgbClr val="AAB3BD"/>
                </a:solidFill>
                <a:latin typeface="Geist"/>
              </a:rPr>
            </a:br>
            <a:r>
              <a:rPr lang="en-US" sz="1200" dirty="0">
                <a:solidFill>
                  <a:srgbClr val="AAB3BD"/>
                </a:solidFill>
                <a:latin typeface="Geist"/>
              </a:rPr>
              <a:t>and audit requirements for dynamic </a:t>
            </a:r>
            <a:br>
              <a:rPr lang="en-US" sz="1200" dirty="0">
                <a:solidFill>
                  <a:srgbClr val="AAB3BD"/>
                </a:solidFill>
                <a:latin typeface="Geist"/>
              </a:rPr>
            </a:br>
            <a:r>
              <a:rPr lang="en-US" sz="1200" dirty="0">
                <a:solidFill>
                  <a:srgbClr val="AAB3BD"/>
                </a:solidFill>
                <a:latin typeface="Geist"/>
              </a:rPr>
              <a:t>processes, dynamic causality may help.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595ED49-9D15-FDEB-A0D8-A79870381589}"/>
              </a:ext>
            </a:extLst>
          </p:cNvPr>
          <p:cNvSpPr/>
          <p:nvPr/>
        </p:nvSpPr>
        <p:spPr>
          <a:xfrm>
            <a:off x="4387077" y="1527810"/>
            <a:ext cx="3417813" cy="2156460"/>
          </a:xfrm>
          <a:prstGeom prst="roundRect">
            <a:avLst>
              <a:gd name="adj" fmla="val 3816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C27806-C9FE-FCA1-2936-90FA3944ABE4}"/>
              </a:ext>
            </a:extLst>
          </p:cNvPr>
          <p:cNvSpPr/>
          <p:nvPr/>
        </p:nvSpPr>
        <p:spPr>
          <a:xfrm>
            <a:off x="4387077" y="1783842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46EA5-8753-2DF8-6698-FE09749CDDC9}"/>
              </a:ext>
            </a:extLst>
          </p:cNvPr>
          <p:cNvSpPr txBox="1"/>
          <p:nvPr/>
        </p:nvSpPr>
        <p:spPr>
          <a:xfrm>
            <a:off x="4643109" y="1765554"/>
            <a:ext cx="2924037" cy="2545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7">
                <a:solidFill>
                  <a:srgbClr val="E6EDF3"/>
                </a:solidFill>
                <a:latin typeface="Geist Medium"/>
              </a:rPr>
              <a:t>Adjacent LF projects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AD2EA7-4C83-266E-87CB-3661585EF760}"/>
              </a:ext>
            </a:extLst>
          </p:cNvPr>
          <p:cNvSpPr txBox="1"/>
          <p:nvPr/>
        </p:nvSpPr>
        <p:spPr>
          <a:xfrm>
            <a:off x="4643109" y="2129790"/>
            <a:ext cx="2924037" cy="11155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The propagating effect is a natural seam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for anything that already produces a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verdict and then needs to explain it. If your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project has that shape, please explore </a:t>
            </a:r>
            <a:br>
              <a:rPr lang="en-US" sz="1200" dirty="0">
                <a:solidFill>
                  <a:srgbClr val="AAB3BD"/>
                </a:solidFill>
                <a:latin typeface="Geist"/>
              </a:rPr>
            </a:br>
            <a:r>
              <a:rPr lang="en-US" sz="1200" dirty="0">
                <a:solidFill>
                  <a:srgbClr val="AAB3BD"/>
                </a:solidFill>
                <a:latin typeface="Geist"/>
              </a:rPr>
              <a:t>what dynamic causality has to offer.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E7F4574-9268-66AC-0A94-064F54CAE07B}"/>
              </a:ext>
            </a:extLst>
          </p:cNvPr>
          <p:cNvSpPr/>
          <p:nvPr/>
        </p:nvSpPr>
        <p:spPr>
          <a:xfrm>
            <a:off x="8042635" y="1527810"/>
            <a:ext cx="3417813" cy="2156460"/>
          </a:xfrm>
          <a:prstGeom prst="roundRect">
            <a:avLst>
              <a:gd name="adj" fmla="val 3816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32CF1-BFA5-0EA4-D180-7DD6C1CF79C0}"/>
              </a:ext>
            </a:extLst>
          </p:cNvPr>
          <p:cNvSpPr/>
          <p:nvPr/>
        </p:nvSpPr>
        <p:spPr>
          <a:xfrm>
            <a:off x="8042635" y="1783842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E50ABB-3ED9-21D3-99AB-D9E4B5677F75}"/>
              </a:ext>
            </a:extLst>
          </p:cNvPr>
          <p:cNvSpPr txBox="1"/>
          <p:nvPr/>
        </p:nvSpPr>
        <p:spPr>
          <a:xfrm>
            <a:off x="8298667" y="1765554"/>
            <a:ext cx="2924037" cy="2545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7" dirty="0">
                <a:solidFill>
                  <a:srgbClr val="E6EDF3"/>
                </a:solidFill>
                <a:latin typeface="Geist Medium"/>
              </a:rPr>
              <a:t>Reviewers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9DBF52-D5D5-EA1B-EFCC-D3FA263C1B9B}"/>
              </a:ext>
            </a:extLst>
          </p:cNvPr>
          <p:cNvSpPr txBox="1"/>
          <p:nvPr/>
        </p:nvSpPr>
        <p:spPr>
          <a:xfrm>
            <a:off x="8298667" y="2129790"/>
            <a:ext cx="2924037" cy="8961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The Lean layer publishes its open edges.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Extending the proven surface is ongoing </a:t>
            </a:r>
            <a:br>
              <a:rPr lang="en-US" sz="1200" dirty="0">
                <a:solidFill>
                  <a:srgbClr val="AAB3BD"/>
                </a:solidFill>
                <a:latin typeface="Geist"/>
              </a:rPr>
            </a:br>
            <a:r>
              <a:rPr lang="en-US" sz="1200" dirty="0">
                <a:solidFill>
                  <a:srgbClr val="AAB3BD"/>
                </a:solidFill>
                <a:latin typeface="Geist"/>
              </a:rPr>
              <a:t>work and any help is welcome.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7CF39240-C679-2063-2EE9-5BB0445A30BF}"/>
              </a:ext>
            </a:extLst>
          </p:cNvPr>
          <p:cNvCxnSpPr/>
          <p:nvPr/>
        </p:nvCxnSpPr>
        <p:spPr>
          <a:xfrm>
            <a:off x="725541" y="3878581"/>
            <a:ext cx="10728929" cy="0"/>
          </a:xfrm>
          <a:prstGeom prst="line">
            <a:avLst/>
          </a:prstGeom>
          <a:ln w="9525">
            <a:solidFill>
              <a:srgbClr val="2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756A924-38A8-918E-AA2D-66F85A02F2B1}"/>
              </a:ext>
            </a:extLst>
          </p:cNvPr>
          <p:cNvSpPr/>
          <p:nvPr/>
        </p:nvSpPr>
        <p:spPr>
          <a:xfrm>
            <a:off x="3378934" y="3823717"/>
            <a:ext cx="45720" cy="45720"/>
          </a:xfrm>
          <a:prstGeom prst="ellipse">
            <a:avLst/>
          </a:prstGeom>
          <a:solidFill>
            <a:srgbClr val="5CD4E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AF292D5-C7B5-773E-BE42-F2A6A8DCB9AD}"/>
              </a:ext>
            </a:extLst>
          </p:cNvPr>
          <p:cNvSpPr/>
          <p:nvPr/>
        </p:nvSpPr>
        <p:spPr>
          <a:xfrm>
            <a:off x="6061166" y="3823717"/>
            <a:ext cx="45720" cy="45720"/>
          </a:xfrm>
          <a:prstGeom prst="ellipse">
            <a:avLst/>
          </a:prstGeom>
          <a:solidFill>
            <a:srgbClr val="5CD4E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43D484B-CB1A-7E82-8225-7A112E4969E6}"/>
              </a:ext>
            </a:extLst>
          </p:cNvPr>
          <p:cNvSpPr/>
          <p:nvPr/>
        </p:nvSpPr>
        <p:spPr>
          <a:xfrm>
            <a:off x="8749378" y="3855721"/>
            <a:ext cx="45720" cy="45720"/>
          </a:xfrm>
          <a:prstGeom prst="ellipse">
            <a:avLst/>
          </a:prstGeom>
          <a:solidFill>
            <a:srgbClr val="5CD4E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B66F7031-A020-9327-66BA-26FDE33F84B7}"/>
              </a:ext>
            </a:extLst>
          </p:cNvPr>
          <p:cNvCxnSpPr/>
          <p:nvPr/>
        </p:nvCxnSpPr>
        <p:spPr>
          <a:xfrm>
            <a:off x="731520" y="6327648"/>
            <a:ext cx="10728929" cy="0"/>
          </a:xfrm>
          <a:prstGeom prst="line">
            <a:avLst/>
          </a:prstGeom>
          <a:ln w="9525">
            <a:solidFill>
              <a:srgbClr val="1F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5F0C1B3-C4F6-500B-DAB3-364256AFEF06}"/>
              </a:ext>
            </a:extLst>
          </p:cNvPr>
          <p:cNvSpPr txBox="1"/>
          <p:nvPr/>
        </p:nvSpPr>
        <p:spPr>
          <a:xfrm>
            <a:off x="731520" y="6419088"/>
            <a:ext cx="5486400" cy="153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spc="68" dirty="0">
                <a:solidFill>
                  <a:srgbClr val="6B7682"/>
                </a:solidFill>
                <a:latin typeface="JetBrains Mono"/>
              </a:rPr>
              <a:t>DEEPCAUSALITY · LF AI &amp; DATA · TAC 2026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957AED7-15F0-F778-595A-AA7FE4CBF8F3}"/>
              </a:ext>
            </a:extLst>
          </p:cNvPr>
          <p:cNvSpPr/>
          <p:nvPr/>
        </p:nvSpPr>
        <p:spPr>
          <a:xfrm>
            <a:off x="725541" y="4079748"/>
            <a:ext cx="3417813" cy="2156460"/>
          </a:xfrm>
          <a:prstGeom prst="roundRect">
            <a:avLst>
              <a:gd name="adj" fmla="val 3816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98B99A-C667-6AF7-41CC-8ACD192FCFB5}"/>
              </a:ext>
            </a:extLst>
          </p:cNvPr>
          <p:cNvSpPr/>
          <p:nvPr/>
        </p:nvSpPr>
        <p:spPr>
          <a:xfrm>
            <a:off x="725541" y="4335780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F35F6F-AD26-A4A8-E7DB-F7FAF29A924E}"/>
              </a:ext>
            </a:extLst>
          </p:cNvPr>
          <p:cNvSpPr txBox="1"/>
          <p:nvPr/>
        </p:nvSpPr>
        <p:spPr>
          <a:xfrm>
            <a:off x="981573" y="4317492"/>
            <a:ext cx="2924037" cy="2545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7" dirty="0">
                <a:solidFill>
                  <a:srgbClr val="E6EDF3"/>
                </a:solidFill>
                <a:latin typeface="Geist Medium"/>
              </a:rPr>
              <a:t>Expertise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F74328-A7CF-7ADE-6B5D-A4FB8052F37B}"/>
              </a:ext>
            </a:extLst>
          </p:cNvPr>
          <p:cNvSpPr txBox="1"/>
          <p:nvPr/>
        </p:nvSpPr>
        <p:spPr>
          <a:xfrm>
            <a:off x="981573" y="4681728"/>
            <a:ext cx="2924037" cy="1335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Dynamic Causality is new, has a learning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curve, and offers novel solutions. The </a:t>
            </a:r>
            <a:br>
              <a:rPr lang="en-US" sz="1200" dirty="0">
                <a:solidFill>
                  <a:srgbClr val="AAB3BD"/>
                </a:solidFill>
                <a:latin typeface="Geist"/>
              </a:rPr>
            </a:br>
            <a:r>
              <a:rPr lang="en-US" sz="1200" dirty="0">
                <a:solidFill>
                  <a:srgbClr val="AAB3BD"/>
                </a:solidFill>
                <a:latin typeface="Geist"/>
              </a:rPr>
              <a:t>Center for Dynamic Causality is here to </a:t>
            </a:r>
            <a:br>
              <a:rPr lang="en-US" sz="1200" dirty="0">
                <a:solidFill>
                  <a:srgbClr val="AAB3BD"/>
                </a:solidFill>
                <a:latin typeface="Geist"/>
              </a:rPr>
            </a:br>
            <a:r>
              <a:rPr lang="en-US" sz="1200" dirty="0">
                <a:solidFill>
                  <a:srgbClr val="AAB3BD"/>
                </a:solidFill>
                <a:latin typeface="Geist"/>
              </a:rPr>
              <a:t>help with large or complex projects.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7C702DE-7654-D1C5-AC59-3319A382CF9B}"/>
              </a:ext>
            </a:extLst>
          </p:cNvPr>
          <p:cNvSpPr/>
          <p:nvPr/>
        </p:nvSpPr>
        <p:spPr>
          <a:xfrm>
            <a:off x="4387093" y="4081099"/>
            <a:ext cx="3417813" cy="2156460"/>
          </a:xfrm>
          <a:prstGeom prst="roundRect">
            <a:avLst>
              <a:gd name="adj" fmla="val 3816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BEA3B5-2B69-DB3B-5839-576FB980D70E}"/>
              </a:ext>
            </a:extLst>
          </p:cNvPr>
          <p:cNvSpPr/>
          <p:nvPr/>
        </p:nvSpPr>
        <p:spPr>
          <a:xfrm>
            <a:off x="4387093" y="4337131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7E09F0-5090-6EE4-4B59-90D692F284BB}"/>
              </a:ext>
            </a:extLst>
          </p:cNvPr>
          <p:cNvSpPr txBox="1"/>
          <p:nvPr/>
        </p:nvSpPr>
        <p:spPr>
          <a:xfrm>
            <a:off x="4643125" y="4318843"/>
            <a:ext cx="2924037" cy="2545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7" dirty="0">
                <a:solidFill>
                  <a:srgbClr val="E6EDF3"/>
                </a:solidFill>
                <a:latin typeface="Geist Medium"/>
              </a:rPr>
              <a:t>Research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76A1ED-A287-66A0-4670-314230BE952E}"/>
              </a:ext>
            </a:extLst>
          </p:cNvPr>
          <p:cNvSpPr txBox="1"/>
          <p:nvPr/>
        </p:nvSpPr>
        <p:spPr>
          <a:xfrm>
            <a:off x="4643125" y="4683079"/>
            <a:ext cx="2924037" cy="11155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The propagating effect is the foundation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of ongoing research in advanced fields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such as CFD and quantum causality.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All results are open source.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82A88DD-D129-615D-D6C6-176E82618B29}"/>
              </a:ext>
            </a:extLst>
          </p:cNvPr>
          <p:cNvSpPr/>
          <p:nvPr/>
        </p:nvSpPr>
        <p:spPr>
          <a:xfrm>
            <a:off x="6061182" y="6377006"/>
            <a:ext cx="45720" cy="45720"/>
          </a:xfrm>
          <a:prstGeom prst="ellipse">
            <a:avLst/>
          </a:prstGeom>
          <a:solidFill>
            <a:srgbClr val="5CD4E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A1AFF94-58B8-CD35-19C2-EB2E77D4F8F3}"/>
              </a:ext>
            </a:extLst>
          </p:cNvPr>
          <p:cNvSpPr/>
          <p:nvPr/>
        </p:nvSpPr>
        <p:spPr>
          <a:xfrm>
            <a:off x="8060938" y="4072892"/>
            <a:ext cx="3417813" cy="2156460"/>
          </a:xfrm>
          <a:prstGeom prst="roundRect">
            <a:avLst>
              <a:gd name="adj" fmla="val 3816"/>
            </a:avLst>
          </a:prstGeom>
          <a:solidFill>
            <a:srgbClr val="0B1118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20036D-1EDE-F23D-AFA8-998219E192D9}"/>
              </a:ext>
            </a:extLst>
          </p:cNvPr>
          <p:cNvSpPr/>
          <p:nvPr/>
        </p:nvSpPr>
        <p:spPr>
          <a:xfrm>
            <a:off x="8060938" y="4328924"/>
            <a:ext cx="34747" cy="274320"/>
          </a:xfrm>
          <a:prstGeom prst="rect">
            <a:avLst/>
          </a:prstGeom>
          <a:solidFill>
            <a:srgbClr val="5C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A1724B-7B1C-0025-ACB3-7BF85818BB4E}"/>
              </a:ext>
            </a:extLst>
          </p:cNvPr>
          <p:cNvSpPr txBox="1"/>
          <p:nvPr/>
        </p:nvSpPr>
        <p:spPr>
          <a:xfrm>
            <a:off x="8316970" y="4310636"/>
            <a:ext cx="2924037" cy="2545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spc="-17" dirty="0">
                <a:solidFill>
                  <a:srgbClr val="E6EDF3"/>
                </a:solidFill>
                <a:latin typeface="Geist Medium"/>
              </a:rPr>
              <a:t>Integration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A0FCAF-A88F-207D-A3E0-544906373227}"/>
              </a:ext>
            </a:extLst>
          </p:cNvPr>
          <p:cNvSpPr txBox="1"/>
          <p:nvPr/>
        </p:nvSpPr>
        <p:spPr>
          <a:xfrm>
            <a:off x="8316970" y="4674872"/>
            <a:ext cx="2924037" cy="8961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ServiceRadar only scratches the surface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of what a product can do when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augmented with dynamic causality.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Deeper integrations will unlock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AB3BD"/>
                </a:solidFill>
                <a:latin typeface="Geist"/>
              </a:rPr>
              <a:t>advanced functionality.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060FD11-B216-AB53-DA9C-D39A7503C747}"/>
              </a:ext>
            </a:extLst>
          </p:cNvPr>
          <p:cNvSpPr/>
          <p:nvPr/>
        </p:nvSpPr>
        <p:spPr>
          <a:xfrm>
            <a:off x="8767681" y="6400803"/>
            <a:ext cx="45720" cy="45720"/>
          </a:xfrm>
          <a:prstGeom prst="ellipse">
            <a:avLst/>
          </a:prstGeom>
          <a:solidFill>
            <a:srgbClr val="5CD4E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7AB119-FC05-C9E7-D7BE-96A578CAFD92}"/>
              </a:ext>
            </a:extLst>
          </p:cNvPr>
          <p:cNvSpPr txBox="1"/>
          <p:nvPr/>
        </p:nvSpPr>
        <p:spPr>
          <a:xfrm rot="16200000">
            <a:off x="-445928" y="2197597"/>
            <a:ext cx="17187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spc="-36" dirty="0">
                <a:solidFill>
                  <a:srgbClr val="E6EDF3"/>
                </a:solidFill>
                <a:latin typeface="Geist Medium"/>
              </a:rPr>
              <a:t>Seeks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DA7D89-0E88-486B-7D88-659B3258BA9A}"/>
              </a:ext>
            </a:extLst>
          </p:cNvPr>
          <p:cNvSpPr txBox="1"/>
          <p:nvPr/>
        </p:nvSpPr>
        <p:spPr>
          <a:xfrm rot="16200000">
            <a:off x="-445928" y="4845929"/>
            <a:ext cx="17187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spc="-36" dirty="0">
                <a:solidFill>
                  <a:srgbClr val="E6EDF3"/>
                </a:solidFill>
                <a:latin typeface="Geist Medium"/>
              </a:rPr>
              <a:t>Offers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88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94B3C-CD73-8A52-32CD-8E4511C87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BBB2443-97B2-BAD9-0CE5-9BD0B64CF80D}"/>
              </a:ext>
            </a:extLst>
          </p:cNvPr>
          <p:cNvSpPr/>
          <p:nvPr/>
        </p:nvSpPr>
        <p:spPr>
          <a:xfrm>
            <a:off x="2301224" y="420624"/>
            <a:ext cx="7589519" cy="4071366"/>
          </a:xfrm>
          <a:prstGeom prst="roundRect">
            <a:avLst>
              <a:gd name="adj" fmla="val 3593"/>
            </a:avLst>
          </a:prstGeom>
          <a:solidFill>
            <a:srgbClr val="0B1118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c_hero.jpg">
            <a:extLst>
              <a:ext uri="{FF2B5EF4-FFF2-40B4-BE49-F238E27FC236}">
                <a16:creationId xmlns:a16="http://schemas.microsoft.com/office/drawing/2014/main" id="{48C96866-2644-0D00-7EA5-23CC0F72C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664" y="512064"/>
            <a:ext cx="7406640" cy="3888486"/>
          </a:xfrm>
          <a:prstGeom prst="rect">
            <a:avLst/>
          </a:prstGeom>
        </p:spPr>
      </p:pic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CB9C6AD-E791-14C1-1983-07FA493B98AD}"/>
              </a:ext>
            </a:extLst>
          </p:cNvPr>
          <p:cNvCxnSpPr/>
          <p:nvPr/>
        </p:nvCxnSpPr>
        <p:spPr>
          <a:xfrm>
            <a:off x="2301224" y="420624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49826AC-A1E4-8800-8CA5-59C3B0B54CF6}"/>
              </a:ext>
            </a:extLst>
          </p:cNvPr>
          <p:cNvCxnSpPr/>
          <p:nvPr/>
        </p:nvCxnSpPr>
        <p:spPr>
          <a:xfrm>
            <a:off x="2301224" y="420624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527D9AD-E7E5-A5FF-D6C9-8A5F6E2C35D8}"/>
              </a:ext>
            </a:extLst>
          </p:cNvPr>
          <p:cNvCxnSpPr/>
          <p:nvPr/>
        </p:nvCxnSpPr>
        <p:spPr>
          <a:xfrm flipH="1">
            <a:off x="9689576" y="420624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3D3FE075-E086-5FCE-D1B9-C5A2FE282FFB}"/>
              </a:ext>
            </a:extLst>
          </p:cNvPr>
          <p:cNvCxnSpPr/>
          <p:nvPr/>
        </p:nvCxnSpPr>
        <p:spPr>
          <a:xfrm>
            <a:off x="9890744" y="420624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D81B4FFC-8591-E473-689E-9461BA0E4799}"/>
              </a:ext>
            </a:extLst>
          </p:cNvPr>
          <p:cNvCxnSpPr/>
          <p:nvPr/>
        </p:nvCxnSpPr>
        <p:spPr>
          <a:xfrm>
            <a:off x="2301224" y="4491990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048D4D9D-5436-C0CB-A712-B7FEF67097FF}"/>
              </a:ext>
            </a:extLst>
          </p:cNvPr>
          <p:cNvCxnSpPr/>
          <p:nvPr/>
        </p:nvCxnSpPr>
        <p:spPr>
          <a:xfrm flipV="1">
            <a:off x="2301224" y="4290822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D29619A5-5FE6-3B11-3057-B3E45CF31A60}"/>
              </a:ext>
            </a:extLst>
          </p:cNvPr>
          <p:cNvCxnSpPr/>
          <p:nvPr/>
        </p:nvCxnSpPr>
        <p:spPr>
          <a:xfrm flipH="1">
            <a:off x="9689576" y="4491990"/>
            <a:ext cx="201168" cy="0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10F55582-2B90-1499-357F-E6F555B47710}"/>
              </a:ext>
            </a:extLst>
          </p:cNvPr>
          <p:cNvCxnSpPr/>
          <p:nvPr/>
        </p:nvCxnSpPr>
        <p:spPr>
          <a:xfrm flipV="1">
            <a:off x="9890744" y="4290822"/>
            <a:ext cx="0" cy="201168"/>
          </a:xfrm>
          <a:prstGeom prst="line">
            <a:avLst/>
          </a:prstGeom>
          <a:ln w="12700">
            <a:solidFill>
              <a:srgbClr val="5CD4E1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6FB08D9-87D2-60D4-A5ED-523BF47DAB50}"/>
              </a:ext>
            </a:extLst>
          </p:cNvPr>
          <p:cNvCxnSpPr/>
          <p:nvPr/>
        </p:nvCxnSpPr>
        <p:spPr>
          <a:xfrm>
            <a:off x="4678664" y="4802886"/>
            <a:ext cx="2834640" cy="0"/>
          </a:xfrm>
          <a:prstGeom prst="line">
            <a:avLst/>
          </a:prstGeom>
          <a:ln w="9525">
            <a:solidFill>
              <a:srgbClr val="2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FE3882C-EAB2-AD7D-EB78-1BC01154EB10}"/>
              </a:ext>
            </a:extLst>
          </p:cNvPr>
          <p:cNvSpPr/>
          <p:nvPr/>
        </p:nvSpPr>
        <p:spPr>
          <a:xfrm>
            <a:off x="5364464" y="4780026"/>
            <a:ext cx="45720" cy="45720"/>
          </a:xfrm>
          <a:prstGeom prst="ellipse">
            <a:avLst/>
          </a:prstGeom>
          <a:solidFill>
            <a:srgbClr val="5CD4E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D2C256-CEFB-155F-440D-8EA6E130B9CF}"/>
              </a:ext>
            </a:extLst>
          </p:cNvPr>
          <p:cNvSpPr/>
          <p:nvPr/>
        </p:nvSpPr>
        <p:spPr>
          <a:xfrm>
            <a:off x="6073124" y="4780026"/>
            <a:ext cx="45720" cy="45720"/>
          </a:xfrm>
          <a:prstGeom prst="ellipse">
            <a:avLst/>
          </a:prstGeom>
          <a:solidFill>
            <a:srgbClr val="5CD4E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7AB2188-32A5-CBEB-2F9F-7B93AD54F96C}"/>
              </a:ext>
            </a:extLst>
          </p:cNvPr>
          <p:cNvSpPr/>
          <p:nvPr/>
        </p:nvSpPr>
        <p:spPr>
          <a:xfrm>
            <a:off x="6781784" y="4780026"/>
            <a:ext cx="45720" cy="45720"/>
          </a:xfrm>
          <a:prstGeom prst="ellipse">
            <a:avLst/>
          </a:prstGeom>
          <a:solidFill>
            <a:srgbClr val="5CD4E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D66C8B-4C2C-CD9E-3D0A-C1A2EB852320}"/>
              </a:ext>
            </a:extLst>
          </p:cNvPr>
          <p:cNvSpPr txBox="1"/>
          <p:nvPr/>
        </p:nvSpPr>
        <p:spPr>
          <a:xfrm>
            <a:off x="0" y="5040630"/>
            <a:ext cx="12191969" cy="3914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lvl="0" algn="ctr">
              <a:lnSpc>
                <a:spcPts val="2937"/>
              </a:lnSpc>
              <a:defRPr/>
            </a:pPr>
            <a:r>
              <a:rPr lang="en-US" sz="2600" spc="-31" dirty="0">
                <a:solidFill>
                  <a:srgbClr val="E6EDF3"/>
                </a:solidFill>
                <a:latin typeface="Geist Medium"/>
              </a:rPr>
              <a:t>THANK YOU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345146-F5F9-4711-E945-3165F14891A9}"/>
              </a:ext>
            </a:extLst>
          </p:cNvPr>
          <p:cNvSpPr txBox="1"/>
          <p:nvPr/>
        </p:nvSpPr>
        <p:spPr>
          <a:xfrm>
            <a:off x="0" y="5633212"/>
            <a:ext cx="12191969" cy="2576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 dirty="0">
                <a:solidFill>
                  <a:srgbClr val="AAB3BD"/>
                </a:solidFill>
                <a:latin typeface="Geist"/>
              </a:rPr>
              <a:t>Marvin Hansen · Director, Center for Dynamic Causality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09646C-00C3-4DB2-7FE4-790409B2D8A6}"/>
              </a:ext>
            </a:extLst>
          </p:cNvPr>
          <p:cNvSpPr txBox="1"/>
          <p:nvPr/>
        </p:nvSpPr>
        <p:spPr>
          <a:xfrm>
            <a:off x="-22861" y="6431216"/>
            <a:ext cx="12191969" cy="192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88" dirty="0">
                <a:solidFill>
                  <a:srgbClr val="5CD4E1"/>
                </a:solidFill>
                <a:latin typeface="JetBrains Mono Medium"/>
              </a:rPr>
              <a:t>LF AI &amp; DATA · TECHNICAL ADVISORY COUNCIL · 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69F811-6AEE-8F75-9F47-286E704EDC81}"/>
              </a:ext>
            </a:extLst>
          </p:cNvPr>
          <p:cNvSpPr txBox="1"/>
          <p:nvPr/>
        </p:nvSpPr>
        <p:spPr>
          <a:xfrm>
            <a:off x="3228644" y="5972364"/>
            <a:ext cx="5688958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AAB3BD"/>
                </a:solidFill>
                <a:latin typeface="Geist"/>
              </a:rPr>
              <a:t>marvin.hansen@causalcenter.com</a:t>
            </a:r>
            <a:endParaRPr lang="en-US" sz="1450" dirty="0">
              <a:solidFill>
                <a:srgbClr val="AAB3BD"/>
              </a:solidFill>
              <a:latin typeface="Geis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E684D2-484C-D26F-C818-EF03D61D1508}"/>
              </a:ext>
            </a:extLst>
          </p:cNvPr>
          <p:cNvSpPr txBox="1"/>
          <p:nvPr/>
        </p:nvSpPr>
        <p:spPr>
          <a:xfrm>
            <a:off x="3866590" y="3233299"/>
            <a:ext cx="4504508" cy="3914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016"/>
              </a:lnSpc>
            </a:pPr>
            <a:r>
              <a:rPr lang="en-US" sz="1800" dirty="0">
                <a:solidFill>
                  <a:srgbClr val="E6EDF3"/>
                </a:solidFill>
                <a:latin typeface="Geist"/>
              </a:rPr>
              <a:t>www.deepcausality.com</a:t>
            </a:r>
          </a:p>
        </p:txBody>
      </p:sp>
    </p:spTree>
    <p:extLst>
      <p:ext uri="{BB962C8B-B14F-4D97-AF65-F5344CB8AC3E}">
        <p14:creationId xmlns:p14="http://schemas.microsoft.com/office/powerpoint/2010/main" val="1178027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2037</Words>
  <Application>Microsoft Macintosh PowerPoint</Application>
  <PresentationFormat>Widescreen</PresentationFormat>
  <Paragraphs>335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Geist</vt:lpstr>
      <vt:lpstr>Geist Medium</vt:lpstr>
      <vt:lpstr>JetBrains Mono</vt:lpstr>
      <vt:lpstr>JetBrains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Marvin Hansen</cp:lastModifiedBy>
  <cp:revision>52</cp:revision>
  <cp:lastPrinted>2026-08-25T12:58:42Z</cp:lastPrinted>
  <dcterms:created xsi:type="dcterms:W3CDTF">2013-01-27T09:14:16Z</dcterms:created>
  <dcterms:modified xsi:type="dcterms:W3CDTF">2026-09-25T13:57:41Z</dcterms:modified>
  <cp:category/>
</cp:coreProperties>
</file>