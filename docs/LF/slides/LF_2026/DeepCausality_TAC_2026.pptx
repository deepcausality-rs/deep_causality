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531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morning, and thank you for the slot.</a:t>
            </a:r>
          </a:p>
          <a:p>
            <a:endParaRPr/>
          </a:p>
          <a:p>
            <a:r>
              <a:t>I am Marvin Hansen, Director of the Center for Dynamic Causality, and I am here</a:t>
            </a:r>
          </a:p>
          <a:p>
            <a:r>
              <a:t>for DeepCausality — an LF AI &amp; Data Sandbox project since September 2023.</a:t>
            </a:r>
          </a:p>
          <a:p>
            <a:endParaRPr/>
          </a:p>
          <a:p>
            <a:r>
              <a:t>I presented here in 2023 with a proposal. This time I am back with a re-introduction,</a:t>
            </a:r>
          </a:p>
          <a:p>
            <a:r>
              <a:t>because almost everything below the surface has changed since then, and because</a:t>
            </a:r>
          </a:p>
          <a:p>
            <a:r>
              <a:t>this council has largely turned over in the meantime.</a:t>
            </a:r>
          </a:p>
          <a:p>
            <a:endParaRPr/>
          </a:p>
          <a:p>
            <a:r>
              <a:t>Twenty minutes. Six parts. I will keep the mathematics to one slide, and I will</a:t>
            </a:r>
          </a:p>
          <a:p>
            <a:r>
              <a:t>spend most of the time on what the project actually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</a:t>
            </a:r>
          </a:p>
          <a:p>
            <a:r>
              <a:t>I most want you to take away: one causal stack that runs from raw data all the way</a:t>
            </a:r>
          </a:p>
          <a:p>
            <a:r>
              <a:t>to a governed production action.</a:t>
            </a:r>
          </a:p>
          <a:p>
            <a:endParaRPr/>
          </a:p>
          <a:p>
            <a:r>
              <a:t>Then two downstream projects that were built on top of that stack and that are, in</a:t>
            </a:r>
          </a:p>
          <a:p>
            <a:r>
              <a:t>my view, the proof that the substrate generalizes: counterfactual fluid dynamics,</a:t>
            </a:r>
          </a:p>
          <a:p>
            <a:r>
              <a:t>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one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whole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</a:t>
            </a:r>
          </a:p>
          <a:p>
            <a:r>
              <a:t>roughly two thousand years old — and it inherits the static spacetime that came with</a:t>
            </a:r>
          </a:p>
          <a:p>
            <a:r>
              <a:t>it. Pearl's structural causal models, Granger, Rubin, dynamic Bayesian networks:</a:t>
            </a:r>
          </a:p>
          <a:p>
            <a:r>
              <a:t>all excellent, all well validated, and all assuming that time runs straight, that</a:t>
            </a:r>
          </a:p>
          <a:p>
            <a:r>
              <a:t>the rules are fixed at design time, and that the causal structure is enumerated up</a:t>
            </a:r>
          </a:p>
          <a:p>
            <a:r>
              <a:t>front.</a:t>
            </a:r>
          </a:p>
          <a:p>
            <a:endParaRPr/>
          </a:p>
          <a:p>
            <a:r>
              <a:t>That assumption is not a flaw. It is a scope. And contemporary science has already</a:t>
            </a:r>
          </a:p>
          <a:p>
            <a:r>
              <a:t>moved outside it. In quantum physics and in general relativity the fixed background</a:t>
            </a:r>
          </a:p>
          <a:p>
            <a:r>
              <a:t>does not hold. Closer to home, any system that crosses a physical or operational</a:t>
            </a:r>
          </a:p>
          <a:p>
            <a:r>
              <a:t>regime boundary changes its own causal rules mid-flight.</a:t>
            </a:r>
          </a:p>
          <a:p>
            <a:endParaRPr/>
          </a:p>
          <a:p>
            <a:r>
              <a:t>So DeepCausality changes the starting point. We root the project in Whitehead's</a:t>
            </a:r>
          </a:p>
          <a:p>
            <a:r>
              <a:t>process philosophy — causality as a process of becoming — and we make spacetime</a:t>
            </a:r>
          </a:p>
          <a:p>
            <a:r>
              <a:t>data that the model reads rather than a frame the model assumes.</a:t>
            </a:r>
          </a:p>
          <a:p>
            <a:endParaRPr/>
          </a:p>
          <a:p>
            <a:r>
              <a:t>The consequence is on the right: rules may evolve at runtime, structure may emerge,</a:t>
            </a:r>
          </a:p>
          <a:p>
            <a:r>
              <a:t>and — this is the part that matters for production — it is still governable. I will</a:t>
            </a:r>
          </a:p>
          <a:p>
            <a:r>
              <a:t>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</a:t>
            </a:r>
          </a:p>
          <a:p>
            <a:r>
              <a:t>and an audit log. Because it obeys the monad laws, that bookkeeping is threaded</a:t>
            </a:r>
          </a:p>
          <a:p>
            <a:r>
              <a:t>automatically. That is where end-to-end explainability comes from; nobody has to</a:t>
            </a:r>
          </a:p>
          <a:p>
            <a:r>
              <a:t>remember 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</a:t>
            </a:r>
          </a:p>
          <a:p>
            <a:r>
              <a:t>somewhere explicit: the Context, a typed hypergraph. That is what lets the same model</a:t>
            </a:r>
          </a:p>
          <a:p>
            <a:r>
              <a:t>run in Euclidean space, in Minkowski spacetime, or in a non-Euclidean context.</a:t>
            </a:r>
          </a:p>
          <a:p>
            <a:endParaRPr/>
          </a:p>
          <a:p>
            <a:r>
              <a:t>If you want the intuition: a ripple in a pond. One ripple is an effect, it propagates,</a:t>
            </a:r>
          </a:p>
          <a:p>
            <a:r>
              <a:t>it produces the next one. We define how ripples spread — and what happens when the</a:t>
            </a:r>
          </a:p>
          <a:p>
            <a:r>
              <a:t>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consequences, and the second one is the one I would defend hardest.</a:t>
            </a:r>
          </a:p>
          <a:p>
            <a:endParaRPr/>
          </a:p>
          <a:p>
            <a:r>
              <a:t>First: because the axiom sits low enough in the stack, we did not have to replace</a:t>
            </a:r>
          </a:p>
          <a:p>
            <a:r>
              <a:t>anything. Pearl's structural causal models, dynamic Bayesian networks, Granger,</a:t>
            </a:r>
          </a:p>
          <a:p>
            <a:r>
              <a:t>Rubin, conditional average treatment effects — each drops out as a parametric</a:t>
            </a:r>
          </a:p>
          <a:p>
            <a:r>
              <a:t>specialization of the same relation. We do not argue that; we implement each one</a:t>
            </a:r>
          </a:p>
          <a:p>
            <a:r>
              <a:t>directly in the classical-causality examples folder so you can read the code.</a:t>
            </a:r>
          </a:p>
          <a:p>
            <a:endParaRPr/>
          </a:p>
          <a:p>
            <a:r>
              <a:t>Second: it adds three modalities a fixed-structure framework cannot express.</a:t>
            </a:r>
          </a:p>
          <a:p>
            <a:r>
              <a:t>Dynamic — structure changes with context. Adaptive — the rules update at runtime.</a:t>
            </a:r>
          </a:p>
          <a:p>
            <a:r>
              <a:t>Emergent — structure that was not enumerable at design time.</a:t>
            </a:r>
          </a:p>
          <a:p>
            <a:endParaRPr/>
          </a:p>
          <a:p>
            <a:r>
              <a:t>Now, the honest objection: if the structure can emerge at runtime, you cannot</a:t>
            </a:r>
          </a:p>
          <a:p>
            <a:r>
              <a:t>statically verify the reasoning any more. That is true, and we do not pretend</a:t>
            </a:r>
          </a:p>
          <a:p>
            <a:r>
              <a:t>otherwise.</a:t>
            </a:r>
          </a:p>
          <a:p>
            <a:endParaRPr/>
          </a:p>
          <a:p>
            <a:r>
              <a:t>Our answer is the line at the bottom. Reasoning is free to be emergent; actions are</a:t>
            </a:r>
          </a:p>
          <a:p>
            <a:r>
              <a:t>not. We move verifiability from the reasoning boundary to the action boundary. That</a:t>
            </a:r>
          </a:p>
          <a:p>
            <a:r>
              <a:t>is a deliberate architectural trade, and it is the thing that makes emergent causality</a:t>
            </a:r>
          </a:p>
          <a:p>
            <a:r>
              <a:t>safe enough to deploy. Two slides from now you will see the layer that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primitives operationalize the axiom, plus an optional fourth for safety.</a:t>
            </a:r>
          </a:p>
          <a:p>
            <a:endParaRPr/>
          </a:p>
          <a:p>
            <a:r>
              <a:t>On the left, two reasoning primitives. The Causaloid carries causal structure, and</a:t>
            </a:r>
          </a:p>
          <a:p>
            <a:r>
              <a:t>it is isomorphic-recursive: a singleton, a collection, and a hypergraph all implement</a:t>
            </a:r>
          </a:p>
          <a:p>
            <a:r>
              <a:t>the same trait surface, so they nest into each other to any depth. The Causal Monad</a:t>
            </a:r>
          </a:p>
          <a:p>
            <a:r>
              <a:t>carries sequencing — pure, bind, and intervene, where intervene is Pearl's do-operator</a:t>
            </a:r>
          </a:p>
          <a:p>
            <a:r>
              <a:t>applied mid-chain.</a:t>
            </a:r>
          </a:p>
          <a:p>
            <a:endParaRPr/>
          </a:p>
          <a:p>
            <a:r>
              <a:t>The important part is the middle. Both emit the same carrier. That means you can take</a:t>
            </a:r>
          </a:p>
          <a:p>
            <a:r>
              <a:t>a Causaloid's verdict and bind directly onto it, or run a bind chain and feed the</a:t>
            </a:r>
          </a:p>
          <a:p>
            <a:r>
              <a:t>result into a Causaloid. The boundary between structural and sequential reasoning</a:t>
            </a:r>
          </a:p>
          <a:p>
            <a:r>
              <a:t>moves as the problem moves. You do not pick a framework and then glue.</a:t>
            </a:r>
          </a:p>
          <a:p>
            <a:endParaRPr/>
          </a:p>
          <a:p>
            <a:r>
              <a:t>The Causal State Machine is the bridge to the outside world. Its active state space</a:t>
            </a:r>
          </a:p>
          <a:p>
            <a:r>
              <a:t>is inferred at runtime from the propagating effect, not enumerated at design time —</a:t>
            </a:r>
          </a:p>
          <a:p>
            <a:r>
              <a:t>that is how it avoids the classical finite-state-machine limitation.</a:t>
            </a:r>
          </a:p>
          <a:p>
            <a:endParaRPr/>
          </a:p>
          <a:p>
            <a:r>
              <a:t>And then the Effect Ethos. Every action the CSM proposes gets intercepted and</a:t>
            </a:r>
          </a:p>
          <a:p>
            <a:r>
              <a:t>evaluated against an immutable graph of computable norms, under a defeasible deontic</a:t>
            </a:r>
          </a:p>
          <a:p>
            <a:r>
              <a:t>calculus — Olson and Forbus. The verdict is obligatory, impermissible, or optional</a:t>
            </a:r>
          </a:p>
          <a:p>
            <a:r>
              <a:t>with a cost. If it is stopped, the reason is locked to the audit log alongside the</a:t>
            </a:r>
          </a:p>
          <a:p>
            <a:r>
              <a:t>line of reasoning that produced it. That is what an auditor gets to read afterwards.</a:t>
            </a:r>
          </a:p>
          <a:p>
            <a:endParaRPr/>
          </a:p>
          <a:p>
            <a:r>
              <a:t>Underneath everything: the Context. Because spacetime is not built into the relation,</a:t>
            </a:r>
          </a:p>
          <a:p>
            <a:r>
              <a:t>it has to live here — and counterfactuals run as parallel extra-contexts without</a:t>
            </a:r>
          </a:p>
          <a:p>
            <a:r>
              <a:t>disturbing the primary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slide on the mathematics, as promised, and then straight back to the product.</a:t>
            </a:r>
          </a:p>
          <a:p>
            <a:endParaRPr/>
          </a:p>
          <a:p>
            <a:r>
              <a:t>Most scientific computing stacks make you bridge silos. One library for tensors,</a:t>
            </a:r>
          </a:p>
          <a:p>
            <a:r>
              <a:t>another for geometric algebra, a third for topology, and glue code between them.</a:t>
            </a:r>
          </a:p>
          <a:p>
            <a:r>
              <a:t>You end up spending more time on adapters than on the problem.</a:t>
            </a:r>
          </a:p>
          <a:p>
            <a:endParaRPr/>
          </a:p>
          <a:p>
            <a:r>
              <a:t>Here every layer implements the same categorical surface. A tensor is a functor.</a:t>
            </a:r>
          </a:p>
          <a:p>
            <a:r>
              <a:t>A multivector is a monad. A manifold is a comonad. The propagating effect is a</a:t>
            </a:r>
          </a:p>
          <a:p>
            <a:r>
              <a:t>monad. fmap, bind, extend, extract mean the same thing everywhere. That is done with</a:t>
            </a:r>
          </a:p>
          <a:p>
            <a:r>
              <a:t>arity-five higher-kinded types on stable Rust, using a witness pattern — so it</a:t>
            </a:r>
          </a:p>
          <a:p>
            <a:r>
              <a:t>monomorphizes, with no boxing and no virtual calls.</a:t>
            </a:r>
          </a:p>
          <a:p>
            <a:endParaRPr/>
          </a:p>
          <a:p>
            <a:r>
              <a:t>Two payoffs. First, a single bind chain can step from general relativity through</a:t>
            </a:r>
          </a:p>
          <a:p>
            <a:r>
              <a:t>geometric algebra onto topology and finish in causal logic. The GRMHD example does</a:t>
            </a:r>
          </a:p>
          <a:p>
            <a:r>
              <a:t>exactly that.</a:t>
            </a:r>
          </a:p>
          <a:p>
            <a:endParaRPr/>
          </a:p>
          <a:p>
            <a:r>
              <a:t>Second, precision becomes one type alias for the entire pipeline. Change one line</a:t>
            </a:r>
          </a:p>
          <a:p>
            <a:r>
              <a:t>and the whole computation runs at f32, f64, or 106-bit — about thirty-two decimal</a:t>
            </a:r>
          </a:p>
          <a:p>
            <a:r>
              <a:t>digits, several times faster than IEEE binary128.</a:t>
            </a:r>
          </a:p>
          <a:p>
            <a:endParaRPr/>
          </a:p>
          <a:p>
            <a:r>
              <a:t>That is the mathematics.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I would ask you to remember.</a:t>
            </a:r>
          </a:p>
          <a:p>
            <a:endParaRPr/>
          </a:p>
          <a:p>
            <a:r>
              <a:t>Read it top to bottom. Discover: the Causal Discovery Language is a typestate builder</a:t>
            </a:r>
          </a:p>
          <a:p>
            <a:r>
              <a:t>DSL that takes raw observational data and finds the structure worth modelling. SURD</a:t>
            </a:r>
          </a:p>
          <a:p>
            <a:r>
              <a:t>tells you which variables are uniquely or synergistically causal; MRMR does feature</a:t>
            </a:r>
          </a:p>
          <a:p>
            <a:r>
              <a:t>selection; BRCD ranks the root cause of a regime shift.</a:t>
            </a:r>
          </a:p>
          <a:p>
            <a:endParaRPr/>
          </a:p>
          <a:p>
            <a:r>
              <a:t>Model: that structure becomes a Causaloid with an explicit Context.</a:t>
            </a:r>
          </a:p>
          <a:p>
            <a:endParaRPr/>
          </a:p>
          <a:p>
            <a:r>
              <a:t>Act: the Causal State Machine turns a verdict into a proposed action.</a:t>
            </a:r>
          </a:p>
          <a:p>
            <a:endParaRPr/>
          </a:p>
          <a:p>
            <a:r>
              <a:t>Govern: the Effect Ethos decides whether the action is permissible.</a:t>
            </a:r>
          </a:p>
          <a:p>
            <a:endParaRPr/>
          </a:p>
          <a:p>
            <a:r>
              <a:t>Run: the whole thing is thread-safe by construction, so deployment is embedding the</a:t>
            </a:r>
          </a:p>
          <a:p>
            <a:r>
              <a:t>model in an ordinary async request handler.</a:t>
            </a:r>
          </a:p>
          <a:p>
            <a:endParaRPr/>
          </a:p>
          <a:p>
            <a:r>
              <a:t>Two things make this one stack rather than five tools with a pipeline between them.</a:t>
            </a:r>
          </a:p>
          <a:p>
            <a:r>
              <a:t>First, every stage exchanges work through the same propagating effect — there is no</a:t>
            </a:r>
          </a:p>
          <a:p>
            <a:r>
              <a:t>serialization boundary anywhere in that column. Second, the audit log accumulates</a:t>
            </a:r>
          </a:p>
          <a:p>
            <a:r>
              <a:t>across all five, so the explanation you hand a regulator spans discovery through</a:t>
            </a:r>
          </a:p>
          <a:p>
            <a:r>
              <a:t>deployment, not just the inference step.</a:t>
            </a:r>
          </a:p>
          <a:p>
            <a:endParaRPr/>
          </a:p>
          <a:p>
            <a:r>
              <a:t>And you are not obliged to use all of it. You can enter at any layer and leave at any</a:t>
            </a:r>
          </a:p>
          <a:p>
            <a:r>
              <a:t>layer. Plenty of users only ever touch Model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downstream projects, and I show them because they are the evidence that the</a:t>
            </a:r>
          </a:p>
          <a:p>
            <a:r>
              <a:t>substrate generalizes beyond toy causality.</a:t>
            </a:r>
          </a:p>
          <a:p>
            <a:endParaRPr/>
          </a:p>
          <a:p>
            <a:r>
              <a:t>The first is counterfactual fluid dynamics. It shipped to crates.io this August and</a:t>
            </a:r>
          </a:p>
          <a:p>
            <a:r>
              <a:t>has its own documentation site.</a:t>
            </a:r>
          </a:p>
          <a:p>
            <a:endParaRPr/>
          </a:p>
          <a:p>
            <a:r>
              <a:t>Three things it does. It couples disciplines — compressible flow, plasma chemistry,</a:t>
            </a:r>
          </a:p>
          <a:p>
            <a:r>
              <a:t>navigation and control march inside one typed process rather than four codes</a:t>
            </a:r>
          </a:p>
          <a:p>
            <a:r>
              <a:t>exchanging files. It forks the running simulation: march until a predicate fires,</a:t>
            </a:r>
          </a:p>
          <a:p>
            <a:r>
              <a:t>then fork the paused state in constant time and fly every counterfactual branch</a:t>
            </a:r>
          </a:p>
          <a:p>
            <a:r>
              <a:t>concurrently. That is the causal monad's intervene operator, applied to a fluid</a:t>
            </a:r>
          </a:p>
          <a:p>
            <a:r>
              <a:t>solver. And it carries uncertainty through to a scored verdict.</a:t>
            </a:r>
          </a:p>
          <a:p>
            <a:endParaRPr/>
          </a:p>
          <a:p>
            <a:r>
              <a:t>On the right is why I am comfortable saying that out loud. Sod shock tube to an L1</a:t>
            </a:r>
          </a:p>
          <a:p>
            <a:r>
              <a:t>of 0.027 against the exact Riemann solution. Ghia cavity. RAM-C II peak electron</a:t>
            </a:r>
          </a:p>
          <a:p>
            <a:r>
              <a:t>density within about a factor of two of the flight anchor from an uncalibrated</a:t>
            </a:r>
          </a:p>
          <a:p>
            <a:r>
              <a:t>finite-rate network. And the number that shows what forking buys: a mid-burn fork of</a:t>
            </a:r>
          </a:p>
          <a:p>
            <a:r>
              <a:t>the marched, plume-coupled state departs a frozen-drag prediction by 139 metres per</a:t>
            </a:r>
          </a:p>
          <a:p>
            <a:r>
              <a:t>second.</a:t>
            </a:r>
          </a:p>
          <a:p>
            <a:endParaRPr/>
          </a:p>
          <a:p>
            <a:r>
              <a:t>The framing at the bottom: Teschner's survey of the six biggest unsolved problems in</a:t>
            </a:r>
          </a:p>
          <a:p>
            <a:r>
              <a:t>CFD, drawn from NASA's CFD Vision 2030 study. Four of the six informed this design.</a:t>
            </a:r>
          </a:p>
          <a:p>
            <a:endParaRPr/>
          </a:p>
          <a:p>
            <a:r>
              <a:t>One thing I want to flag for this council specifically: the roadmap page also lists</a:t>
            </a:r>
          </a:p>
          <a:p>
            <a:r>
              <a:t>non-goals with reasons. Distributed execution and GPU acceleration are both deferred,</a:t>
            </a:r>
          </a:p>
          <a:p>
            <a:r>
              <a:t>and we say why. An unstated decision reads as a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second downstream project, and this is the one that tests the claim that the</a:t>
            </a:r>
          </a:p>
          <a:p>
            <a:r>
              <a:t>axiom is genuinely spacetime-agnostic.</a:t>
            </a:r>
          </a:p>
          <a:p>
            <a:endParaRPr/>
          </a:p>
          <a:p>
            <a:r>
              <a:t>A classical causal model factorizes a joint distribution over its graph. A quantum</a:t>
            </a:r>
          </a:p>
          <a:p>
            <a:r>
              <a:t>causal model — Lorenz, 2022 — does the same thing for a process operator, factorized</a:t>
            </a:r>
          </a:p>
          <a:p>
            <a:r>
              <a:t>into per-node Choi–Jamiołkowski operators. So the conditional-probability tables</a:t>
            </a:r>
          </a:p>
          <a:p>
            <a:r>
              <a:t>become quantum channels, and the model is their product.</a:t>
            </a:r>
          </a:p>
          <a:p>
            <a:endParaRPr/>
          </a:p>
          <a:p>
            <a:r>
              <a:t>The interesting engineering is the middle card. Not every product of operators is a</a:t>
            </a:r>
          </a:p>
          <a:p>
            <a:r>
              <a:t>legal quantum causal model: factors whose Hilbert supports intersect have to pairwise</a:t>
            </a:r>
          </a:p>
          <a:p>
            <a:r>
              <a:t>commute. We make that a freeze-time gate. When you freeze the graph, we embed each</a:t>
            </a:r>
          </a:p>
          <a:p>
            <a:r>
              <a:t>intersecting pair onto its common support, form the commutator, and compare against</a:t>
            </a:r>
          </a:p>
          <a:p>
            <a:r>
              <a:t>a depth-aware tolerance. The check is sound — it never accepts a non-commuting model</a:t>
            </a:r>
          </a:p>
          <a:p>
            <a:r>
              <a:t>— and it may be incomplete. A failure names the exact offending pair and rolls the</a:t>
            </a:r>
          </a:p>
          <a:p>
            <a:r>
              <a:t>graph back.</a:t>
            </a:r>
          </a:p>
          <a:p>
            <a:endParaRPr/>
          </a:p>
          <a:p>
            <a:r>
              <a:t>Second card: the projection lattice carries the Verdict, with Born-rule read-out. So</a:t>
            </a:r>
          </a:p>
          <a:p>
            <a:r>
              <a:t>quantum logic is not sitting beside the causal engine; it is a verdict type inside it.</a:t>
            </a:r>
          </a:p>
          <a:p>
            <a:endParaRPr/>
          </a:p>
          <a:p>
            <a:r>
              <a:t>Third card, and this is a governance point as much as a technical one. There are two</a:t>
            </a:r>
          </a:p>
          <a:p>
            <a:r>
              <a:t>modalities and we keep them apart: a verifiable path backed by Lean proofs, and a</a:t>
            </a:r>
          </a:p>
          <a:p>
            <a:r>
              <a:t>physical-QPU seam behind a feature flag. We also deliberately do not offer nested</a:t>
            </a:r>
          </a:p>
          <a:p>
            <a:r>
              <a:t>quantum causal models, because that is unestablished in the literature. We would</a:t>
            </a:r>
          </a:p>
          <a:p>
            <a:r>
              <a:t>rather ship the flat model honestly than ship something that looks more general than</a:t>
            </a:r>
          </a:p>
          <a:p>
            <a:r>
              <a:t>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PLACEHOLDER — content to be written.</a:t>
            </a:r>
          </a:p>
          <a:p>
            <a:endParaRPr/>
          </a:p>
          <a:p>
            <a:r>
              <a:t>Suggested shape when you fill it in, so the slide matches the rest of the deck:</a:t>
            </a:r>
          </a:p>
          <a:p>
            <a:r>
              <a:t>one line on what Service Radar is and where DeepCausality sits inside it; one line</a:t>
            </a:r>
          </a:p>
          <a:p>
            <a:r>
              <a:t>on what the deployment does that a correlational monitor cannot; and one measured</a:t>
            </a:r>
          </a:p>
          <a:p>
            <a:r>
              <a:t>number. Keep it to three claims.</a:t>
            </a:r>
          </a:p>
          <a:p>
            <a:endParaRPr/>
          </a:p>
          <a:p>
            <a:r>
              <a:t>Timing note: this slide is budgeted at roughly 90 seconds, which is the single</a:t>
            </a:r>
          </a:p>
          <a:p>
            <a:r>
              <a:t>longest block in the deck. If it runs short on the day, the natural place to spend</a:t>
            </a:r>
          </a:p>
          <a:p>
            <a:r>
              <a:t>the recovered time is the causal-stack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I would spend your scepticism, so let me be specific.</a:t>
            </a:r>
          </a:p>
          <a:p>
            <a:endParaRPr/>
          </a:p>
          <a:p>
            <a:r>
              <a:t>183 theorems machine-checked in Lean 4 against Mathlib, on a pinned toolchain. Zero</a:t>
            </a:r>
          </a:p>
          <a:p>
            <a:r>
              <a:t>sorry — no unproved statement anywhere in the gated tree. Eleven Kani harnesses doing</a:t>
            </a:r>
          </a:p>
          <a:p>
            <a:r>
              <a:t>bounded model checking on the core carrier.</a:t>
            </a:r>
          </a:p>
          <a:p>
            <a:endParaRPr/>
          </a:p>
          <a:p>
            <a:r>
              <a:t>The bridge matters more than the count. There is no tool that turns a Lean proof into</a:t>
            </a:r>
          </a:p>
          <a:p>
            <a:r>
              <a:t>a Rust test. So each property is stated twice — once in Lean, once as a Rust witness —</a:t>
            </a:r>
          </a:p>
          <a:p>
            <a:r>
              <a:t>and both carry the same identifier. CI fails if an identifier is missing either side.</a:t>
            </a:r>
          </a:p>
          <a:p>
            <a:r>
              <a:t>That means the proofs cannot silently drift away from the code, which is the usual</a:t>
            </a:r>
          </a:p>
          <a:p>
            <a:r>
              <a:t>failure mode of formalization efforts.</a:t>
            </a:r>
          </a:p>
          <a:p>
            <a:endParaRPr/>
          </a:p>
          <a:p>
            <a:r>
              <a:t>Now the right-hand panel, which is the part I actually want you to notice.</a:t>
            </a:r>
          </a:p>
          <a:p>
            <a:endParaRPr/>
          </a:p>
          <a:p>
            <a:r>
              <a:t>We publish the edges. The Float106 bit-exact error bounds are open — Lean proves the</a:t>
            </a:r>
          </a:p>
          <a:p>
            <a:r>
              <a:t>real-field laws, the empirical bounds are Rust tests only. Octonions are outside the</a:t>
            </a:r>
          </a:p>
          <a:p>
            <a:r>
              <a:t>proved layer because Mathlib does not carry them.</a:t>
            </a:r>
          </a:p>
          <a:p>
            <a:endParaRPr/>
          </a:p>
          <a:p>
            <a:r>
              <a:t>And the third one: in the quantum layer, the unconditional partial-trace preservation</a:t>
            </a:r>
          </a:p>
          <a:p>
            <a:r>
              <a:t>property is proved false. Not unproven — false, with a witnessed counterexample. Only</a:t>
            </a:r>
          </a:p>
          <a:p>
            <a:r>
              <a:t>a conditional boundary version holds. We found that by trying to prove it, and we</a:t>
            </a:r>
          </a:p>
          <a:p>
            <a:r>
              <a:t>publish it as a headline result rather than quietly narrowing the claim.</a:t>
            </a:r>
          </a:p>
          <a:p>
            <a:endParaRPr/>
          </a:p>
          <a:p>
            <a:r>
              <a:t>That is the standard I would like the project judged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Quickly, because numbers are only context.</a:t>
            </a:r>
          </a:p>
          <a:p>
            <a:endParaRPr/>
          </a:p>
          <a:p>
            <a:r>
              <a:t>When I stood here in 2023, the repository held four crates, about twenty thousand</a:t>
            </a:r>
          </a:p>
          <a:p>
            <a:r>
              <a:t>lines, and five hundred tests. Today: twenty-nine crates, four hundred and</a:t>
            </a:r>
          </a:p>
          <a:p>
            <a:r>
              <a:t>thirty-eight thousand lines, and just under eleven thousand tests. Roughly a</a:t>
            </a:r>
          </a:p>
          <a:p>
            <a:r>
              <a:t>twenty-one-fold increase on both lines and tests, which means test density held while</a:t>
            </a:r>
          </a:p>
          <a:p>
            <a:r>
              <a:t>the codebase grew — that was deliberate.</a:t>
            </a:r>
          </a:p>
          <a:p>
            <a:endParaRPr/>
          </a:p>
          <a:p>
            <a:r>
              <a:t>A hundred and thirteen runnable examples across fourteen domains: avionics, physics,</a:t>
            </a:r>
          </a:p>
          <a:p>
            <a:r>
              <a:t>medicine, materials, quantum, classical causality, and so on. Every example is a</a:t>
            </a:r>
          </a:p>
          <a:p>
            <a:r>
              <a:t>build target in both build systems, and CI fails if a Cargo example is missing its</a:t>
            </a:r>
          </a:p>
          <a:p>
            <a:r>
              <a:t>Bazel target, so the examples cannot rot.</a:t>
            </a:r>
          </a:p>
          <a:p>
            <a:endParaRPr/>
          </a:p>
          <a:p>
            <a:r>
              <a:t>Twenty-three of twenty-nine crates have no external runtime dependency at all. The</a:t>
            </a:r>
          </a:p>
          <a:p>
            <a:r>
              <a:t>six that do are narrow and mostly optional. For a project aimed at regulated domains,</a:t>
            </a:r>
          </a:p>
          <a:p>
            <a:r>
              <a:t>that supply-chain surface is a feature, not an accident.</a:t>
            </a:r>
          </a:p>
          <a:p>
            <a:endParaRPr/>
          </a:p>
          <a:p>
            <a:r>
              <a:t>And unsafe is forbidden repo-wide by a workspace lint. Three crates are exempt; each</a:t>
            </a:r>
          </a:p>
          <a:p>
            <a:r>
              <a:t>exemption carries a written, irreducible justification, and two of them are marked</a:t>
            </a:r>
          </a:p>
          <a:p>
            <a:r>
              <a:t>for removal when the compiler limitation behind them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Briefly, on how the project is actually run.</a:t>
            </a:r>
          </a:p>
          <a:p>
            <a:endParaRPr/>
          </a:p>
          <a:p>
            <a:r>
              <a:t>Sandbox project at LF AI &amp; Data since September 2023. MIT licensed across every</a:t>
            </a:r>
          </a:p>
          <a:p>
            <a:r>
              <a:t>crate — no dual licensing, no contributor licence agreement friction. OpenSSF Best</a:t>
            </a:r>
          </a:p>
          <a:p>
            <a:r>
              <a:t>Practices badge, a published security policy, Miri in CI for the crates where it is</a:t>
            </a:r>
          </a:p>
          <a:p>
            <a:r>
              <a:t>meaningful, and coverage and lint gates on every pull request.</a:t>
            </a:r>
          </a:p>
          <a:p>
            <a:endParaRPr/>
          </a:p>
          <a:p>
            <a:r>
              <a:t>There is also a written policy for AI coding assistants in the repository, which is</a:t>
            </a:r>
          </a:p>
          <a:p>
            <a:r>
              <a:t>not yet common and which I would be happy to discuss separately — several of you have</a:t>
            </a:r>
          </a:p>
          <a:p>
            <a:r>
              <a:t>raised that question in other projects.</a:t>
            </a:r>
          </a:p>
          <a:p>
            <a:endParaRPr/>
          </a:p>
          <a:p>
            <a:r>
              <a:t>Community runs through Discord, GitHub Discussions, and the LF mailing lists.</a:t>
            </a:r>
          </a:p>
          <a:p>
            <a:endParaRPr/>
          </a:p>
          <a:p>
            <a:r>
              <a:t>Two sponsors. JetBrains provides all-product licences to core maintainers, and has</a:t>
            </a:r>
          </a:p>
          <a:p>
            <a:r>
              <a:t>renewed that. And the Center for Dynamic Causality — which is the organization I</a:t>
            </a:r>
          </a:p>
          <a:p>
            <a:r>
              <a:t>direct — contributes ongoing research and resources. I want to be transparent about</a:t>
            </a:r>
          </a:p>
          <a:p>
            <a:r>
              <a:t>that relationship rather than have it discovered: the Center funds research that</a:t>
            </a:r>
          </a:p>
          <a:p>
            <a:r>
              <a:t>lands in the project under the project's own MIT licence and open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places where help would compound, and then I will stop.</a:t>
            </a:r>
          </a:p>
          <a:p>
            <a:endParaRPr/>
          </a:p>
          <a:p>
            <a:r>
              <a:t>First, domain partners. The stack is strongest where a regulated domain needs an</a:t>
            </a:r>
          </a:p>
          <a:p>
            <a:r>
              <a:t>audit trail — avionics, medicine, industrial control, finance. One partner with a</a:t>
            </a:r>
          </a:p>
          <a:p>
            <a:r>
              <a:t>real decision boundary teaches us more than another benchmark does.</a:t>
            </a:r>
          </a:p>
          <a:p>
            <a:endParaRPr/>
          </a:p>
          <a:p>
            <a:r>
              <a:t>Second, adjacent LF projects. The propagating effect is a natural seam for anything</a:t>
            </a:r>
          </a:p>
          <a:p>
            <a:r>
              <a:t>that already produces a verdict and then has to explain it. If your project has that</a:t>
            </a:r>
          </a:p>
          <a:p>
            <a:r>
              <a:t>shape, the integration surface is genuinely small, and I would rather find that out</a:t>
            </a:r>
          </a:p>
          <a:p>
            <a:r>
              <a:t>in a fifteen-minute call than in a design document.</a:t>
            </a:r>
          </a:p>
          <a:p>
            <a:endParaRPr/>
          </a:p>
          <a:p>
            <a:r>
              <a:t>Third, reviewers and provers. The Lean layer publishes its open edges deliberately.</a:t>
            </a:r>
          </a:p>
          <a:p>
            <a:r>
              <a:t>Extending the proved surface — especially the quantum foundation, which we built from</a:t>
            </a:r>
          </a:p>
          <a:p>
            <a:r>
              <a:t>first principles because Mathlib does not carry it — is well-scoped, self-contained</a:t>
            </a:r>
          </a:p>
          <a:p>
            <a:r>
              <a:t>work for anyone who enjoys that.</a:t>
            </a:r>
          </a:p>
          <a:p>
            <a:endParaRPr/>
          </a:p>
          <a:p>
            <a:r>
              <a:t>Thank you. Happy to take questions, and happy to go deeper on any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209784" y="475488"/>
            <a:ext cx="7772400" cy="4167378"/>
          </a:xfrm>
          <a:prstGeom prst="roundRect">
            <a:avLst>
              <a:gd name="adj" fmla="val 3510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224" y="566928"/>
            <a:ext cx="7589520" cy="3984498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2209784" y="475488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209784" y="475488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781016" y="475488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982184" y="475488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09784" y="4642866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09784" y="4441698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781016" y="4642866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982184" y="4441698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32944" y="4972050"/>
            <a:ext cx="292608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41604" y="4949190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73124" y="4949190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04644" y="4949190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0" y="5154930"/>
            <a:ext cx="1219196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spc="-32" dirty="0">
                <a:solidFill>
                  <a:srgbClr val="E6EDF3"/>
                </a:solidFill>
                <a:latin typeface="Geist Medium"/>
              </a:rPr>
              <a:t>Dynamic 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48706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Marvin Hansen  ·  Director, Center for Dynamic Causality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032754"/>
            <a:ext cx="1219196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LF AI &amp; DATA  ·  TECHNICAL ADVISORY COUNCIL  ·  2026</a:t>
            </a:r>
          </a:p>
        </p:txBody>
      </p:sp>
      <p:pic>
        <p:nvPicPr>
          <p:cNvPr id="19" name="Picture 18" descr="center_logo_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7760" y="5648706"/>
            <a:ext cx="1239829" cy="9689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3342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02 / 15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171831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1919478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1873758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10334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Why DeepCausality starts from a different axiom than classical causality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4406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41854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596133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The axiom and the primitives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632710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One working definition, three computable primitives, one safety layer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31630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364230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3318510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One causal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355086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Discovery, modeling, action, governance, deployment — in a single substrate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388543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086605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4040886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Two downstream projects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4077462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Counterfactual fluid dynamics, and quantum causal models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460781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808982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763262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4799838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 err="1">
                <a:solidFill>
                  <a:srgbClr val="AAB3BD"/>
                </a:solidFill>
                <a:latin typeface="Geist"/>
              </a:rPr>
              <a:t>DeepCausality</a:t>
            </a:r>
            <a:r>
              <a:rPr sz="1350" b="0" dirty="0">
                <a:solidFill>
                  <a:srgbClr val="AAB3BD"/>
                </a:solidFill>
                <a:latin typeface="Geist"/>
              </a:rPr>
              <a:t> at United Airlines via Service Radar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31520" y="533019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" y="5531358"/>
            <a:ext cx="548640" cy="27774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5485638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5522214"/>
            <a:ext cx="6659849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Verification posture, governance, and where collaboration would help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605256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 dirty="0">
                <a:solidFill>
                  <a:srgbClr val="E6EDF3"/>
                </a:solidFill>
                <a:latin typeface="Geist Medium"/>
              </a:rPr>
              <a:t>Classical causality assumes a </a:t>
            </a:r>
            <a:r>
              <a:rPr lang="en-US" sz="3000" b="0" spc="-36" dirty="0">
                <a:solidFill>
                  <a:srgbClr val="E6EDF3"/>
                </a:solidFill>
                <a:latin typeface="Geist Medium"/>
              </a:rPr>
              <a:t>static </a:t>
            </a:r>
            <a:r>
              <a:rPr sz="3000" b="0" spc="-36" dirty="0">
                <a:solidFill>
                  <a:srgbClr val="E6EDF3"/>
                </a:solidFill>
                <a:latin typeface="Geist Medium"/>
              </a:rPr>
              <a:t>background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Every classical framework inherits a definition of cause that is roughly two thousand years old, and it inherits the static spacetime that came with it.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070"/>
            <a:ext cx="5172440" cy="3703320"/>
          </a:xfrm>
          <a:prstGeom prst="roundRect">
            <a:avLst>
              <a:gd name="adj" fmla="val 2222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6" y="2358390"/>
            <a:ext cx="4550648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614422"/>
            <a:ext cx="4550648" cy="3806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spc="-20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42416" y="3016758"/>
            <a:ext cx="4550648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61872" y="3181350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Time is a straight line. Cause precedes effect, always.</a:t>
            </a:r>
          </a:p>
        </p:txBody>
      </p:sp>
      <p:sp>
        <p:nvSpPr>
          <p:cNvPr id="14" name="Oval 13"/>
          <p:cNvSpPr/>
          <p:nvPr/>
        </p:nvSpPr>
        <p:spPr>
          <a:xfrm>
            <a:off x="1067562" y="3277933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906012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The causal rules are fixed, and fixed at design time.</a:t>
            </a:r>
          </a:p>
        </p:txBody>
      </p:sp>
      <p:sp>
        <p:nvSpPr>
          <p:cNvPr id="16" name="Oval 15"/>
          <p:cNvSpPr/>
          <p:nvPr/>
        </p:nvSpPr>
        <p:spPr>
          <a:xfrm>
            <a:off x="1067562" y="4002595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61872" y="4630674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Space and time are a static background the model may assume.</a:t>
            </a:r>
          </a:p>
        </p:txBody>
      </p:sp>
      <p:sp>
        <p:nvSpPr>
          <p:cNvPr id="18" name="Oval 17"/>
          <p:cNvSpPr/>
          <p:nvPr/>
        </p:nvSpPr>
        <p:spPr>
          <a:xfrm>
            <a:off x="1067562" y="47272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61872" y="5355336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20" name="Oval 19"/>
          <p:cNvSpPr/>
          <p:nvPr/>
        </p:nvSpPr>
        <p:spPr>
          <a:xfrm>
            <a:off x="1067562" y="545191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5129022"/>
            <a:ext cx="4550648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6B7682"/>
                </a:solidFill>
                <a:latin typeface="Geist"/>
              </a:rPr>
              <a:t>Sound on its own ground. The ground is what moved.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8008" y="2084070"/>
            <a:ext cx="5172440" cy="3703320"/>
          </a:xfrm>
          <a:prstGeom prst="roundRect">
            <a:avLst>
              <a:gd name="adj" fmla="val 2222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6288008" y="208407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88008" y="208407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305001" y="208407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208407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88008" y="578739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288008" y="563194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305001" y="578739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563194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98904" y="2358390"/>
            <a:ext cx="4550648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8904" y="2614422"/>
            <a:ext cx="4550648" cy="3806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spc="-20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98904" y="3016758"/>
            <a:ext cx="455064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18360" y="3181350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AAB3BD"/>
                </a:solidFill>
                <a:latin typeface="Geist"/>
              </a:rPr>
              <a:t>Causality is a</a:t>
            </a:r>
            <a:r>
              <a:rPr lang="en-US" sz="1350" b="0" dirty="0">
                <a:solidFill>
                  <a:srgbClr val="AAB3BD"/>
                </a:solidFill>
                <a:latin typeface="Geist"/>
              </a:rPr>
              <a:t> dynamic </a:t>
            </a:r>
            <a:r>
              <a:rPr sz="1350" b="0" dirty="0">
                <a:solidFill>
                  <a:srgbClr val="AAB3BD"/>
                </a:solidFill>
                <a:latin typeface="Geist"/>
              </a:rPr>
              <a:t>process</a:t>
            </a:r>
          </a:p>
        </p:txBody>
      </p:sp>
      <p:sp>
        <p:nvSpPr>
          <p:cNvPr id="35" name="Oval 34"/>
          <p:cNvSpPr/>
          <p:nvPr/>
        </p:nvSpPr>
        <p:spPr>
          <a:xfrm>
            <a:off x="6624050" y="3277933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8360" y="3906012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7" name="Oval 36"/>
          <p:cNvSpPr/>
          <p:nvPr/>
        </p:nvSpPr>
        <p:spPr>
          <a:xfrm>
            <a:off x="6624050" y="4002595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18360" y="4630674"/>
            <a:ext cx="43311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AAB3BD"/>
                </a:solidFill>
                <a:latin typeface="Geist"/>
              </a:rPr>
              <a:t>Spacetime is data the model reads</a:t>
            </a:r>
          </a:p>
        </p:txBody>
      </p:sp>
      <p:sp>
        <p:nvSpPr>
          <p:cNvPr id="39" name="Oval 38"/>
          <p:cNvSpPr/>
          <p:nvPr/>
        </p:nvSpPr>
        <p:spPr>
          <a:xfrm>
            <a:off x="6624050" y="47272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624050" y="545191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98904" y="5129022"/>
            <a:ext cx="4550648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AAB3BD"/>
                </a:solidFill>
                <a:latin typeface="Geist"/>
              </a:rPr>
              <a:t>Quantum physics and general relativity already broke the fixed background.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3342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26870"/>
            <a:ext cx="10728929" cy="1207008"/>
          </a:xfrm>
          <a:prstGeom prst="roundRect">
            <a:avLst>
              <a:gd name="adj" fmla="val 6818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731520" y="162687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1626870"/>
            <a:ext cx="0" cy="155447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305001" y="162687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460449" y="1626870"/>
            <a:ext cx="0" cy="155447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1520" y="283387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31520" y="267843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305001" y="283387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460449" y="267843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1901190"/>
            <a:ext cx="10728929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spc="60">
                <a:solidFill>
                  <a:srgbClr val="5CD4E1"/>
                </a:solidFill>
                <a:latin typeface="JetBrains Mono Medium"/>
              </a:rPr>
              <a:t>m₂  =  m₁  &gt;&gt;= 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486405"/>
            <a:ext cx="10728929" cy="2612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 another by applying a causal function within the monad.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144774"/>
            <a:ext cx="2490208" cy="2084831"/>
          </a:xfrm>
          <a:prstGeom prst="roundRect">
            <a:avLst>
              <a:gd name="adj" fmla="val 39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419093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3400805"/>
            <a:ext cx="20147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Monadic 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986022"/>
            <a:ext cx="20147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An arity-5 carrier: value, state, context, error, audit log. The monad laws thread the bookkeeping through every step.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7760" y="3144774"/>
            <a:ext cx="2490208" cy="2084831"/>
          </a:xfrm>
          <a:prstGeom prst="roundRect">
            <a:avLst>
              <a:gd name="adj" fmla="val 39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477760" y="3419093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33792" y="3400805"/>
            <a:ext cx="20147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Functional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33792" y="3986022"/>
            <a:ext cx="20147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Each propagating effect is obtained from the previous one by applying a causal function f. Chained, those steps propagate effect.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4000" y="3144774"/>
            <a:ext cx="2490208" cy="2084831"/>
          </a:xfrm>
          <a:prstGeom prst="roundRect">
            <a:avLst>
              <a:gd name="adj" fmla="val 39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24000" y="3419093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80032" y="3400805"/>
            <a:ext cx="20147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32" y="3986022"/>
            <a:ext cx="20147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Time and space are not built into the relation. They are inputs the causal function reads, like any other.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0241" y="3144774"/>
            <a:ext cx="2490208" cy="2084831"/>
          </a:xfrm>
          <a:prstGeom prst="roundRect">
            <a:avLst>
              <a:gd name="adj" fmla="val 394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970241" y="3419093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26273" y="3400805"/>
            <a:ext cx="20147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6273" y="3986022"/>
            <a:ext cx="201472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Anything time-like or space-like lives in a queryable hypergraph — Euclidean, Minkowski, or anything between.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30774"/>
            <a:ext cx="10728929" cy="2771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682"/>
                </a:solidFill>
                <a:latin typeface="Geist"/>
              </a:rPr>
              <a:t>A ripple in a pond. One ripple is an effect; it propagates and produces the next. DeepCausality defines how the ripples spread, what each carries, and what happens when the rules for spreading themselves change.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Choosing the axiom low enough in the stack means we did not have to replace anything. The classical methods are parametric specializations of the same relation.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05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65782"/>
            <a:ext cx="5364464" cy="3017520"/>
          </a:xfrm>
          <a:prstGeom prst="roundRect">
            <a:avLst>
              <a:gd name="adj" fmla="val 27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6" y="2340102"/>
            <a:ext cx="4742672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42416" y="2669286"/>
            <a:ext cx="4742672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42416" y="2822905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6856" y="2781940"/>
            <a:ext cx="3508232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42416" y="3181350"/>
            <a:ext cx="4742672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42416" y="3334969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3294004"/>
            <a:ext cx="3508232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42416" y="3693414"/>
            <a:ext cx="4742672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42416" y="3847033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6856" y="3806068"/>
            <a:ext cx="3508232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2416" y="4205478"/>
            <a:ext cx="4742672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42416" y="4359097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6856" y="4318132"/>
            <a:ext cx="3508232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Rubin causal model, and CATE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42416" y="4717542"/>
            <a:ext cx="4742672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" y="4534662"/>
            <a:ext cx="4742672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82"/>
                </a:solidFill>
                <a:latin typeface="Geist"/>
              </a:rPr>
              <a:t>Each one implemented directly under examples/classical_causality_examples.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0032" y="2065782"/>
            <a:ext cx="4980416" cy="3017520"/>
          </a:xfrm>
          <a:prstGeom prst="roundRect">
            <a:avLst>
              <a:gd name="adj" fmla="val 2727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6480032" y="2065782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80032" y="206578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305001" y="2065782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460449" y="206578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80032" y="5083301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480032" y="4927854"/>
            <a:ext cx="0" cy="155447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305001" y="5083301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1460449" y="4927854"/>
            <a:ext cx="0" cy="155447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790928" y="2340102"/>
            <a:ext cx="4358624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790928" y="2669286"/>
            <a:ext cx="435862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90928" y="2822905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25368" y="2781940"/>
            <a:ext cx="3124184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Causal structure changes as the context changes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90928" y="3181350"/>
            <a:ext cx="435862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90928" y="3334969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5368" y="3294004"/>
            <a:ext cx="3124184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790928" y="3693414"/>
            <a:ext cx="435862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90928" y="3847033"/>
            <a:ext cx="123444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5368" y="3806068"/>
            <a:ext cx="3124184" cy="40965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Structure that could not be enumerated at design time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790928" y="4205478"/>
            <a:ext cx="435862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90928" y="4424934"/>
            <a:ext cx="4358624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Three causal modalities that a fixed-structure framework cannot express, because the structure is the thing that moves.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394197"/>
            <a:ext cx="10728929" cy="786384"/>
          </a:xfrm>
          <a:prstGeom prst="roundRect">
            <a:avLst>
              <a:gd name="adj" fmla="val 1046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31520" y="5595365"/>
            <a:ext cx="41148" cy="38404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42416" y="5531358"/>
            <a:ext cx="10107137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spc="-16">
                <a:solidFill>
                  <a:srgbClr val="E6EDF3"/>
                </a:solidFill>
                <a:latin typeface="Geist Medium"/>
              </a:rPr>
              <a:t>Reasoning is free to be emergent. Actions are not.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5851397"/>
            <a:ext cx="10107137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possible. Verifiability is restored at the action boundary instead — that is the Effect Ethos, two slides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Three primitives, and a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Both reasoning primitives emit the same carrier, so structural and sequential reasoning compose freely in one inference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06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31542"/>
            <a:ext cx="1920240" cy="859536"/>
          </a:xfrm>
          <a:prstGeom prst="roundRect">
            <a:avLst>
              <a:gd name="adj" fmla="val 8510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55041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879598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75126"/>
            <a:ext cx="1920240" cy="859536"/>
          </a:xfrm>
          <a:prstGeom prst="roundRect">
            <a:avLst>
              <a:gd name="adj" fmla="val 8510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79399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4123181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3089910"/>
            <a:ext cx="2139696" cy="786384"/>
          </a:xfrm>
          <a:prstGeom prst="roundRect">
            <a:avLst>
              <a:gd name="adj" fmla="val 50000"/>
            </a:avLst>
          </a:prstGeom>
          <a:solidFill>
            <a:srgbClr val="5CD4E1">
              <a:alpha val="20000"/>
            </a:srgbClr>
          </a:solidFill>
          <a:ln w="12700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07792" y="3281934"/>
            <a:ext cx="2139696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3053334"/>
            <a:ext cx="2011680" cy="859536"/>
          </a:xfrm>
          <a:prstGeom prst="roundRect">
            <a:avLst>
              <a:gd name="adj" fmla="val 8510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94960" y="317220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50139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20" name="Diamond 19"/>
          <p:cNvSpPr/>
          <p:nvPr/>
        </p:nvSpPr>
        <p:spPr>
          <a:xfrm>
            <a:off x="7754112" y="2852166"/>
            <a:ext cx="1572768" cy="1261872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54112" y="3309366"/>
            <a:ext cx="157276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354711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56064" y="2321814"/>
            <a:ext cx="1920240" cy="786384"/>
          </a:xfrm>
          <a:prstGeom prst="roundRect">
            <a:avLst>
              <a:gd name="adj" fmla="val 9302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56064" y="240411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2733294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56064" y="3858006"/>
            <a:ext cx="1920240" cy="786384"/>
          </a:xfrm>
          <a:prstGeom prst="roundRect">
            <a:avLst>
              <a:gd name="adj" fmla="val 9302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56064" y="394030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47504" y="4269486"/>
            <a:ext cx="17373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560320" y="2861310"/>
            <a:ext cx="329184" cy="521208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560320" y="3583686"/>
            <a:ext cx="329184" cy="521208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47488" y="3483102"/>
            <a:ext cx="32918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406640" y="3483102"/>
            <a:ext cx="32918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070848" y="2742438"/>
            <a:ext cx="566928" cy="448056"/>
          </a:xfrm>
          <a:prstGeom prst="line">
            <a:avLst/>
          </a:prstGeom>
          <a:ln w="13970">
            <a:solidFill>
              <a:srgbClr val="5CD4E1">
                <a:alpha val="75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70848" y="3775710"/>
            <a:ext cx="566928" cy="448056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887968" y="2760726"/>
            <a:ext cx="93268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32">
                <a:solidFill>
                  <a:srgbClr val="5CD4E1"/>
                </a:solidFill>
                <a:latin typeface="JetBrains Mono"/>
              </a:rPr>
              <a:t>Obligatory / Optional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3104" y="3839718"/>
            <a:ext cx="932688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32">
                <a:solidFill>
                  <a:srgbClr val="6B7682"/>
                </a:solidFill>
                <a:latin typeface="JetBrains Mono"/>
              </a:rPr>
              <a:t>Impermissible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936998"/>
            <a:ext cx="1920240" cy="676656"/>
          </a:xfrm>
          <a:prstGeom prst="roundRect">
            <a:avLst>
              <a:gd name="adj" fmla="val 1081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138166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1600200" y="4571238"/>
            <a:ext cx="0" cy="347472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743200" y="4991862"/>
            <a:ext cx="877824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A typed weighted hypergraph of contextoids carrying data, space, time, spacetime and symbolic payloads. Mutated in place across a run. Counterfactuals run as parallel extra-contexts against the same Causaloid, without disturbing the primary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One categorical interface across every math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Most scientific stacks force a bridge: one library for tensors, another for geometric algebra, a third for topology, glue code in between. Everything here implements the same surface.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07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65782"/>
            <a:ext cx="6651936" cy="2852928"/>
          </a:xfrm>
          <a:prstGeom prst="roundRect">
            <a:avLst>
              <a:gd name="adj" fmla="val 288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6" y="2321814"/>
            <a:ext cx="6030144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DOMAIN  ·  TYPE  ·  CATEGORICAL ROLE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42416" y="2687574"/>
            <a:ext cx="6030144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42416" y="2852166"/>
            <a:ext cx="1417320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3"/>
                </a:solidFill>
                <a:latin typeface="Geist Medium"/>
              </a:rPr>
              <a:t>Mechanics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870454"/>
            <a:ext cx="2331720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D4E1"/>
                </a:solidFill>
                <a:latin typeface="JetBrains Mono Medium"/>
              </a:rPr>
              <a:t>CausalTensor&lt;T&gt;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2861310"/>
            <a:ext cx="2079936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Functor — map over field data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42416" y="3190494"/>
            <a:ext cx="6030144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2416" y="3355086"/>
            <a:ext cx="1417320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3"/>
                </a:solidFill>
                <a:latin typeface="Geist Medium"/>
              </a:rPr>
              <a:t>Algebra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7168" y="3373374"/>
            <a:ext cx="2331720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D4E1"/>
                </a:solidFill>
                <a:latin typeface="JetBrains Mono Medium"/>
              </a:rPr>
              <a:t>CausalMultiVector&lt;T&gt;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364230"/>
            <a:ext cx="2079936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Monad — chain operations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2416" y="3693414"/>
            <a:ext cx="6030144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2416" y="3858005"/>
            <a:ext cx="1417320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3"/>
                </a:solidFill>
                <a:latin typeface="Geist Medium"/>
              </a:rPr>
              <a:t>Topology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3876294"/>
            <a:ext cx="2331720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D4E1"/>
                </a:solidFill>
                <a:latin typeface="JetBrains Mono Medium"/>
              </a:rPr>
              <a:t>Manifold&lt;T&gt;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3867150"/>
            <a:ext cx="2079936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Comonad — neighbourhood analysis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42416" y="4196334"/>
            <a:ext cx="6030144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" y="4360925"/>
            <a:ext cx="1417320" cy="28632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3"/>
                </a:solidFill>
                <a:latin typeface="Geist Medium"/>
              </a:rPr>
              <a:t>Causality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87168" y="4379214"/>
            <a:ext cx="2331720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D4E1"/>
                </a:solidFill>
                <a:latin typeface="JetBrains Mono Medium"/>
              </a:rPr>
              <a:t>PropagatingEffect&lt;T&gt;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8" y="4370070"/>
            <a:ext cx="2079936" cy="269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Monad — sequencing plus audit log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42416" y="4699254"/>
            <a:ext cx="6030144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42416" y="4900421"/>
            <a:ext cx="603014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82"/>
                </a:solidFill>
                <a:latin typeface="Geist"/>
              </a:rPr>
              <a:t>fmap, bind, extend and extract mean the same thing on every container. Arity-5 higher-kinded types via the witness pattern, on stable Rust — monomorphized, no boxing, no virtual calls.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67504" y="2065782"/>
            <a:ext cx="3692945" cy="1353312"/>
          </a:xfrm>
          <a:prstGeom prst="roundRect">
            <a:avLst>
              <a:gd name="adj" fmla="val 608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7767504" y="2065782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67504" y="206578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305001" y="2065782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460449" y="2065782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67504" y="34190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767504" y="326364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305001" y="34190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60449" y="326364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41824" y="2303526"/>
            <a:ext cx="3144305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ONE BIND CHAIN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1824" y="2596134"/>
            <a:ext cx="3144305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D4E1"/>
                </a:solidFill>
                <a:latin typeface="JetBrains Mono Medium"/>
              </a:rPr>
              <a:t>Tensor  →  MultiVector  →  Manifold  →  PropagatingEffect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1824" y="2998470"/>
            <a:ext cx="314430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General relativity, geometric algebra, topology, causal logic — one chain, no adapters.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67504" y="3583686"/>
            <a:ext cx="3692945" cy="1371600"/>
          </a:xfrm>
          <a:prstGeom prst="roundRect">
            <a:avLst>
              <a:gd name="adj" fmla="val 6000"/>
            </a:avLst>
          </a:prstGeom>
          <a:solidFill>
            <a:srgbClr val="121A23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41824" y="3821430"/>
            <a:ext cx="3144305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PRECISION AS A PARAMETER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1824" y="4114038"/>
            <a:ext cx="3144305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CD4E1"/>
                </a:solidFill>
                <a:latin typeface="JetBrains Mono Medium"/>
              </a:rPr>
              <a:t>pub type FloatType = Float106;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1824" y="4406646"/>
            <a:ext cx="314430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One alias flows through every contraction, rotation, manifold extension and monadic step. f32, f64, or 106-bit — switched in one line.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101590"/>
            <a:ext cx="10728929" cy="2771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The GRMHD example runs exactly this: Einstein-tensor curvature feeds metric selection, which feeds a multivector Lorentz force, which feeds causal stability analysis — one monadic chain, no serialization.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One uniform substrate for the whole causal lifecycle — not five tools joined by a pipeline.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08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047494"/>
            <a:ext cx="10399745" cy="3877056"/>
          </a:xfrm>
          <a:prstGeom prst="roundRect">
            <a:avLst>
              <a:gd name="adj" fmla="val 2358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896112" y="204749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204749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094689" y="204749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95857" y="204749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96112" y="592455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96112" y="57233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094689" y="592455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295857" y="57233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97280" y="2288895"/>
            <a:ext cx="38404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53312" y="2230374"/>
            <a:ext cx="1371600" cy="2434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2449830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spc="-18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2230374"/>
            <a:ext cx="406908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Surface causal structure straight from raw observational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248662"/>
            <a:ext cx="194154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25">
                <a:solidFill>
                  <a:srgbClr val="6B7682"/>
                </a:solidFill>
                <a:latin typeface="JetBrains Mono"/>
              </a:rPr>
              <a:t>SURD · MRMR · BRCD, hosted in a typestate DSL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" y="2822905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097280" y="3064306"/>
            <a:ext cx="38404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53312" y="3005785"/>
            <a:ext cx="1371600" cy="2434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225241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spc="-18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592" y="3005785"/>
            <a:ext cx="406908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Encode that structure as composable causal logic with an explicit context.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9992" y="3024073"/>
            <a:ext cx="194154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25">
                <a:solidFill>
                  <a:srgbClr val="6B7682"/>
                </a:solidFill>
                <a:latin typeface="JetBrains Mono"/>
              </a:rPr>
              <a:t>Singleton, collection and hypergraph nest to any depth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" y="359831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097280" y="3839718"/>
            <a:ext cx="38404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53312" y="3781196"/>
            <a:ext cx="1371600" cy="2434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4000652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spc="-18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6592" y="3781196"/>
            <a:ext cx="406908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Turn a causal verdict into an action and interact with the outside world.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9992" y="3799484"/>
            <a:ext cx="194154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25">
                <a:solidFill>
                  <a:srgbClr val="6B7682"/>
                </a:solidFill>
                <a:latin typeface="JetBrains Mono"/>
              </a:rPr>
              <a:t>State space inferred at runtime, not enumerated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96112" y="4373727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97280" y="4615129"/>
            <a:ext cx="38404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53312" y="4556607"/>
            <a:ext cx="1371600" cy="2434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76063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spc="-18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36592" y="4556607"/>
            <a:ext cx="406908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79992" y="4574895"/>
            <a:ext cx="194154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25">
                <a:solidFill>
                  <a:srgbClr val="6B7682"/>
                </a:solidFill>
                <a:latin typeface="JetBrains Mono"/>
              </a:rPr>
              <a:t>Defeasible deontic calculus over an immutable norm graph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96112" y="514913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097280" y="5390540"/>
            <a:ext cx="38404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53312" y="5332018"/>
            <a:ext cx="1371600" cy="2434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53312" y="5551474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spc="-18">
                <a:solidFill>
                  <a:srgbClr val="E6EDF3"/>
                </a:solidFill>
                <a:latin typeface="Geist Medium"/>
              </a:rPr>
              <a:t>Async Runtime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36592" y="5332018"/>
            <a:ext cx="406908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Run the model thread-safe and asynchronously at scale.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9992" y="5350306"/>
            <a:ext cx="1941545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25">
                <a:solidFill>
                  <a:srgbClr val="6B7682"/>
                </a:solidFill>
                <a:latin typeface="JetBrains Mono"/>
              </a:rPr>
              <a:t>Arc/RwLock by construction — embeds in any Tokio handler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144006"/>
            <a:ext cx="10728929" cy="2771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Every stage exchanges work through the same propagating effect, and the audit log accumulates across all five. You can enter at any layer and leave at any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DOWNSTREAM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DeepCausality CFD — counterfactual fluid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Released to crates.io in August 2026. Its own site at cfd.deepcausality.com.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09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47494"/>
            <a:ext cx="5900911" cy="3017520"/>
          </a:xfrm>
          <a:prstGeom prst="roundRect">
            <a:avLst>
              <a:gd name="adj" fmla="val 2727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731520" y="20474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2047494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76983" y="20474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32431" y="2047494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" y="506501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31520" y="490956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76983" y="506501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632431" y="490956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42416" y="2303526"/>
            <a:ext cx="527911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WHAT IT DOES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2650998"/>
            <a:ext cx="5059663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Geist Medium"/>
              </a:rPr>
              <a:t>Couples disciplines.</a:t>
            </a:r>
            <a:r>
              <a:rPr sz="1250">
                <a:solidFill>
                  <a:srgbClr val="AAB3BD"/>
                </a:solidFill>
                <a:latin typeface="Geist"/>
              </a:rPr>
              <a:t>  Flow, plasma chemistry, navigation and control march in one typed process — not four codes exchanging files.</a:t>
            </a:r>
          </a:p>
        </p:txBody>
      </p:sp>
      <p:sp>
        <p:nvSpPr>
          <p:cNvPr id="20" name="Oval 19"/>
          <p:cNvSpPr/>
          <p:nvPr/>
        </p:nvSpPr>
        <p:spPr>
          <a:xfrm>
            <a:off x="1067562" y="2738564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1872" y="3546729"/>
            <a:ext cx="5059663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Geist Medium"/>
              </a:rPr>
              <a:t>Forks the running simulation.</a:t>
            </a:r>
            <a:r>
              <a:rPr sz="1250">
                <a:solidFill>
                  <a:srgbClr val="AAB3BD"/>
                </a:solidFill>
                <a:latin typeface="Geist"/>
              </a:rPr>
              <a:t>  March until a predicate fires, then fork the paused state in O(1) and fly every counterfactual branch concurrently.</a:t>
            </a:r>
          </a:p>
        </p:txBody>
      </p:sp>
      <p:sp>
        <p:nvSpPr>
          <p:cNvPr id="22" name="Oval 21"/>
          <p:cNvSpPr/>
          <p:nvPr/>
        </p:nvSpPr>
        <p:spPr>
          <a:xfrm>
            <a:off x="1067562" y="3634295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61872" y="4442460"/>
            <a:ext cx="5059663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Geist Medium"/>
              </a:rPr>
              <a:t>Carries its uncertainty.</a:t>
            </a:r>
            <a:r>
              <a:rPr sz="1250">
                <a:solidFill>
                  <a:srgbClr val="AAB3BD"/>
                </a:solidFill>
                <a:latin typeface="Geist"/>
              </a:rPr>
              <a:t>  Ensembles and gates reduce a family of alternate worlds to one scored verdict.</a:t>
            </a:r>
          </a:p>
        </p:txBody>
      </p:sp>
      <p:sp>
        <p:nvSpPr>
          <p:cNvPr id="24" name="Oval 23"/>
          <p:cNvSpPr/>
          <p:nvPr/>
        </p:nvSpPr>
        <p:spPr>
          <a:xfrm>
            <a:off x="1067562" y="453002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16479" y="2047494"/>
            <a:ext cx="4443970" cy="3017520"/>
          </a:xfrm>
          <a:prstGeom prst="roundRect">
            <a:avLst>
              <a:gd name="adj" fmla="val 27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290799" y="2303526"/>
            <a:ext cx="3895330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MEASURED, NOT ASSERTED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90799" y="2632710"/>
            <a:ext cx="389533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90799" y="2791815"/>
            <a:ext cx="1170432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SOD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31" y="2749387"/>
            <a:ext cx="2724898" cy="4242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L1 ≤ 0.027 against the exact Riemann solution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90799" y="3163062"/>
            <a:ext cx="389533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290799" y="3322167"/>
            <a:ext cx="1170432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CAVITY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61231" y="3279739"/>
            <a:ext cx="2724898" cy="4242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Ghia lid-driven cavity; graded MMS at order 2.00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90799" y="3693414"/>
            <a:ext cx="389533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90799" y="3852519"/>
            <a:ext cx="1170432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RAM-C 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1231" y="3810091"/>
            <a:ext cx="2724898" cy="4242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Peak electron density within ~2× of the flight anchor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290799" y="4223766"/>
            <a:ext cx="389533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290799" y="4382871"/>
            <a:ext cx="1170432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FORK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1231" y="4340443"/>
            <a:ext cx="2724898" cy="4242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Mid-burn fork departs a frozen-drag prediction by 139.4 m/s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290799" y="4754118"/>
            <a:ext cx="389533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290799" y="4827270"/>
            <a:ext cx="3895330" cy="244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682"/>
                </a:solidFill>
                <a:latin typeface="Geist"/>
              </a:rPr>
              <a:t>Every roadmap item ships with its measurement or its open question.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339334"/>
            <a:ext cx="10728929" cy="859536"/>
          </a:xfrm>
          <a:prstGeom prst="roundRect">
            <a:avLst>
              <a:gd name="adj" fmla="val 9574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1520" y="5558790"/>
            <a:ext cx="41148" cy="420624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42416" y="5485638"/>
            <a:ext cx="10107137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6">
                <a:solidFill>
                  <a:srgbClr val="E6EDF3"/>
                </a:solidFill>
                <a:latin typeface="Geist Medium"/>
              </a:rPr>
              <a:t>Four of the six grand challenges named by the NASA CFD Vision 2030 study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" y="5814822"/>
            <a:ext cx="10107137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Uncertainty quantification, numerical algorithms, multi-regime coupling, and multidisciplinary analysis and optimization. The roadmap page also states two non-goals and why — distributed execution and GPU acceleration are both deferred decisions, on the record.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DOWNSTREAM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DeepCausality Quantum — quantum causal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The same axiom, with quantum channels in place of conditional-probability tables.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10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47494"/>
            <a:ext cx="10728929" cy="969264"/>
          </a:xfrm>
          <a:prstGeom prst="roundRect">
            <a:avLst>
              <a:gd name="adj" fmla="val 8490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731520" y="20474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2047494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305001" y="204749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460449" y="2047494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" y="301675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31520" y="286131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305001" y="301675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460449" y="286131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2266950"/>
            <a:ext cx="10728929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spc="40">
                <a:solidFill>
                  <a:srgbClr val="5CD4E1"/>
                </a:solidFill>
                <a:latin typeface="JetBrains Mono Medium"/>
              </a:rPr>
              <a:t>σ  =  ∏ᵢ  ρ_{Aᵢ | Pa(Aᵢ)}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705862"/>
            <a:ext cx="10728929" cy="2529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A classical causal model factorizes a joint distribution over its graph. A quantum causal model factorizes a process operator into per-node Choi–Jamiołkowski operators.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09366"/>
            <a:ext cx="3393429" cy="2395728"/>
          </a:xfrm>
          <a:prstGeom prst="roundRect">
            <a:avLst>
              <a:gd name="adj" fmla="val 343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565398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3547110"/>
            <a:ext cx="288136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Freeze-time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986022"/>
            <a:ext cx="2881365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Not every product of operators is a legal model. The quantum Markov condition — factors with intersecting Hilbert support must pairwise commute — is enforced as a gate at the graph freeze boundary. Sound by construction: it never accepts a non-commuting model, and a failure names the exact offending pair.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9269" y="3309366"/>
            <a:ext cx="3393429" cy="2395728"/>
          </a:xfrm>
          <a:prstGeom prst="roundRect">
            <a:avLst>
              <a:gd name="adj" fmla="val 343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99269" y="3565398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73589" y="3547110"/>
            <a:ext cx="288136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Orthomodular 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73589" y="3986022"/>
            <a:ext cx="2881365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The Birkhoff–von Neumann projection lattice carries the Verdict, with Born-rule read-out to a probability. Quantum logic is not bolted on beside the causal engine; it is a verdict type inside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7019" y="3309366"/>
            <a:ext cx="3393429" cy="2395728"/>
          </a:xfrm>
          <a:prstGeom prst="roundRect">
            <a:avLst>
              <a:gd name="adj" fmla="val 343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67019" y="3565398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41339" y="3547110"/>
            <a:ext cx="288136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-14">
                <a:solidFill>
                  <a:srgbClr val="E6EDF3"/>
                </a:solidFill>
                <a:latin typeface="Geist Medium"/>
              </a:rPr>
              <a:t>Two modalities, kept apart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339" y="3986022"/>
            <a:ext cx="2881365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A verifiable default path, backed by Lean proofs, and a physical-QPU seam behind a feature flag. Nesting is deliberately not offered: it is unestablished, and we would rather ship the flat model honestly.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4549"/>
            <a:ext cx="10728929" cy="2682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82"/>
                </a:solidFill>
                <a:latin typeface="Geist"/>
              </a:rPr>
              <a:t>Gate kernels — Born probability, expectation value, commutator, fidelity — each wrap into a PropagatingEffect, so quantum mechanics enters the same causal chain as everything else. R. Lorenz (2022), Definition 3.3.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via the Service Radar integration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11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20646"/>
            <a:ext cx="10728929" cy="3931920"/>
          </a:xfrm>
          <a:prstGeom prst="roundRect">
            <a:avLst>
              <a:gd name="adj" fmla="val 209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731520" y="212064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212064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305001" y="212064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460449" y="212064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1520" y="605256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31520" y="5897118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305001" y="605256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460449" y="5897118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876294"/>
            <a:ext cx="1072892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spc="100">
                <a:solidFill>
                  <a:srgbClr val="6B7682"/>
                </a:solidFill>
                <a:latin typeface="JetBrains Mono"/>
              </a:rPr>
              <a:t>[  content to follow  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07264" y="4333494"/>
            <a:ext cx="23774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478764" y="4310634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073124" y="4310634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667484" y="4310634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Laws proved in Lean, checked again in 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No tool turns a Lean proof into a Rust test. So each property is stated twice and bound by a shared id, and CI fails if either side is missing.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47494"/>
            <a:ext cx="3393429" cy="1389888"/>
          </a:xfrm>
          <a:prstGeom prst="roundRect">
            <a:avLst>
              <a:gd name="adj" fmla="val 5921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248662"/>
            <a:ext cx="2844789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spc="-44">
                <a:solidFill>
                  <a:srgbClr val="5CD4E1"/>
                </a:solidFill>
                <a:latin typeface="Geist Medium"/>
              </a:rPr>
              <a:t>183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33878"/>
            <a:ext cx="284478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E6EDF3"/>
                </a:solidFill>
                <a:latin typeface="JetBrains Mono Medium"/>
              </a:rPr>
              <a:t>THEOREMS 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71622"/>
            <a:ext cx="284478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Lean 4 against Mathlib, pinned at v4.32.0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9269" y="2047494"/>
            <a:ext cx="3393429" cy="1389888"/>
          </a:xfrm>
          <a:prstGeom prst="roundRect">
            <a:avLst>
              <a:gd name="adj" fmla="val 5921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73589" y="2248662"/>
            <a:ext cx="2844789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spc="-44">
                <a:solidFill>
                  <a:srgbClr val="5CD4E1"/>
                </a:solidFill>
                <a:latin typeface="Geist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589" y="2833878"/>
            <a:ext cx="284478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E6EDF3"/>
                </a:solidFill>
                <a:latin typeface="JetBrains Mono Medium"/>
              </a:rPr>
              <a:t>SORRY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3589" y="3071622"/>
            <a:ext cx="284478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No unproved statement anywhere in the gated tree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7019" y="2047494"/>
            <a:ext cx="3393429" cy="1389888"/>
          </a:xfrm>
          <a:prstGeom prst="roundRect">
            <a:avLst>
              <a:gd name="adj" fmla="val 5921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41339" y="2248662"/>
            <a:ext cx="2844789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0" spc="-44">
                <a:solidFill>
                  <a:srgbClr val="5CD4E1"/>
                </a:solidFill>
                <a:latin typeface="Geist Medium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1339" y="2833878"/>
            <a:ext cx="284478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E6EDF3"/>
                </a:solidFill>
                <a:latin typeface="JetBrains Mono Medium"/>
              </a:rPr>
              <a:t>KANI HARNESSES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1339" y="3071622"/>
            <a:ext cx="284478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Bounded model checking on the core carrier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29990"/>
            <a:ext cx="5579043" cy="2395728"/>
          </a:xfrm>
          <a:prstGeom prst="roundRect">
            <a:avLst>
              <a:gd name="adj" fmla="val 3435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24128" y="3967733"/>
            <a:ext cx="4993827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THE LAYERS UNDER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296918"/>
            <a:ext cx="4993827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spc="20">
                <a:solidFill>
                  <a:srgbClr val="5CD4E1"/>
                </a:solidFill>
                <a:latin typeface="JetBrains Mono Medium"/>
              </a:rPr>
              <a:t>Num  ·  Algebra  ·  Haft  ·  Core  ·  Complex &amp; Dual  ·  Rational  ·  Topology  ·  Quantum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24128" y="4900422"/>
            <a:ext cx="4993827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24128" y="5065014"/>
            <a:ext cx="4993827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Lean proves the statement — deductive, unbounded, higher-order. A Rust witness checks the same statement independently: a law-test for the algebraic layers, a Kani harness for the core carrier. The monad laws, the Kleisli category laws and the causaloid fixpoint all sit in here.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94611" y="3729990"/>
            <a:ext cx="4765838" cy="2395728"/>
          </a:xfrm>
          <a:prstGeom prst="roundRect">
            <a:avLst>
              <a:gd name="adj" fmla="val 343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6694611" y="372999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694611" y="372999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305001" y="3729990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460449" y="372999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694611" y="612571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694611" y="597027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305001" y="6125718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1460449" y="5970270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987219" y="3967733"/>
            <a:ext cx="4180622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E3B341"/>
                </a:solidFill>
                <a:latin typeface="JetBrains Mono Medium"/>
              </a:rPr>
              <a:t>THE EDGES WE PUBLISH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6675" y="4333494"/>
            <a:ext cx="396116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Float106 bit-exact error bounds are open. The Lean model proves the real-field laws; the empirical bounds are Rust tests only.</a:t>
            </a:r>
          </a:p>
        </p:txBody>
      </p:sp>
      <p:sp>
        <p:nvSpPr>
          <p:cNvPr id="37" name="Oval 36"/>
          <p:cNvSpPr/>
          <p:nvPr/>
        </p:nvSpPr>
        <p:spPr>
          <a:xfrm>
            <a:off x="7012365" y="4410583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06675" y="5129784"/>
            <a:ext cx="396116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Octonions sit outside the proved layer — Mathlib does not carry them.</a:t>
            </a:r>
          </a:p>
        </p:txBody>
      </p:sp>
      <p:sp>
        <p:nvSpPr>
          <p:cNvPr id="39" name="Oval 38"/>
          <p:cNvSpPr/>
          <p:nvPr/>
        </p:nvSpPr>
        <p:spPr>
          <a:xfrm>
            <a:off x="7012365" y="5206873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206675" y="5721604"/>
            <a:ext cx="396116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The unconditional quantum partial-trace preservation is proved FALSE, with a witnessed counterexample. Only the conditional boundary version holds.</a:t>
            </a:r>
          </a:p>
        </p:txBody>
      </p:sp>
      <p:sp>
        <p:nvSpPr>
          <p:cNvPr id="41" name="Oval 40"/>
          <p:cNvSpPr/>
          <p:nvPr/>
        </p:nvSpPr>
        <p:spPr>
          <a:xfrm>
            <a:off x="7012365" y="5798693"/>
            <a:ext cx="50292" cy="50292"/>
          </a:xfrm>
          <a:prstGeom prst="ellipse">
            <a:avLst/>
          </a:prstGeom>
          <a:solidFill>
            <a:srgbClr val="E3B3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42822"/>
            <a:ext cx="9226879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AAB3BD"/>
                </a:solidFill>
                <a:latin typeface="Geist"/>
              </a:rPr>
              <a:t>September 2023, at the point of the Sandbox proposal, the repository held four crates.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73659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07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32181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6695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1559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3504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3173" y="208407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93173" y="232181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7493" y="226695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493" y="281559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493" y="303504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4827" y="208407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54827" y="232181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9147" y="226695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10,967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9147" y="281559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9147" y="303504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63855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" y="387629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82143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7007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8952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93173" y="363855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93173" y="387629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67493" y="382143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7493" y="437007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7493" y="458952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4827" y="3638550"/>
            <a:ext cx="3405621" cy="1298448"/>
          </a:xfrm>
          <a:prstGeom prst="roundRect">
            <a:avLst>
              <a:gd name="adj" fmla="val 633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054827" y="3876294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29147" y="3821430"/>
            <a:ext cx="2856981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spc="-40">
                <a:solidFill>
                  <a:srgbClr val="E6EDF3"/>
                </a:solidFill>
                <a:latin typeface="Geist Medium"/>
              </a:rPr>
              <a:t>23 / 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9147" y="4370070"/>
            <a:ext cx="2856981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spc="76">
                <a:solidFill>
                  <a:srgbClr val="5CD4E1"/>
                </a:solidFill>
                <a:latin typeface="JetBrains Mono Medium"/>
              </a:rPr>
              <a:t>ZERO-DEPENDENCY CRATES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9147" y="4589526"/>
            <a:ext cx="2856981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No external runtime deps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247894"/>
            <a:ext cx="10728929" cy="804672"/>
          </a:xfrm>
          <a:prstGeom prst="roundRect">
            <a:avLst>
              <a:gd name="adj" fmla="val 10227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31520" y="5449062"/>
            <a:ext cx="41148" cy="40233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42416" y="5385054"/>
            <a:ext cx="1010713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spc="-16">
                <a:solidFill>
                  <a:srgbClr val="E6EDF3"/>
                </a:solidFill>
                <a:latin typeface="Geist Medium"/>
              </a:rPr>
              <a:t>Two build systems, one workspace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" y="5686806"/>
            <a:ext cx="10107137" cy="2606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AB3BD"/>
                </a:solidFill>
                <a:latin typeface="Geist"/>
              </a:rPr>
              <a:t>Cargo and Bazel both build and test the full tree, and CI checks that no Cargo example is missing its Bazel target. unsafe_code = "forbid" is set repo-wide, with three exemptions, each carrying a written justification.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130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How the project is run and supported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3342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14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158"/>
            <a:ext cx="6598291" cy="3054096"/>
          </a:xfrm>
          <a:prstGeom prst="roundRect">
            <a:avLst>
              <a:gd name="adj" fmla="val 269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901190"/>
            <a:ext cx="6013075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GOVERNANCE AND POSTURE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24128" y="2248662"/>
            <a:ext cx="601307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24128" y="2413254"/>
            <a:ext cx="160020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4328" y="2369362"/>
            <a:ext cx="4412875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LF AI &amp; Data Sandbox project since September 2023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24128" y="2797302"/>
            <a:ext cx="601307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24128" y="2961894"/>
            <a:ext cx="160020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LICENSE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4328" y="2918002"/>
            <a:ext cx="4412875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MIT, across every crate in the workspace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24128" y="3345942"/>
            <a:ext cx="601307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" y="3510534"/>
            <a:ext cx="160020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4328" y="3466642"/>
            <a:ext cx="4412875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OpenSSF Best Practices badge, published security policy, Miri in CI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4128" y="3894581"/>
            <a:ext cx="601307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8" y="4059173"/>
            <a:ext cx="1600200" cy="22631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80">
                <a:solidFill>
                  <a:srgbClr val="5CD4E1"/>
                </a:solidFill>
                <a:latin typeface="JetBrains Mono Medium"/>
              </a:rPr>
              <a:t>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24328" y="4015282"/>
            <a:ext cx="4412875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Codecov, CodeFactor, clippy and rustfmt gates on every pull request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24128" y="4443221"/>
            <a:ext cx="601307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8" y="4132326"/>
            <a:ext cx="6013075" cy="2447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682"/>
                </a:solidFill>
                <a:latin typeface="Geist"/>
              </a:rPr>
              <a:t>Contributing guide, code of conduct, and a written policy for AI coding assistants.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13859" y="1645158"/>
            <a:ext cx="3746589" cy="1389888"/>
          </a:xfrm>
          <a:prstGeom prst="roundRect">
            <a:avLst>
              <a:gd name="adj" fmla="val 592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88179" y="1882902"/>
            <a:ext cx="319794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COMMUNITY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8179" y="2212086"/>
            <a:ext cx="319794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Geist"/>
              </a:rPr>
              <a:t>Discord  ·  GitHub Discussions  ·  LF mailing lists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8179" y="2559557"/>
            <a:ext cx="319794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5">
                <a:solidFill>
                  <a:srgbClr val="5CD4E1"/>
                </a:solidFill>
                <a:latin typeface="JetBrains Mono Medium"/>
              </a:rPr>
              <a:t>deepcausality.com  ·  cfd.deepcausality.com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13859" y="3309366"/>
            <a:ext cx="3746589" cy="1389888"/>
          </a:xfrm>
          <a:prstGeom prst="roundRect">
            <a:avLst>
              <a:gd name="adj" fmla="val 5921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713859" y="330936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13859" y="330936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305001" y="3309366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460449" y="330936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13859" y="469925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713859" y="454380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305001" y="4699254"/>
            <a:ext cx="15544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60449" y="4543806"/>
            <a:ext cx="0" cy="15544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88179" y="3547110"/>
            <a:ext cx="319794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SPONSORS</a:t>
            </a:r>
          </a:p>
        </p:txBody>
      </p:sp>
      <p:pic>
        <p:nvPicPr>
          <p:cNvPr id="38" name="Picture 37" descr="jetbr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179" y="3876294"/>
            <a:ext cx="512064" cy="5127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609971" y="3912870"/>
            <a:ext cx="2576157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JetBrains — all-product licences for core maintainers</a:t>
            </a:r>
          </a:p>
        </p:txBody>
      </p:sp>
      <p:pic>
        <p:nvPicPr>
          <p:cNvPr id="40" name="Picture 39" descr="center_logo_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163" y="4351782"/>
            <a:ext cx="786384" cy="61455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609971" y="4370070"/>
            <a:ext cx="2576157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AB3BD"/>
                </a:solidFill>
                <a:latin typeface="Geist"/>
              </a:rPr>
              <a:t>Center for Dynamic Causality — research and resources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02336"/>
            <a:ext cx="10728929" cy="222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28929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Where the project would value help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35331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6309360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6391656"/>
            <a:ext cx="54864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6B7682"/>
                </a:solidFill>
                <a:latin typeface="JetBrains Mono"/>
              </a:rPr>
              <a:t>DEEPCAUSALITY  ·  LF AI &amp; DATA  ·  TAC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649" y="6391656"/>
            <a:ext cx="1828800" cy="20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8">
                <a:solidFill>
                  <a:srgbClr val="5CD4E1"/>
                </a:solidFill>
                <a:latin typeface="JetBrains Mono Medium"/>
              </a:rPr>
              <a:t>15 /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00784"/>
            <a:ext cx="3393429" cy="2249424"/>
          </a:xfrm>
          <a:prstGeom prst="roundRect">
            <a:avLst>
              <a:gd name="adj" fmla="val 365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956816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938528"/>
            <a:ext cx="288136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6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9152"/>
            <a:ext cx="2881365" cy="1408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The stack is strongest where a regulated domain needs an audit trail: avionics, medicine, industrial control, finance. A partner with a real decision boundary is worth more to us than another benchmark.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9269" y="1700784"/>
            <a:ext cx="3393429" cy="2249424"/>
          </a:xfrm>
          <a:prstGeom prst="roundRect">
            <a:avLst>
              <a:gd name="adj" fmla="val 365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99269" y="1956816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73589" y="1938528"/>
            <a:ext cx="288136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6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589" y="2359152"/>
            <a:ext cx="2881365" cy="1408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The propagating effect is a natural seam for anything that already produces a verdict and needs to explain it. If your project has that shape, the integration is small.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7019" y="1700784"/>
            <a:ext cx="3393429" cy="2249424"/>
          </a:xfrm>
          <a:prstGeom prst="roundRect">
            <a:avLst>
              <a:gd name="adj" fmla="val 3658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67019" y="1956816"/>
            <a:ext cx="34747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41339" y="1938528"/>
            <a:ext cx="288136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spc="-16">
                <a:solidFill>
                  <a:srgbClr val="E6EDF3"/>
                </a:solidFill>
                <a:latin typeface="Geist Medium"/>
              </a:rPr>
              <a:t>Reviewers and provers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1339" y="2359152"/>
            <a:ext cx="2881365" cy="1408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AB3BD"/>
                </a:solidFill>
                <a:latin typeface="Geist"/>
              </a:rPr>
              <a:t>The Lean layer has published open edges. Extending the proved surface — particularly the quantum foundation — is well-scoped, self-contained work.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315968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390892" y="4293107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73124" y="4293107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55357" y="4293107"/>
            <a:ext cx="45720" cy="45720"/>
          </a:xfrm>
          <a:prstGeom prst="ellipse">
            <a:avLst/>
          </a:prstGeom>
          <a:solidFill>
            <a:srgbClr val="5CD4E1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4590288"/>
            <a:ext cx="12191969" cy="5303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spc="-36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5193792"/>
            <a:ext cx="12191969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3BD"/>
                </a:solidFill>
                <a:latin typeface="Geist"/>
              </a:rPr>
              <a:t>Marvin Hansen  ·  Director, Center for Dynamic Causality  ·  marvin.hansen@gmail.com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504688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25">
                <a:solidFill>
                  <a:srgbClr val="5CD4E1"/>
                </a:solidFill>
                <a:latin typeface="JetBrains Mono Medium"/>
              </a:rPr>
              <a:t>github.com/deepcausality-rs/deep_causality   ·   deepcausality.com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5460</Words>
  <Application>Microsoft Macintosh PowerPoint</Application>
  <PresentationFormat>Widescreen</PresentationFormat>
  <Paragraphs>579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4</cp:revision>
  <dcterms:created xsi:type="dcterms:W3CDTF">2013-01-27T09:14:16Z</dcterms:created>
  <dcterms:modified xsi:type="dcterms:W3CDTF">2026-08-25T04:18:17Z</dcterms:modified>
  <cp:category/>
</cp:coreProperties>
</file>