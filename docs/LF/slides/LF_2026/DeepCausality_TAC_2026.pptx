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morning, and thank you for the slot.</a:t>
            </a:r>
          </a:p>
          <a:p/>
          <a:p>
            <a:r>
              <a:t>I am Marvin Hansen, Director of the Center for Dynamic Causality, and I am here for</a:t>
            </a:r>
          </a:p>
          <a:p>
            <a:r>
              <a:t>DeepCausality — an LF AI &amp; Data Sandbox project since September 2023.</a:t>
            </a:r>
          </a:p>
          <a:p/>
          <a:p>
            <a:r>
              <a:t>I presented here in 2023 with a proposal. I am back with a re-introduction, because</a:t>
            </a:r>
          </a:p>
          <a:p>
            <a:r>
              <a:t>almost everything below the surface has changed since then, and because this council</a:t>
            </a:r>
          </a:p>
          <a:p>
            <a:r>
              <a:t>has largely turned over in the meantime.</a:t>
            </a:r>
          </a:p>
          <a:p/>
          <a:p>
            <a:r>
              <a:t>Twenty minutes, six parts. I will keep the mathematics to one slide and spend the time</a:t>
            </a:r>
          </a:p>
          <a:p>
            <a:r>
              <a:t>on what the project actually 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parts.</a:t>
            </a:r>
          </a:p>
          <a:p/>
          <a:p>
            <a:r>
              <a:t>First the premise — one slide on why we did not simply build another causal-graph</a:t>
            </a:r>
          </a:p>
          <a:p>
            <a:r>
              <a:t>library. Then the axiom and the primitives that make it computable. Then the piece I</a:t>
            </a:r>
          </a:p>
          <a:p>
            <a:r>
              <a:t>most want you to take away: one causal stack running from raw data to a governed</a:t>
            </a:r>
          </a:p>
          <a:p>
            <a:r>
              <a:t>production action.</a:t>
            </a:r>
          </a:p>
          <a:p/>
          <a:p>
            <a:r>
              <a:t>Then two downstream projects built on that stack, which are in my view the proof that</a:t>
            </a:r>
          </a:p>
          <a:p>
            <a:r>
              <a:t>the substrate generalizes: counterfactual fluid dynamics, and quantum causal models.</a:t>
            </a:r>
          </a:p>
          <a:p/>
          <a:p>
            <a:r>
              <a:t>Then a case study, and finally project health and where we could use help.</a:t>
            </a:r>
          </a:p>
          <a:p/>
          <a:p>
            <a:r>
              <a:t>Roughly a minute per slide. Stop me at any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the project rests on, so I will spend a full minute here.</a:t>
            </a:r>
          </a:p>
          <a:p/>
          <a:p>
            <a:r>
              <a:t>Classical computational causality traces its definition of cause back to Seneca — two</a:t>
            </a:r>
          </a:p>
          <a:p>
            <a:r>
              <a:t>thousand years old — and it inherits the static spacetime that came with it. Pearl's</a:t>
            </a:r>
          </a:p>
          <a:p>
            <a:r>
              <a:t>structural causal models, Granger, Rubin, dynamic Bayesian networks: all excellent, all</a:t>
            </a:r>
          </a:p>
          <a:p>
            <a:r>
              <a:t>well validated, and all assuming time runs straight, that the rules are fixed at design</a:t>
            </a:r>
          </a:p>
          <a:p>
            <a:r>
              <a:t>time, and that the causal structure is enumerated up front.</a:t>
            </a:r>
          </a:p>
          <a:p/>
          <a:p>
            <a:r>
              <a:t>That is not a flaw. It is a scope. And contemporary science has already moved outside</a:t>
            </a:r>
          </a:p>
          <a:p>
            <a:r>
              <a:t>it. In quantum physics and in general relativity the fixed background does not hold.</a:t>
            </a:r>
          </a:p>
          <a:p>
            <a:r>
              <a:t>Closer to home, any system that crosses a physical or operational regime boundary</a:t>
            </a:r>
          </a:p>
          <a:p>
            <a:r>
              <a:t>changes its own causal rules mid-flight.</a:t>
            </a:r>
          </a:p>
          <a:p/>
          <a:p>
            <a:r>
              <a:t>So we change the starting point. We root the project in Whitehead's process philosophy —</a:t>
            </a:r>
          </a:p>
          <a:p>
            <a:r>
              <a:t>causality as a process of becoming — and make spacetime data the model reads rather than</a:t>
            </a:r>
          </a:p>
          <a:p>
            <a:r>
              <a:t>a frame the model assumes.</a:t>
            </a:r>
          </a:p>
          <a:p/>
          <a:p>
            <a:r>
              <a:t>The consequence is on the right: rules may evolve at runtime, structure may emerge, and</a:t>
            </a:r>
          </a:p>
          <a:p>
            <a:r>
              <a:t>— the part that matters for production — it is still governable. I will come back to</a:t>
            </a:r>
          </a:p>
          <a:p>
            <a:r>
              <a:t>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is the whole premise in one line: m-two equals m-one bind f.</a:t>
            </a:r>
          </a:p>
          <a:p/>
          <a:p>
            <a:r>
              <a:t>Read it as: dynamic causality is the spacetime-agnostic monadic process in which one</a:t>
            </a:r>
          </a:p>
          <a:p>
            <a:r>
              <a:t>propagating effect is obtained from another by applying a causal function within the</a:t>
            </a:r>
          </a:p>
          <a:p>
            <a:r>
              <a:t>monad.</a:t>
            </a:r>
          </a:p>
          <a:p/>
          <a:p>
            <a:r>
              <a:t>Four things are packed in there.</a:t>
            </a:r>
          </a:p>
          <a:p/>
          <a:p>
            <a:r>
              <a:t>Monadic process — the carrier is an arity-five record: value, state, context, error, and</a:t>
            </a:r>
          </a:p>
          <a:p>
            <a:r>
              <a:t>an audit log. Because it obeys the monad laws, that bookkeeping is threaded</a:t>
            </a:r>
          </a:p>
          <a:p>
            <a:r>
              <a:t>automatically. That is where end-to-end explainability comes from; nobody has to remember</a:t>
            </a:r>
          </a:p>
          <a:p>
            <a:r>
              <a:t>to log.</a:t>
            </a:r>
          </a:p>
          <a:p/>
          <a:p>
            <a:r>
              <a:t>Functional dependency — each effect comes from the previous one by applying a causal</a:t>
            </a:r>
          </a:p>
          <a:p>
            <a:r>
              <a:t>function. Chain those and you get effect propagation.</a:t>
            </a:r>
          </a:p>
          <a:p/>
          <a:p>
            <a:r>
              <a:t>Spacetime-agnostic — time and space are not in the relation. They are inputs.</a:t>
            </a:r>
          </a:p>
          <a:p/>
          <a:p>
            <a:r>
              <a:t>And because they are not built in, anything time-like or space-like has to live somewhere</a:t>
            </a:r>
          </a:p>
          <a:p>
            <a:r>
              <a:t>explicit: the Context, a typed hypergraph. That is what lets the same model run in</a:t>
            </a:r>
          </a:p>
          <a:p>
            <a:r>
              <a:t>Euclidean space, in Minkowski spacetime, or in a non-Euclidean context.</a:t>
            </a:r>
          </a:p>
          <a:p/>
          <a:p>
            <a:r>
              <a:t>The intuition, if you want one: a ripple in a pond. One ripple is an effect, it</a:t>
            </a:r>
          </a:p>
          <a:p>
            <a:r>
              <a:t>propagates, it produces the next one. We define how ripples spread — and what happens</a:t>
            </a:r>
          </a:p>
          <a:p>
            <a:r>
              <a:t>when the rules for spreading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consequences, and the second is the one I would defend hardest.</a:t>
            </a:r>
          </a:p>
          <a:p/>
          <a:p>
            <a:r>
              <a:t>First: because the axiom sits low enough in the stack, we did not have to replace</a:t>
            </a:r>
          </a:p>
          <a:p>
            <a:r>
              <a:t>anything. Pearl's structural causal models, dynamic Bayesian networks, Granger, Rubin,</a:t>
            </a:r>
          </a:p>
          <a:p>
            <a:r>
              <a:t>conditional average treatment effects — each drops out as a parametric specialization of</a:t>
            </a:r>
          </a:p>
          <a:p>
            <a:r>
              <a:t>the same relation. We do not argue that; we implement each one directly in the</a:t>
            </a:r>
          </a:p>
          <a:p>
            <a:r>
              <a:t>classical-causality examples folder, so you can read the code.</a:t>
            </a:r>
          </a:p>
          <a:p/>
          <a:p>
            <a:r>
              <a:t>Second: it adds three modalities a fixed-structure framework cannot express. Dynamic —</a:t>
            </a:r>
          </a:p>
          <a:p>
            <a:r>
              <a:t>structure changes with context. Adaptive — the rules update at runtime. Emergent —</a:t>
            </a:r>
          </a:p>
          <a:p>
            <a:r>
              <a:t>structure that was not enumerable at design time.</a:t>
            </a:r>
          </a:p>
          <a:p/>
          <a:p>
            <a:r>
              <a:t>Now the honest objection: if structure can emerge at runtime, you cannot statically</a:t>
            </a:r>
          </a:p>
          <a:p>
            <a:r>
              <a:t>verify the reasoning any more. That is true, and we do not pretend otherwise.</a:t>
            </a:r>
          </a:p>
          <a:p/>
          <a:p>
            <a:r>
              <a:t>Our answer is the line at the bottom. Reasoning is free to be emergent; actions are not.</a:t>
            </a:r>
          </a:p>
          <a:p>
            <a:r>
              <a:t>We move verifiability from the reasoning boundary to the action boundary. That is a</a:t>
            </a:r>
          </a:p>
          <a:p>
            <a:r>
              <a:t>deliberate architectural trade, and it is what makes emergent causality safe enough to</a:t>
            </a:r>
          </a:p>
          <a:p>
            <a:r>
              <a:t>deploy. The next slide shows the layer that does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primitives operationalize the axiom, plus an optional fourth for safety.</a:t>
            </a:r>
          </a:p>
          <a:p/>
          <a:p>
            <a:r>
              <a:t>On the left, two reasoning primitives. The Causaloid carries causal structure, and it is</a:t>
            </a:r>
          </a:p>
          <a:p>
            <a:r>
              <a:t>isomorphic-recursive: a singleton, a collection, and a hypergraph all implement the same</a:t>
            </a:r>
          </a:p>
          <a:p>
            <a:r>
              <a:t>trait surface, so they nest into each other to any depth. The Causal Monad carries</a:t>
            </a:r>
          </a:p>
          <a:p>
            <a:r>
              <a:t>sequencing — pure, bind, and intervene, where intervene is Pearl's do-operator applied</a:t>
            </a:r>
          </a:p>
          <a:p>
            <a:r>
              <a:t>mid-chain.</a:t>
            </a:r>
          </a:p>
          <a:p/>
          <a:p>
            <a:r>
              <a:t>The important part is the middle. Both emit the same carrier. So you can take a</a:t>
            </a:r>
          </a:p>
          <a:p>
            <a:r>
              <a:t>Causaloid's verdict and bind directly onto it, or run a bind chain and feed the result</a:t>
            </a:r>
          </a:p>
          <a:p>
            <a:r>
              <a:t>into a Causaloid. The boundary between structural and sequential reasoning moves as the</a:t>
            </a:r>
          </a:p>
          <a:p>
            <a:r>
              <a:t>problem moves. You do not pick a framework and then glue.</a:t>
            </a:r>
          </a:p>
          <a:p/>
          <a:p>
            <a:r>
              <a:t>The Causal State Machine is the bridge to the outside world. Its active state space is</a:t>
            </a:r>
          </a:p>
          <a:p>
            <a:r>
              <a:t>inferred at runtime from the propagating effect, not enumerated at design time — that is</a:t>
            </a:r>
          </a:p>
          <a:p>
            <a:r>
              <a:t>how it avoids the classical finite-state-machine limitation.</a:t>
            </a:r>
          </a:p>
          <a:p/>
          <a:p>
            <a:r>
              <a:t>Then the Effect Ethos. Every action the CSM proposes gets intercepted and evaluated</a:t>
            </a:r>
          </a:p>
          <a:p>
            <a:r>
              <a:t>against an immutable graph of computable norms, under a defeasible deontic calculus —</a:t>
            </a:r>
          </a:p>
          <a:p>
            <a:r>
              <a:t>Olson and Forbus. The verdict is obligatory, impermissible, or optional with a cost. If</a:t>
            </a:r>
          </a:p>
          <a:p>
            <a:r>
              <a:t>it is stopped, the reason is locked to the audit log alongside the line of reasoning that</a:t>
            </a:r>
          </a:p>
          <a:p>
            <a:r>
              <a:t>produced it. That is what an auditor reads afterwards.</a:t>
            </a:r>
          </a:p>
          <a:p/>
          <a:p>
            <a:r>
              <a:t>Underneath everything: the Context. Because spacetime is not built into the relation, it</a:t>
            </a:r>
          </a:p>
          <a:p>
            <a:r>
              <a:t>has to live here — and counterfactuals run as parallel extra-contexts without disturbing</a:t>
            </a:r>
          </a:p>
          <a:p>
            <a:r>
              <a:t>the primary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slide on the mathematics, as promised, then straight back to the product.</a:t>
            </a:r>
          </a:p>
          <a:p/>
          <a:p>
            <a:r>
              <a:t>Most scientific computing stacks make you bridge silos. One library for tensors, another</a:t>
            </a:r>
          </a:p>
          <a:p>
            <a:r>
              <a:t>for geometric algebra, a third for topology, and glue between them. You spend more time</a:t>
            </a:r>
          </a:p>
          <a:p>
            <a:r>
              <a:t>on adapters than on the problem.</a:t>
            </a:r>
          </a:p>
          <a:p/>
          <a:p>
            <a:r>
              <a:t>Here every layer implements the same categorical surface. A tensor is a functor. A</a:t>
            </a:r>
          </a:p>
          <a:p>
            <a:r>
              <a:t>multivector is a monad. A manifold is a comonad. The propagating effect is a monad. fmap,</a:t>
            </a:r>
          </a:p>
          <a:p>
            <a:r>
              <a:t>bind, extend, extract mean the same thing everywhere. That is done with arity-five</a:t>
            </a:r>
          </a:p>
          <a:p>
            <a:r>
              <a:t>higher-kinded types on stable Rust using a witness pattern — so it monomorphizes, with no</a:t>
            </a:r>
          </a:p>
          <a:p>
            <a:r>
              <a:t>boxing and no virtual calls.</a:t>
            </a:r>
          </a:p>
          <a:p/>
          <a:p>
            <a:r>
              <a:t>Two payoffs. First, a single bind chain can step from general relativity through geometric</a:t>
            </a:r>
          </a:p>
          <a:p>
            <a:r>
              <a:t>algebra onto topology and finish in causal logic. The GRMHD example does exactly that.</a:t>
            </a:r>
          </a:p>
          <a:p/>
          <a:p>
            <a:r>
              <a:t>Second, precision becomes one type alias for the entire pipeline. Change one line and the</a:t>
            </a:r>
          </a:p>
          <a:p>
            <a:r>
              <a:t>whole computation runs at f32, f64, or 106-bit — about thirty-two decimal digits, several</a:t>
            </a:r>
          </a:p>
          <a:p>
            <a:r>
              <a:t>times faster than IEEE binary128.</a:t>
            </a:r>
          </a:p>
          <a:p/>
          <a:p>
            <a:r>
              <a:t>That is the mathematics. Moving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I would ask you to remember.</a:t>
            </a:r>
          </a:p>
          <a:p/>
          <a:p>
            <a:r>
              <a:t>Read it top to bottom. Discover: the Causal Discovery Language is a typestate builder DSL</a:t>
            </a:r>
          </a:p>
          <a:p>
            <a:r>
              <a:t>that takes raw observational data and finds the structure worth modelling. SURD tells you</a:t>
            </a:r>
          </a:p>
          <a:p>
            <a:r>
              <a:t>which variables are uniquely or synergistically causal; MRMR does feature selection; BRCD</a:t>
            </a:r>
          </a:p>
          <a:p>
            <a:r>
              <a:t>ranks the root cause of a regime shift.</a:t>
            </a:r>
          </a:p>
          <a:p/>
          <a:p>
            <a:r>
              <a:t>Model: that structure becomes a Causaloid with an explicit Context.</a:t>
            </a:r>
          </a:p>
          <a:p/>
          <a:p>
            <a:r>
              <a:t>Act: the Causal State Machine turns a verdict into a proposed action.</a:t>
            </a:r>
          </a:p>
          <a:p/>
          <a:p>
            <a:r>
              <a:t>Govern: the Effect Ethos decides whether that action is permissible.</a:t>
            </a:r>
          </a:p>
          <a:p/>
          <a:p>
            <a:r>
              <a:t>Run: the whole thing is thread-safe by construction, so deployment is embedding the model</a:t>
            </a:r>
          </a:p>
          <a:p>
            <a:r>
              <a:t>in an ordinary async request handler.</a:t>
            </a:r>
          </a:p>
          <a:p/>
          <a:p>
            <a:r>
              <a:t>Two things make this one stack rather than five tools with a pipeline between them. First,</a:t>
            </a:r>
          </a:p>
          <a:p>
            <a:r>
              <a:t>every stage exchanges work through the same propagating effect — there is no serialization</a:t>
            </a:r>
          </a:p>
          <a:p>
            <a:r>
              <a:t>boundary anywhere in that column. Second, the audit log accumulates across all five, so the</a:t>
            </a:r>
          </a:p>
          <a:p>
            <a:r>
              <a:t>explanation you hand a regulator spans discovery through deployment, not just the inference</a:t>
            </a:r>
          </a:p>
          <a:p>
            <a:r>
              <a:t>step.</a:t>
            </a:r>
          </a:p>
          <a:p/>
          <a:p>
            <a:r>
              <a:t>And you are not obliged to use all of it. You can enter at any layer and leave at any layer.</a:t>
            </a:r>
          </a:p>
          <a:p>
            <a:r>
              <a:t>Plenty of users only ever touch Model and 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downstream projects, and I show them because they are the evidence that the substrate</a:t>
            </a:r>
          </a:p>
          <a:p>
            <a:r>
              <a:t>generalizes beyond toy causality.</a:t>
            </a:r>
          </a:p>
          <a:p/>
          <a:p>
            <a:r>
              <a:t>The first is counterfactual fluid dynamics. It shipped to crates.io this August and has its</a:t>
            </a:r>
          </a:p>
          <a:p>
            <a:r>
              <a:t>own documentation site.</a:t>
            </a:r>
          </a:p>
          <a:p/>
          <a:p>
            <a:r>
              <a:t>Three things it does. It couples disciplines — compressible flow, plasma chemistry,</a:t>
            </a:r>
          </a:p>
          <a:p>
            <a:r>
              <a:t>navigation and control march inside one typed process rather than four codes exchanging</a:t>
            </a:r>
          </a:p>
          <a:p>
            <a:r>
              <a:t>files. It forks the running simulation: march until a predicate fires, then fork the paused</a:t>
            </a:r>
          </a:p>
          <a:p>
            <a:r>
              <a:t>state in constant time and fly every counterfactual branch concurrently. That is the causal</a:t>
            </a:r>
          </a:p>
          <a:p>
            <a:r>
              <a:t>monad's intervene operator applied to a fluid solver. And it carries uncertainty through to</a:t>
            </a:r>
          </a:p>
          <a:p>
            <a:r>
              <a:t>a scored verdict.</a:t>
            </a:r>
          </a:p>
          <a:p/>
          <a:p>
            <a:r>
              <a:t>On the right is why I am comfortable saying that out loud. Sod shock tube to an L1 of 0.027</a:t>
            </a:r>
          </a:p>
          <a:p>
            <a:r>
              <a:t>against the exact Riemann solution. Ghia cavity. RAM-C II peak electron density within about</a:t>
            </a:r>
          </a:p>
          <a:p>
            <a:r>
              <a:t>a factor of two of the flight anchor, from an uncalibrated finite-rate network. And the</a:t>
            </a:r>
          </a:p>
          <a:p>
            <a:r>
              <a:t>number that shows what forking buys: a mid-burn fork of the marched, plume-coupled state</a:t>
            </a:r>
          </a:p>
          <a:p>
            <a:r>
              <a:t>departs a frozen-drag prediction by 139 metres per second.</a:t>
            </a:r>
          </a:p>
          <a:p/>
          <a:p>
            <a:r>
              <a:t>The framing at the bottom: Teschner's survey of the six biggest unsolved problems in CFD,</a:t>
            </a:r>
          </a:p>
          <a:p>
            <a:r>
              <a:t>drawn from NASA's CFD Vision 2030 study. Four of the six informed this design.</a:t>
            </a:r>
          </a:p>
          <a:p/>
          <a:p>
            <a:r>
              <a:t>One thing I want to flag for this council specifically: the roadmap page also lists non-goals</a:t>
            </a:r>
          </a:p>
          <a:p>
            <a:r>
              <a:t>with reasons. Distributed execution and GPU acceleration are both deferred, and we say why.</a:t>
            </a:r>
          </a:p>
          <a:p>
            <a:r>
              <a:t>An unstated decision reads as a gap.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second downstream project, and this one tests the claim that the axiom is genuinely</a:t>
            </a:r>
          </a:p>
          <a:p>
            <a:r>
              <a:t>spacetime-agnostic.</a:t>
            </a:r>
          </a:p>
          <a:p/>
          <a:p>
            <a:r>
              <a:t>A classical causal model factorizes a joint distribution over its graph. A quantum causal</a:t>
            </a:r>
          </a:p>
          <a:p>
            <a:r>
              <a:t>model — Lorenz, 2022 — does the same for a process operator, factorized into per-node</a:t>
            </a:r>
          </a:p>
          <a:p>
            <a:r>
              <a:t>Choi–Jamiołkowski operators. The conditional-probability tables become quantum channels,</a:t>
            </a:r>
          </a:p>
          <a:p>
            <a:r>
              <a:t>and the model is their product.</a:t>
            </a:r>
          </a:p>
          <a:p/>
          <a:p>
            <a:r>
              <a:t>The interesting engineering is the first card. Not every product of operators is a legal</a:t>
            </a:r>
          </a:p>
          <a:p>
            <a:r>
              <a:t>quantum causal model: factors whose Hilbert supports intersect have to pairwise commute. We</a:t>
            </a:r>
          </a:p>
          <a:p>
            <a:r>
              <a:t>make that a freeze-time gate. When you freeze the graph, we embed each intersecting pair</a:t>
            </a:r>
          </a:p>
          <a:p>
            <a:r>
              <a:t>onto its common support, form the commutator, and compare against a depth-aware tolerance.</a:t>
            </a:r>
          </a:p>
          <a:p>
            <a:r>
              <a:t>The check is sound — it never accepts a non-commuting model — and it may be incomplete. A</a:t>
            </a:r>
          </a:p>
          <a:p>
            <a:r>
              <a:t>failure names the exact offending pair and rolls the graph back.</a:t>
            </a:r>
          </a:p>
          <a:p/>
          <a:p>
            <a:r>
              <a:t>Second card: the projection lattice carries the Verdict, with Born-rule read-out. So quantum</a:t>
            </a:r>
          </a:p>
          <a:p>
            <a:r>
              <a:t>logic is not sitting beside the causal engine; it is a verdict type inside it.</a:t>
            </a:r>
          </a:p>
          <a:p/>
          <a:p>
            <a:r>
              <a:t>Third card, and this is a governance point as much as a technical one. There are two</a:t>
            </a:r>
          </a:p>
          <a:p>
            <a:r>
              <a:t>modalities and we keep them apart: a verifiable path backed by Lean proofs, and a</a:t>
            </a:r>
          </a:p>
          <a:p>
            <a:r>
              <a:t>physical-QPU seam behind a feature flag. We also deliberately do not offer nested quantum</a:t>
            </a:r>
          </a:p>
          <a:p>
            <a:r>
              <a:t>causal models, because that is unestablished in the literature. We would rather ship the flat</a:t>
            </a:r>
          </a:p>
          <a:p>
            <a:r>
              <a:t>model honestly than ship something that looks more general than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PLACEHOLDER — content to be written.</a:t>
            </a:r>
          </a:p>
          <a:p/>
          <a:p>
            <a:r>
              <a:t>Suggested shape when you fill it in, so the slide matches the rest of the deck: one line on</a:t>
            </a:r>
          </a:p>
          <a:p>
            <a:r>
              <a:t>what Service Radar is and where DeepCausality sits inside it; one line on what the deployment</a:t>
            </a:r>
          </a:p>
          <a:p>
            <a:r>
              <a:t>does that a correlational monitor cannot; and one measured number. Keep it to three claims.</a:t>
            </a:r>
          </a:p>
          <a:p/>
          <a:p>
            <a:r>
              <a:t>Timing: budget roughly 90 seconds here, the longest single block in the deck. If it runs</a:t>
            </a:r>
          </a:p>
          <a:p>
            <a:r>
              <a:t>short on the day, spend the recovered time on the causal-stack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where I would spend your scepticism, so let me be specific.</a:t>
            </a:r>
          </a:p>
          <a:p/>
          <a:p>
            <a:r>
              <a:t>183 theorems machine-checked in Lean 4 against Mathlib, on a pinned toolchain. Zero sorry —</a:t>
            </a:r>
          </a:p>
          <a:p>
            <a:r>
              <a:t>no unproved statement anywhere in the gated tree. Eleven Kani harnesses doing bounded model</a:t>
            </a:r>
          </a:p>
          <a:p>
            <a:r>
              <a:t>checking on the core carrier.</a:t>
            </a:r>
          </a:p>
          <a:p/>
          <a:p>
            <a:r>
              <a:t>The bridge matters more than the count. There is no tool that turns a Lean proof into a Rust</a:t>
            </a:r>
          </a:p>
          <a:p>
            <a:r>
              <a:t>test. So each property is stated twice — once in Lean, once as a Rust witness — and both</a:t>
            </a:r>
          </a:p>
          <a:p>
            <a:r>
              <a:t>carry the same identifier. CI fails if an identifier is missing either side. That means the</a:t>
            </a:r>
          </a:p>
          <a:p>
            <a:r>
              <a:t>proofs cannot silently drift away from the code, which is the usual failure mode of</a:t>
            </a:r>
          </a:p>
          <a:p>
            <a:r>
              <a:t>formalization efforts.</a:t>
            </a:r>
          </a:p>
          <a:p/>
          <a:p>
            <a:r>
              <a:t>Now the right-hand panel, which is the part I actually want you to notice.</a:t>
            </a:r>
          </a:p>
          <a:p/>
          <a:p>
            <a:r>
              <a:t>We publish the edges. The Float106 bit-exact error bounds are open — Lean proves the</a:t>
            </a:r>
          </a:p>
          <a:p>
            <a:r>
              <a:t>real-field laws, the empirical bounds are Rust tests only. Octonions are outside the proved</a:t>
            </a:r>
          </a:p>
          <a:p>
            <a:r>
              <a:t>layer because Mathlib does not carry them.</a:t>
            </a:r>
          </a:p>
          <a:p/>
          <a:p>
            <a:r>
              <a:t>And the third one: in the quantum layer, the unconditional partial-trace preservation property</a:t>
            </a:r>
          </a:p>
          <a:p>
            <a:r>
              <a:t>is proved false. Not unproven — false, with a witnessed counterexample. Only a conditional</a:t>
            </a:r>
          </a:p>
          <a:p>
            <a:r>
              <a:t>boundary version holds. We found that by trying to prove it, and we publish it as a headline</a:t>
            </a:r>
          </a:p>
          <a:p>
            <a:r>
              <a:t>result rather than quietly narrowing the claim.</a:t>
            </a:r>
          </a:p>
          <a:p/>
          <a:p>
            <a:r>
              <a:t>That is the standard I would like the project judged against.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Quickly, because numbers are only context.</a:t>
            </a:r>
          </a:p>
          <a:p/>
          <a:p>
            <a:r>
              <a:t>When I stood here in 2023, the repository held four crates, about twenty thousand lines, and</a:t>
            </a:r>
          </a:p>
          <a:p>
            <a:r>
              <a:t>five hundred tests. Today: twenty-nine crates, four hundred and thirty-eight thousand lines,</a:t>
            </a:r>
          </a:p>
          <a:p>
            <a:r>
              <a:t>and just under eleven thousand tests. Roughly a twenty-one-fold increase on both lines and</a:t>
            </a:r>
          </a:p>
          <a:p>
            <a:r>
              <a:t>tests — so test density held while the codebase grew. That was deliberate.</a:t>
            </a:r>
          </a:p>
          <a:p/>
          <a:p>
            <a:r>
              <a:t>A hundred and thirteen runnable examples across fourteen domains: avionics, physics, medicine,</a:t>
            </a:r>
          </a:p>
          <a:p>
            <a:r>
              <a:t>materials, quantum, classical causality, and so on. Every example is a build target in both</a:t>
            </a:r>
          </a:p>
          <a:p>
            <a:r>
              <a:t>build systems, and CI fails if a Cargo example is missing its Bazel target, so the examples</a:t>
            </a:r>
          </a:p>
          <a:p>
            <a:r>
              <a:t>cannot rot.</a:t>
            </a:r>
          </a:p>
          <a:p/>
          <a:p>
            <a:r>
              <a:t>Twenty-three of twenty-nine crates have no external runtime dependency at all. The six that do</a:t>
            </a:r>
          </a:p>
          <a:p>
            <a:r>
              <a:t>are narrow and mostly optional. For a project aimed at regulated domains, that supply-chain</a:t>
            </a:r>
          </a:p>
          <a:p>
            <a:r>
              <a:t>surface is a feature, not an accident.</a:t>
            </a:r>
          </a:p>
          <a:p/>
          <a:p>
            <a:r>
              <a:t>And unsafe is forbidden repo-wide by a workspace lint. Three crates are exempt; each exemption</a:t>
            </a:r>
          </a:p>
          <a:p>
            <a:r>
              <a:t>carries a written, irreducible justification, and two of them are marked for removal when the</a:t>
            </a:r>
          </a:p>
          <a:p>
            <a:r>
              <a:t>compiler limitation behind them is fixed.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Briefly, on how the project is actually run.</a:t>
            </a:r>
          </a:p>
          <a:p/>
          <a:p>
            <a:r>
              <a:t>Sandbox project at LF AI &amp; Data since September 2023. MIT licensed across every crate — no</a:t>
            </a:r>
          </a:p>
          <a:p>
            <a:r>
              <a:t>dual licensing, no contributor licence agreement friction. OpenSSF Best Practices badge, a</a:t>
            </a:r>
          </a:p>
          <a:p>
            <a:r>
              <a:t>published security policy, OSV-Scanner on every pull request and push, Miri in CI where it is</a:t>
            </a:r>
          </a:p>
          <a:p>
            <a:r>
              <a:t>meaningful, and coverage and lint gates on every pull request.</a:t>
            </a:r>
          </a:p>
          <a:p/>
          <a:p>
            <a:r>
              <a:t>The bar at the bottom is the part I would point at if you are assessing maturity. Releases are</a:t>
            </a:r>
          </a:p>
          <a:p>
            <a:r>
              <a:t>not manual: release-plz opens the release pull request and publishes every unpublished crate</a:t>
            </a:r>
          </a:p>
          <a:p>
            <a:r>
              <a:t>from CI, and writes the changelog. And the formalization workflow fails the build if a Lean</a:t>
            </a:r>
          </a:p>
          <a:p>
            <a:r>
              <a:t>theorem id has lost its Rust witness, or the reverse — so the proof layer cannot quietly rot.</a:t>
            </a:r>
          </a:p>
          <a:p/>
          <a:p>
            <a:r>
              <a:t>There is also a written policy for AI coding assistants in the repository, which is not yet</a:t>
            </a:r>
          </a:p>
          <a:p>
            <a:r>
              <a:t>common and which I am happy to discuss separately — several of you have raised that question</a:t>
            </a:r>
          </a:p>
          <a:p>
            <a:r>
              <a:t>in other projects.</a:t>
            </a:r>
          </a:p>
          <a:p/>
          <a:p>
            <a:r>
              <a:t>Community runs through Discord, GitHub Discussions, and the LF mailing lists.</a:t>
            </a:r>
          </a:p>
          <a:p/>
          <a:p>
            <a:r>
              <a:t>Two sponsors. JetBrains provides all-product licences to core maintainers, and has renewed</a:t>
            </a:r>
          </a:p>
          <a:p>
            <a:r>
              <a:t>that. And the Center for Dynamic Causality — the organization I direct — contributes ongoing</a:t>
            </a:r>
          </a:p>
          <a:p>
            <a:r>
              <a:t>research and resources. I want to be transparent about that relationship rather than have it</a:t>
            </a:r>
          </a:p>
          <a:p>
            <a:r>
              <a:t>discovered: the Center funds research that lands in the project under the project's own MIT</a:t>
            </a:r>
          </a:p>
          <a:p>
            <a:r>
              <a:t>licence and open governance.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places where help would compound, and then I will stop.</a:t>
            </a:r>
          </a:p>
          <a:p/>
          <a:p>
            <a:r>
              <a:t>First, domain partners. The stack is strongest where a regulated domain needs an audit trail —</a:t>
            </a:r>
          </a:p>
          <a:p>
            <a:r>
              <a:t>avionics, medicine, industrial control, finance. One partner with a real decision boundary</a:t>
            </a:r>
          </a:p>
          <a:p>
            <a:r>
              <a:t>teaches us more than another benchmark does.</a:t>
            </a:r>
          </a:p>
          <a:p/>
          <a:p>
            <a:r>
              <a:t>Second, adjacent LF projects. The propagating effect is a natural seam for anything that already</a:t>
            </a:r>
          </a:p>
          <a:p>
            <a:r>
              <a:t>produces a verdict and then has to explain it. If your project has that shape, the integration</a:t>
            </a:r>
          </a:p>
          <a:p>
            <a:r>
              <a:t>surface is genuinely small, and I would rather find that out in a fifteen-minute call than in a</a:t>
            </a:r>
          </a:p>
          <a:p>
            <a:r>
              <a:t>design document.</a:t>
            </a:r>
          </a:p>
          <a:p/>
          <a:p>
            <a:r>
              <a:t>Third, reviewers and provers. The Lean layer publishes its open edges deliberately. Extending</a:t>
            </a:r>
          </a:p>
          <a:p>
            <a:r>
              <a:t>the proved surface — especially the quantum foundation, which we built from first principles</a:t>
            </a:r>
          </a:p>
          <a:p>
            <a:r>
              <a:t>because Mathlib does not carry it — is well-scoped, self-contained work for anyone who enjoys</a:t>
            </a:r>
          </a:p>
          <a:p>
            <a:r>
              <a:t>that.</a:t>
            </a:r>
          </a:p>
          <a:p/>
          <a:p>
            <a:r>
              <a:t>Thank you. Happy to take questions, and happy to go deeper on any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301224" y="420624"/>
            <a:ext cx="7589519" cy="4071366"/>
          </a:xfrm>
          <a:prstGeom prst="roundRect">
            <a:avLst>
              <a:gd name="adj" fmla="val 3593"/>
            </a:avLst>
          </a:prstGeom>
          <a:solidFill>
            <a:srgbClr val="0B1118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c_her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2664" y="512064"/>
            <a:ext cx="7406640" cy="3888486"/>
          </a:xfrm>
          <a:prstGeom prst="rect">
            <a:avLst/>
          </a:prstGeom>
        </p:spPr>
      </p:pic>
      <p:cxnSp>
        <p:nvCxnSpPr>
          <p:cNvPr id="4" name="Connector 3"/>
          <p:cNvCxnSpPr/>
          <p:nvPr/>
        </p:nvCxnSpPr>
        <p:spPr>
          <a:xfrm>
            <a:off x="2301224" y="420624"/>
            <a:ext cx="20116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2301224" y="420624"/>
            <a:ext cx="0" cy="20116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H="1">
            <a:off x="9689576" y="420624"/>
            <a:ext cx="20116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9890744" y="420624"/>
            <a:ext cx="0" cy="20116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301224" y="4491990"/>
            <a:ext cx="20116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2301224" y="4290822"/>
            <a:ext cx="0" cy="20116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9689576" y="4491990"/>
            <a:ext cx="20116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9890744" y="4290822"/>
            <a:ext cx="0" cy="20116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678664" y="4802886"/>
            <a:ext cx="2834640" cy="0"/>
          </a:xfrm>
          <a:prstGeom prst="line">
            <a:avLst/>
          </a:prstGeom>
          <a:ln w="9525">
            <a:solidFill>
              <a:srgbClr val="2A3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5364464" y="4780026"/>
            <a:ext cx="45720" cy="45720"/>
          </a:xfrm>
          <a:prstGeom prst="ellipse">
            <a:avLst/>
          </a:prstGeom>
          <a:solidFill>
            <a:srgbClr val="5CD4E1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073124" y="4780026"/>
            <a:ext cx="45720" cy="45720"/>
          </a:xfrm>
          <a:prstGeom prst="ellipse">
            <a:avLst/>
          </a:prstGeom>
          <a:solidFill>
            <a:srgbClr val="5CD4E1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781784" y="4780026"/>
            <a:ext cx="45720" cy="45720"/>
          </a:xfrm>
          <a:prstGeom prst="ellipse">
            <a:avLst/>
          </a:prstGeom>
          <a:solidFill>
            <a:srgbClr val="5CD4E1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0" y="5040630"/>
            <a:ext cx="12191969" cy="3914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2937"/>
              </a:lnSpc>
              <a:spcBef>
                <a:spcPts val="0"/>
              </a:spcBef>
              <a:spcAft>
                <a:spcPts val="0"/>
              </a:spcAft>
            </a:pPr>
            <a:r>
              <a:rPr sz="2600" spc="-31">
                <a:solidFill>
                  <a:srgbClr val="E6EDF3"/>
                </a:solidFill>
                <a:latin typeface="Geist Medium"/>
              </a:rPr>
              <a:t>Dynamic Causality: One Stack from Discovery to Deployment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0" y="5633212"/>
            <a:ext cx="12191969" cy="2576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885"/>
              </a:lnSpc>
              <a:spcBef>
                <a:spcPts val="0"/>
              </a:spcBef>
              <a:spcAft>
                <a:spcPts val="0"/>
              </a:spcAft>
            </a:pPr>
            <a:r>
              <a:rPr sz="1450">
                <a:solidFill>
                  <a:srgbClr val="AAB3BD"/>
                </a:solidFill>
                <a:latin typeface="Geist"/>
              </a:rPr>
              <a:t>Marvin Hansen · Director, Center for Dynamic Causality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0" y="6037199"/>
            <a:ext cx="12191969" cy="1929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LF AI &amp; DATA · TECHNICAL ADVISORY COUNCIL · 2026</a:t>
            </a:r>
          </a:p>
        </p:txBody>
      </p:sp>
      <p:pic>
        <p:nvPicPr>
          <p:cNvPr id="19" name="Picture 18" descr="center_logo_cre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4337" y="5925312"/>
            <a:ext cx="896112" cy="70031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31520" y="6327648"/>
            <a:ext cx="4754880" cy="16687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00" spc="54">
                <a:solidFill>
                  <a:srgbClr val="6B7682"/>
                </a:solidFill>
                <a:latin typeface="JetBrains Mono"/>
              </a:rPr>
              <a:t>LF AI &amp; Data Sandbox project since 2023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84048"/>
            <a:ext cx="10728929" cy="1929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929" cy="4488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390"/>
              </a:lnSpc>
              <a:spcBef>
                <a:spcPts val="0"/>
              </a:spcBef>
              <a:spcAft>
                <a:spcPts val="0"/>
              </a:spcAft>
            </a:pPr>
            <a:r>
              <a:rPr sz="3000" spc="-36">
                <a:solidFill>
                  <a:srgbClr val="E6EDF3"/>
                </a:solidFill>
                <a:latin typeface="Geist Medium"/>
              </a:rPr>
              <a:t>What this talk covers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122605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31520" y="1555242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1747266"/>
            <a:ext cx="621792" cy="2246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300" spc="90">
                <a:solidFill>
                  <a:srgbClr val="5CD4E1"/>
                </a:solidFill>
                <a:latin typeface="JetBrains Mono Medium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" y="1710690"/>
            <a:ext cx="3246120" cy="26619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52"/>
              </a:lnSpc>
              <a:spcBef>
                <a:spcPts val="0"/>
              </a:spcBef>
              <a:spcAft>
                <a:spcPts val="0"/>
              </a:spcAft>
            </a:pPr>
            <a:r>
              <a:rPr sz="1600" spc="-14">
                <a:solidFill>
                  <a:srgbClr val="E6EDF3"/>
                </a:solidFill>
                <a:latin typeface="Geist Medium"/>
              </a:rPr>
              <a:t>The premise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73751" y="1728978"/>
            <a:ext cx="6586697" cy="24803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09"/>
              </a:lnSpc>
              <a:spcBef>
                <a:spcPts val="0"/>
              </a:spcBef>
              <a:spcAft>
                <a:spcPts val="0"/>
              </a:spcAft>
            </a:pPr>
            <a:r>
              <a:rPr sz="1350">
                <a:solidFill>
                  <a:srgbClr val="AAB3BD"/>
                </a:solidFill>
                <a:latin typeface="Geist"/>
              </a:rPr>
              <a:t>Why DeepCausality starts from a different axiom than classical causality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2132457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2324481"/>
            <a:ext cx="621792" cy="2246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300" spc="90">
                <a:solidFill>
                  <a:srgbClr val="5CD4E1"/>
                </a:solidFill>
                <a:latin typeface="JetBrains Mono Medium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3312" y="2287905"/>
            <a:ext cx="3246120" cy="26619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52"/>
              </a:lnSpc>
              <a:spcBef>
                <a:spcPts val="0"/>
              </a:spcBef>
              <a:spcAft>
                <a:spcPts val="0"/>
              </a:spcAft>
            </a:pPr>
            <a:r>
              <a:rPr sz="1600" spc="-14">
                <a:solidFill>
                  <a:srgbClr val="E6EDF3"/>
                </a:solidFill>
                <a:latin typeface="Geist Medium"/>
              </a:rPr>
              <a:t>The axiom and the primitives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73751" y="2306193"/>
            <a:ext cx="6586697" cy="24803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09"/>
              </a:lnSpc>
              <a:spcBef>
                <a:spcPts val="0"/>
              </a:spcBef>
              <a:spcAft>
                <a:spcPts val="0"/>
              </a:spcAft>
            </a:pPr>
            <a:r>
              <a:rPr sz="1350">
                <a:solidFill>
                  <a:srgbClr val="AAB3BD"/>
                </a:solidFill>
                <a:latin typeface="Geist"/>
              </a:rPr>
              <a:t>One working definition, three computable primitives, one safety layer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2709672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2901696"/>
            <a:ext cx="621792" cy="2246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300" spc="90">
                <a:solidFill>
                  <a:srgbClr val="5CD4E1"/>
                </a:solidFill>
                <a:latin typeface="JetBrains Mono Medium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53312" y="2865120"/>
            <a:ext cx="3246120" cy="26619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52"/>
              </a:lnSpc>
              <a:spcBef>
                <a:spcPts val="0"/>
              </a:spcBef>
              <a:spcAft>
                <a:spcPts val="0"/>
              </a:spcAft>
            </a:pPr>
            <a:r>
              <a:rPr sz="1600" spc="-14">
                <a:solidFill>
                  <a:srgbClr val="E6EDF3"/>
                </a:solidFill>
                <a:latin typeface="Geist Medium"/>
              </a:rPr>
              <a:t>One causal stack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73751" y="2883408"/>
            <a:ext cx="6586697" cy="24803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09"/>
              </a:lnSpc>
              <a:spcBef>
                <a:spcPts val="0"/>
              </a:spcBef>
              <a:spcAft>
                <a:spcPts val="0"/>
              </a:spcAft>
            </a:pPr>
            <a:r>
              <a:rPr sz="1350">
                <a:solidFill>
                  <a:srgbClr val="AAB3BD"/>
                </a:solidFill>
                <a:latin typeface="Geist"/>
              </a:rPr>
              <a:t>Discovery, modeling, action, governance, deployment in a single substrate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31520" y="3286886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31520" y="3478910"/>
            <a:ext cx="621792" cy="2246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300" spc="90">
                <a:solidFill>
                  <a:srgbClr val="5CD4E1"/>
                </a:solidFill>
                <a:latin typeface="JetBrains Mono Medium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53312" y="3442334"/>
            <a:ext cx="3246120" cy="26619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52"/>
              </a:lnSpc>
              <a:spcBef>
                <a:spcPts val="0"/>
              </a:spcBef>
              <a:spcAft>
                <a:spcPts val="0"/>
              </a:spcAft>
            </a:pPr>
            <a:r>
              <a:rPr sz="1600" spc="-14">
                <a:solidFill>
                  <a:srgbClr val="E6EDF3"/>
                </a:solidFill>
                <a:latin typeface="Geist Medium"/>
              </a:rPr>
              <a:t>Two downstream projects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3751" y="3460622"/>
            <a:ext cx="6586697" cy="24803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09"/>
              </a:lnSpc>
              <a:spcBef>
                <a:spcPts val="0"/>
              </a:spcBef>
              <a:spcAft>
                <a:spcPts val="0"/>
              </a:spcAft>
            </a:pPr>
            <a:r>
              <a:rPr sz="1350">
                <a:solidFill>
                  <a:srgbClr val="AAB3BD"/>
                </a:solidFill>
                <a:latin typeface="Geist"/>
              </a:rPr>
              <a:t>Counterfactual fluid dynamics, and quantum causal models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31520" y="3864102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31520" y="4056125"/>
            <a:ext cx="621792" cy="2246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300" spc="90">
                <a:solidFill>
                  <a:srgbClr val="5CD4E1"/>
                </a:solidFill>
                <a:latin typeface="JetBrains Mono Medium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53312" y="4019550"/>
            <a:ext cx="3246120" cy="26619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52"/>
              </a:lnSpc>
              <a:spcBef>
                <a:spcPts val="0"/>
              </a:spcBef>
              <a:spcAft>
                <a:spcPts val="0"/>
              </a:spcAft>
            </a:pPr>
            <a:r>
              <a:rPr sz="1600" spc="-14">
                <a:solidFill>
                  <a:srgbClr val="E6EDF3"/>
                </a:solidFill>
                <a:latin typeface="Geist Medium"/>
              </a:rPr>
              <a:t>Case study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73751" y="4037838"/>
            <a:ext cx="6586697" cy="24803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09"/>
              </a:lnSpc>
              <a:spcBef>
                <a:spcPts val="0"/>
              </a:spcBef>
              <a:spcAft>
                <a:spcPts val="0"/>
              </a:spcAft>
            </a:pPr>
            <a:r>
              <a:rPr sz="1350">
                <a:solidFill>
                  <a:srgbClr val="AAB3BD"/>
                </a:solidFill>
                <a:latin typeface="Geist"/>
              </a:rPr>
              <a:t>DeepCausality at United Airlines via the Service Radar integration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31520" y="4441317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31520" y="4633341"/>
            <a:ext cx="621792" cy="2246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300" spc="90">
                <a:solidFill>
                  <a:srgbClr val="5CD4E1"/>
                </a:solidFill>
                <a:latin typeface="JetBrains Mono Medium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53312" y="4596765"/>
            <a:ext cx="3246120" cy="26619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52"/>
              </a:lnSpc>
              <a:spcBef>
                <a:spcPts val="0"/>
              </a:spcBef>
              <a:spcAft>
                <a:spcPts val="0"/>
              </a:spcAft>
            </a:pPr>
            <a:r>
              <a:rPr sz="1600" spc="-14">
                <a:solidFill>
                  <a:srgbClr val="E6EDF3"/>
                </a:solidFill>
                <a:latin typeface="Geist Medium"/>
              </a:rPr>
              <a:t>Project health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73751" y="4615053"/>
            <a:ext cx="6586697" cy="24803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09"/>
              </a:lnSpc>
              <a:spcBef>
                <a:spcPts val="0"/>
              </a:spcBef>
              <a:spcAft>
                <a:spcPts val="0"/>
              </a:spcAft>
            </a:pPr>
            <a:r>
              <a:rPr sz="1350">
                <a:solidFill>
                  <a:srgbClr val="AAB3BD"/>
                </a:solidFill>
                <a:latin typeface="Geist"/>
              </a:rPr>
              <a:t>Verification posture, governance, and where collaboration would help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31520" y="5018532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31520" y="632764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731520" y="6419088"/>
            <a:ext cx="5486400" cy="1532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spc="68">
                <a:solidFill>
                  <a:srgbClr val="6B7682"/>
                </a:solidFill>
                <a:latin typeface="JetBrains Mono"/>
              </a:rPr>
              <a:t>DEEPCAUSALITY · LF AI &amp; DATA · TAC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31649" y="6419088"/>
            <a:ext cx="1828800" cy="1532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spc="68">
                <a:solidFill>
                  <a:srgbClr val="5CD4E1"/>
                </a:solidFill>
                <a:latin typeface="JetBrains Mono Medium"/>
              </a:rPr>
              <a:t>02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84048"/>
            <a:ext cx="10728929" cy="1929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PREMISE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929" cy="4488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390"/>
              </a:lnSpc>
              <a:spcBef>
                <a:spcPts val="0"/>
              </a:spcBef>
              <a:spcAft>
                <a:spcPts val="0"/>
              </a:spcAft>
            </a:pPr>
            <a:r>
              <a:rPr sz="3000" spc="-36">
                <a:solidFill>
                  <a:srgbClr val="E6EDF3"/>
                </a:solidFill>
                <a:latin typeface="Geist Medium"/>
              </a:rPr>
              <a:t>Classical causality assumes a background that moved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71194"/>
            <a:ext cx="9441457" cy="5303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AAB3BD"/>
                </a:solidFill>
                <a:latin typeface="Geist"/>
              </a:rPr>
              <a:t>Every classical framework inherits a definition of cause that is two thousand years old, and the static spacetime</a:t>
            </a:r>
          </a:p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AAB3BD"/>
                </a:solidFill>
                <a:latin typeface="Geist"/>
              </a:rPr>
              <a:t>that came with it.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1856994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731520" y="2131314"/>
            <a:ext cx="5236448" cy="3314192"/>
          </a:xfrm>
          <a:prstGeom prst="roundRect">
            <a:avLst>
              <a:gd name="adj" fmla="val 2483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2369058"/>
            <a:ext cx="4760960" cy="1929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CLASSICAL CAUSALITY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" y="2625979"/>
            <a:ext cx="4760960" cy="28117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70"/>
              </a:lnSpc>
              <a:spcBef>
                <a:spcPts val="0"/>
              </a:spcBef>
              <a:spcAft>
                <a:spcPts val="0"/>
              </a:spcAft>
            </a:pPr>
            <a:r>
              <a:rPr sz="1800" spc="-21">
                <a:solidFill>
                  <a:srgbClr val="E6EDF3"/>
                </a:solidFill>
                <a:latin typeface="Geist Medium"/>
              </a:rPr>
              <a:t>Seneca → Pearl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69264" y="3053461"/>
            <a:ext cx="4760960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994409" y="3319399"/>
            <a:ext cx="50292" cy="50292"/>
          </a:xfrm>
          <a:prstGeom prst="ellipse">
            <a:avLst/>
          </a:prstGeom>
          <a:solidFill>
            <a:srgbClr val="6B7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07008" y="3236341"/>
            <a:ext cx="4523216" cy="2437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AAB3BD"/>
                </a:solidFill>
                <a:latin typeface="Geist"/>
              </a:rPr>
              <a:t>Time is a straight line. Cause precedes effect, always.</a:t>
            </a:r>
          </a:p>
        </p:txBody>
      </p:sp>
      <p:sp>
        <p:nvSpPr>
          <p:cNvPr id="12" name="Oval 11"/>
          <p:cNvSpPr/>
          <p:nvPr/>
        </p:nvSpPr>
        <p:spPr>
          <a:xfrm>
            <a:off x="994409" y="3691128"/>
            <a:ext cx="50292" cy="50292"/>
          </a:xfrm>
          <a:prstGeom prst="ellipse">
            <a:avLst/>
          </a:prstGeom>
          <a:solidFill>
            <a:srgbClr val="6B7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7008" y="3608070"/>
            <a:ext cx="4523216" cy="2437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AAB3BD"/>
                </a:solidFill>
                <a:latin typeface="Geist"/>
              </a:rPr>
              <a:t>The causal rules are fixed, and fixed at design time.</a:t>
            </a:r>
          </a:p>
        </p:txBody>
      </p:sp>
      <p:sp>
        <p:nvSpPr>
          <p:cNvPr id="14" name="Oval 13"/>
          <p:cNvSpPr/>
          <p:nvPr/>
        </p:nvSpPr>
        <p:spPr>
          <a:xfrm>
            <a:off x="994409" y="4062857"/>
            <a:ext cx="50292" cy="50292"/>
          </a:xfrm>
          <a:prstGeom prst="ellipse">
            <a:avLst/>
          </a:prstGeom>
          <a:solidFill>
            <a:srgbClr val="6B7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07008" y="3979799"/>
            <a:ext cx="4523216" cy="46913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AAB3BD"/>
                </a:solidFill>
                <a:latin typeface="Geist"/>
              </a:rPr>
              <a:t>Space and time are a static background the model may</a:t>
            </a:r>
          </a:p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AAB3BD"/>
                </a:solidFill>
                <a:latin typeface="Geist"/>
              </a:rPr>
              <a:t>assume.</a:t>
            </a:r>
          </a:p>
        </p:txBody>
      </p:sp>
      <p:sp>
        <p:nvSpPr>
          <p:cNvPr id="16" name="Oval 15"/>
          <p:cNvSpPr/>
          <p:nvPr/>
        </p:nvSpPr>
        <p:spPr>
          <a:xfrm>
            <a:off x="994409" y="4660011"/>
            <a:ext cx="50292" cy="50292"/>
          </a:xfrm>
          <a:prstGeom prst="ellipse">
            <a:avLst/>
          </a:prstGeom>
          <a:solidFill>
            <a:srgbClr val="6B7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07008" y="4576953"/>
            <a:ext cx="4523216" cy="2437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AAB3BD"/>
                </a:solidFill>
                <a:latin typeface="Geist"/>
              </a:rPr>
              <a:t>Structure is enumerated up front, then held constant.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" y="5003546"/>
            <a:ext cx="4760960" cy="2225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08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6B7682"/>
                </a:solidFill>
                <a:latin typeface="Geist"/>
              </a:rPr>
              <a:t>Sound on its own ground. The ground is what moved.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24000" y="2131314"/>
            <a:ext cx="5236448" cy="3314192"/>
          </a:xfrm>
          <a:prstGeom prst="roundRect">
            <a:avLst>
              <a:gd name="adj" fmla="val 2483"/>
            </a:avLst>
          </a:prstGeom>
          <a:solidFill>
            <a:srgbClr val="0B1118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6224000" y="2131314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224000" y="2131314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11295857" y="2131314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1460449" y="2131314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224000" y="5445505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6224000" y="5280914"/>
            <a:ext cx="0" cy="164591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11295857" y="5445505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11460449" y="5280914"/>
            <a:ext cx="0" cy="164591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461744" y="2369058"/>
            <a:ext cx="4760960" cy="1929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DYNAMIC CAUSALITY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61744" y="2625979"/>
            <a:ext cx="4760960" cy="28117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70"/>
              </a:lnSpc>
              <a:spcBef>
                <a:spcPts val="0"/>
              </a:spcBef>
              <a:spcAft>
                <a:spcPts val="0"/>
              </a:spcAft>
            </a:pPr>
            <a:r>
              <a:rPr sz="1800" spc="-21">
                <a:solidFill>
                  <a:srgbClr val="E6EDF3"/>
                </a:solidFill>
                <a:latin typeface="Geist Medium"/>
              </a:rPr>
              <a:t>Whitehead → process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461744" y="3053461"/>
            <a:ext cx="4760961" cy="0"/>
          </a:xfrm>
          <a:prstGeom prst="line">
            <a:avLst/>
          </a:prstGeom>
          <a:ln w="9525">
            <a:solidFill>
              <a:srgbClr val="2A3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6486890" y="3319399"/>
            <a:ext cx="50292" cy="50292"/>
          </a:xfrm>
          <a:prstGeom prst="ellipse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99488" y="3236341"/>
            <a:ext cx="4523216" cy="2437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AAB3BD"/>
                </a:solidFill>
                <a:latin typeface="Geist"/>
              </a:rPr>
              <a:t>Causality is a process of becoming, not a static snapshot.</a:t>
            </a:r>
          </a:p>
        </p:txBody>
      </p:sp>
      <p:sp>
        <p:nvSpPr>
          <p:cNvPr id="33" name="Oval 32"/>
          <p:cNvSpPr/>
          <p:nvPr/>
        </p:nvSpPr>
        <p:spPr>
          <a:xfrm>
            <a:off x="6486890" y="3691128"/>
            <a:ext cx="50292" cy="50292"/>
          </a:xfrm>
          <a:prstGeom prst="ellipse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99488" y="3608070"/>
            <a:ext cx="4523216" cy="2437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AAB3BD"/>
                </a:solidFill>
                <a:latin typeface="Geist"/>
              </a:rPr>
              <a:t>Causal rules may evolve while the system is running.</a:t>
            </a:r>
          </a:p>
        </p:txBody>
      </p:sp>
      <p:sp>
        <p:nvSpPr>
          <p:cNvPr id="35" name="Oval 34"/>
          <p:cNvSpPr/>
          <p:nvPr/>
        </p:nvSpPr>
        <p:spPr>
          <a:xfrm>
            <a:off x="6486890" y="4062857"/>
            <a:ext cx="50292" cy="50292"/>
          </a:xfrm>
          <a:prstGeom prst="ellipse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99488" y="3979799"/>
            <a:ext cx="4523216" cy="2437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AAB3BD"/>
                </a:solidFill>
                <a:latin typeface="Geist"/>
              </a:rPr>
              <a:t>Spacetime is data the model reads, not a frame it assumes.</a:t>
            </a:r>
          </a:p>
        </p:txBody>
      </p:sp>
      <p:sp>
        <p:nvSpPr>
          <p:cNvPr id="37" name="Oval 36"/>
          <p:cNvSpPr/>
          <p:nvPr/>
        </p:nvSpPr>
        <p:spPr>
          <a:xfrm>
            <a:off x="6486890" y="4434586"/>
            <a:ext cx="50292" cy="50292"/>
          </a:xfrm>
          <a:prstGeom prst="ellipse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99488" y="4351528"/>
            <a:ext cx="4523216" cy="2437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AAB3BD"/>
                </a:solidFill>
                <a:latin typeface="Geist"/>
              </a:rPr>
              <a:t>Structure may emerge at runtime and still be governable.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61744" y="4778121"/>
            <a:ext cx="4760960" cy="4267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08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Quantum physics and general relativity broke the fixed</a:t>
            </a:r>
          </a:p>
          <a:p>
            <a:pPr algn="l">
              <a:lnSpc>
                <a:spcPts val="1608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background first.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731520" y="632764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731520" y="6419088"/>
            <a:ext cx="5486400" cy="1532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spc="68">
                <a:solidFill>
                  <a:srgbClr val="6B7682"/>
                </a:solidFill>
                <a:latin typeface="JetBrains Mono"/>
              </a:rPr>
              <a:t>DEEPCAUSALITY · LF AI &amp; DATA · TAC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31649" y="6419088"/>
            <a:ext cx="1828800" cy="1532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spc="68">
                <a:solidFill>
                  <a:srgbClr val="5CD4E1"/>
                </a:solidFill>
                <a:latin typeface="JetBrains Mono Medium"/>
              </a:rPr>
              <a:t>03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84048"/>
            <a:ext cx="10728929" cy="1929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THE AXIOM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929" cy="4488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390"/>
              </a:lnSpc>
              <a:spcBef>
                <a:spcPts val="0"/>
              </a:spcBef>
              <a:spcAft>
                <a:spcPts val="0"/>
              </a:spcAft>
            </a:pPr>
            <a:r>
              <a:rPr sz="3000" spc="-36">
                <a:solidFill>
                  <a:srgbClr val="E6EDF3"/>
                </a:solidFill>
                <a:latin typeface="Geist Medium"/>
              </a:rPr>
              <a:t>One working definition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122605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731520" y="1500378"/>
            <a:ext cx="10728929" cy="1520698"/>
          </a:xfrm>
          <a:prstGeom prst="roundRect">
            <a:avLst>
              <a:gd name="adj" fmla="val 5411"/>
            </a:avLst>
          </a:prstGeom>
          <a:solidFill>
            <a:srgbClr val="121A23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731520" y="1500378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31520" y="1500378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11295857" y="1500378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1460449" y="1500378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31520" y="3021076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731520" y="2856484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11295857" y="3021076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1460449" y="2856484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1738122"/>
            <a:ext cx="10728929" cy="5148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3909"/>
              </a:lnSpc>
              <a:spcBef>
                <a:spcPts val="0"/>
              </a:spcBef>
              <a:spcAft>
                <a:spcPts val="0"/>
              </a:spcAft>
            </a:pPr>
            <a:r>
              <a:rPr sz="3400" spc="15">
                <a:solidFill>
                  <a:srgbClr val="5CD4E1"/>
                </a:solidFill>
                <a:latin typeface="JetBrains Mono Medium"/>
              </a:rPr>
              <a:t>m₂ = m₁ &gt;&gt;= 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2380996"/>
            <a:ext cx="8534369" cy="42062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584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Dynamic causality is the spacetime-agnostic monadic process in which one propagating effect is obtained from</a:t>
            </a:r>
          </a:p>
          <a:p>
            <a:pPr algn="ctr">
              <a:lnSpc>
                <a:spcPts val="1584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another by applying a causal function within the monad.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277108"/>
            <a:ext cx="2517640" cy="2093976"/>
          </a:xfrm>
          <a:prstGeom prst="roundRect">
            <a:avLst>
              <a:gd name="adj" fmla="val 3930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3533139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7552" y="3514851"/>
            <a:ext cx="2023864" cy="2392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450" spc="-15">
                <a:solidFill>
                  <a:srgbClr val="E6EDF3"/>
                </a:solidFill>
                <a:latin typeface="Geist Medium"/>
              </a:rPr>
              <a:t>Monadic process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7552" y="3845559"/>
            <a:ext cx="2023864" cy="108508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An arity-5 carrier: value,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state, context, error, audit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log. The monad laws thread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that bookkeeping through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every step.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68616" y="3277108"/>
            <a:ext cx="2517640" cy="2093976"/>
          </a:xfrm>
          <a:prstGeom prst="roundRect">
            <a:avLst>
              <a:gd name="adj" fmla="val 3930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68616" y="3533139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24648" y="3514851"/>
            <a:ext cx="2023864" cy="46024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450" spc="-15">
                <a:solidFill>
                  <a:srgbClr val="E6EDF3"/>
                </a:solidFill>
                <a:latin typeface="Geist Medium"/>
              </a:rPr>
              <a:t>Functional</a:t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450" spc="-15">
                <a:solidFill>
                  <a:srgbClr val="E6EDF3"/>
                </a:solidFill>
                <a:latin typeface="Geist Medium"/>
              </a:rPr>
              <a:t>dependency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24648" y="4066539"/>
            <a:ext cx="2023864" cy="108508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Each effect is obtained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from the previous one by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applying a causal function f.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Chained, those steps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propagate effect.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5712" y="3277108"/>
            <a:ext cx="2517640" cy="2093976"/>
          </a:xfrm>
          <a:prstGeom prst="roundRect">
            <a:avLst>
              <a:gd name="adj" fmla="val 3930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5712" y="3533139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61744" y="3514851"/>
            <a:ext cx="2023864" cy="2392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450" spc="-15">
                <a:solidFill>
                  <a:srgbClr val="E6EDF3"/>
                </a:solidFill>
                <a:latin typeface="Geist Medium"/>
              </a:rPr>
              <a:t>Spacetime-agnostic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61744" y="3845559"/>
            <a:ext cx="2023864" cy="108508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Time and space are not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built into the relation. They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are inputs the causal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function reads, like any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other.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42809" y="3277108"/>
            <a:ext cx="2517640" cy="2093976"/>
          </a:xfrm>
          <a:prstGeom prst="roundRect">
            <a:avLst>
              <a:gd name="adj" fmla="val 3930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942809" y="3533139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98841" y="3514851"/>
            <a:ext cx="2023864" cy="2392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450" spc="-15">
                <a:solidFill>
                  <a:srgbClr val="E6EDF3"/>
                </a:solidFill>
                <a:latin typeface="Geist Medium"/>
              </a:rPr>
              <a:t>Explicit context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98841" y="3845559"/>
            <a:ext cx="2023864" cy="108508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Anything time-like or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space-like lives in a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queryable hypergraph —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Euclidean, Minkowski,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anything between.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608828"/>
            <a:ext cx="10728929" cy="43281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6B7682"/>
                </a:solidFill>
                <a:latin typeface="Geist"/>
              </a:rPr>
              <a:t>A ripple in a pond. One ripple is an effect; it propagates and produces the next. DeepCausality defines how ripples spread, what each carries, and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6B7682"/>
                </a:solidFill>
                <a:latin typeface="Geist"/>
              </a:rPr>
              <a:t>what happens when the rules for spreading themselves change.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31520" y="632764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31520" y="6419088"/>
            <a:ext cx="5486400" cy="1532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spc="68">
                <a:solidFill>
                  <a:srgbClr val="6B7682"/>
                </a:solidFill>
                <a:latin typeface="JetBrains Mono"/>
              </a:rPr>
              <a:t>DEEPCAUSALITY · LF AI &amp; DATA · TAC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31649" y="6419088"/>
            <a:ext cx="1828800" cy="1532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spc="68">
                <a:solidFill>
                  <a:srgbClr val="5CD4E1"/>
                </a:solidFill>
                <a:latin typeface="JetBrains Mono Medium"/>
              </a:rPr>
              <a:t>04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84048"/>
            <a:ext cx="10728929" cy="1929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CONSEQUENCE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929" cy="4488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390"/>
              </a:lnSpc>
              <a:spcBef>
                <a:spcPts val="0"/>
              </a:spcBef>
              <a:spcAft>
                <a:spcPts val="0"/>
              </a:spcAft>
            </a:pPr>
            <a:r>
              <a:rPr sz="3000" spc="-36">
                <a:solidFill>
                  <a:srgbClr val="E6EDF3"/>
                </a:solidFill>
                <a:latin typeface="Geist Medium"/>
              </a:rPr>
              <a:t>Classical frameworks fall out as special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71194"/>
            <a:ext cx="9441457" cy="2743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AAB3BD"/>
                </a:solidFill>
                <a:latin typeface="Geist"/>
              </a:rPr>
              <a:t>The axiom sits low enough in the stack that we did not have to replace anything.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1600962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731520" y="1875282"/>
            <a:ext cx="5364464" cy="2903347"/>
          </a:xfrm>
          <a:prstGeom prst="roundRect">
            <a:avLst>
              <a:gd name="adj" fmla="val 2834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2113025"/>
            <a:ext cx="4888976" cy="1929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SPECIALIZATIONS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69264" y="2415667"/>
            <a:ext cx="4888976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69264" y="2548255"/>
            <a:ext cx="1298448" cy="1833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spc="80">
                <a:solidFill>
                  <a:srgbClr val="5CD4E1"/>
                </a:solidFill>
                <a:latin typeface="JetBrains Mono Medium"/>
              </a:rPr>
              <a:t>SCM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67712" y="2534539"/>
            <a:ext cx="3590528" cy="2225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08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Pearl structural causal models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69264" y="2857626"/>
            <a:ext cx="4888976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969264" y="2990214"/>
            <a:ext cx="1298448" cy="1833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spc="80">
                <a:solidFill>
                  <a:srgbClr val="5CD4E1"/>
                </a:solidFill>
                <a:latin typeface="JetBrains Mono Medium"/>
              </a:rPr>
              <a:t>DBN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67712" y="2976498"/>
            <a:ext cx="3590528" cy="2225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08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Dynamic Bayesian networks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69264" y="3299586"/>
            <a:ext cx="4888976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69264" y="3432174"/>
            <a:ext cx="1298448" cy="1833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spc="80">
                <a:solidFill>
                  <a:srgbClr val="5CD4E1"/>
                </a:solidFill>
                <a:latin typeface="JetBrains Mono Medium"/>
              </a:rPr>
              <a:t>GRANGER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7712" y="3418458"/>
            <a:ext cx="3590528" cy="2225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08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Granger causality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69264" y="3741546"/>
            <a:ext cx="4888976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969264" y="3874134"/>
            <a:ext cx="1298448" cy="1833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spc="80">
                <a:solidFill>
                  <a:srgbClr val="5CD4E1"/>
                </a:solidFill>
                <a:latin typeface="JetBrains Mono Medium"/>
              </a:rPr>
              <a:t>RUBIN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67712" y="3860418"/>
            <a:ext cx="3590528" cy="2225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08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Rubin causal model, and CATE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69264" y="4183506"/>
            <a:ext cx="4888976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969264" y="4348098"/>
            <a:ext cx="4888976" cy="21107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18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6B7682"/>
                </a:solidFill>
                <a:latin typeface="Geist"/>
              </a:rPr>
              <a:t>Each implemented under examples/classical_causality_examples.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52016" y="1875282"/>
            <a:ext cx="5108432" cy="2903347"/>
          </a:xfrm>
          <a:prstGeom prst="roundRect">
            <a:avLst>
              <a:gd name="adj" fmla="val 2834"/>
            </a:avLst>
          </a:prstGeom>
          <a:solidFill>
            <a:srgbClr val="0B1118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6352016" y="1875282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352016" y="1875282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11295857" y="1875282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460449" y="1875282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352016" y="4778629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6352016" y="4614037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11295857" y="4778629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11460449" y="4614037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589760" y="2113025"/>
            <a:ext cx="4632944" cy="1929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WHAT THE AXIOM ADDS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589760" y="2415667"/>
            <a:ext cx="4632945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589760" y="2548255"/>
            <a:ext cx="1298448" cy="1833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spc="80">
                <a:solidFill>
                  <a:srgbClr val="5CD4E1"/>
                </a:solidFill>
                <a:latin typeface="JetBrains Mono Medium"/>
              </a:rPr>
              <a:t>DYNAMIC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88208" y="2534539"/>
            <a:ext cx="3334496" cy="4267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08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Causal structure changes as the context</a:t>
            </a:r>
          </a:p>
          <a:p>
            <a:pPr algn="l">
              <a:lnSpc>
                <a:spcPts val="1608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changes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589760" y="3061843"/>
            <a:ext cx="4632945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589760" y="3194431"/>
            <a:ext cx="1298448" cy="1833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spc="80">
                <a:solidFill>
                  <a:srgbClr val="5CD4E1"/>
                </a:solidFill>
                <a:latin typeface="JetBrains Mono Medium"/>
              </a:rPr>
              <a:t>ADAPTIVE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88208" y="3180714"/>
            <a:ext cx="3334496" cy="2225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08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Causal rules update themselves at runtime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589760" y="3503802"/>
            <a:ext cx="4632945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589760" y="3636390"/>
            <a:ext cx="1298448" cy="1833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spc="80">
                <a:solidFill>
                  <a:srgbClr val="5CD4E1"/>
                </a:solidFill>
                <a:latin typeface="JetBrains Mono Medium"/>
              </a:rPr>
              <a:t>EMERGENT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88208" y="3622674"/>
            <a:ext cx="3334496" cy="2225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08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Structure not enumerable at design time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589760" y="3945762"/>
            <a:ext cx="4632945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589760" y="4110354"/>
            <a:ext cx="4632944" cy="21107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18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Three modalities a fixed-structure framework cannot express.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31520" y="5034661"/>
            <a:ext cx="10728929" cy="1097874"/>
          </a:xfrm>
          <a:prstGeom prst="roundRect">
            <a:avLst>
              <a:gd name="adj" fmla="val 7495"/>
            </a:avLst>
          </a:prstGeom>
          <a:solidFill>
            <a:srgbClr val="121A23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31520" y="5224124"/>
            <a:ext cx="41148" cy="310896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69264" y="5205836"/>
            <a:ext cx="10253441" cy="27393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13"/>
              </a:lnSpc>
              <a:spcBef>
                <a:spcPts val="0"/>
              </a:spcBef>
              <a:spcAft>
                <a:spcPts val="0"/>
              </a:spcAft>
            </a:pPr>
            <a:r>
              <a:rPr sz="1650" spc="-18">
                <a:solidFill>
                  <a:srgbClr val="E6EDF3"/>
                </a:solidFill>
                <a:latin typeface="Geist Medium"/>
              </a:rPr>
              <a:t>Reasoning is free to be emergent. Actions are not.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9264" y="5552927"/>
            <a:ext cx="10253441" cy="4267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08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Where structure emerges at runtime, static verification of the reasoning stops being possible. Verifiability is restored at the action boundary</a:t>
            </a:r>
          </a:p>
          <a:p>
            <a:pPr algn="l">
              <a:lnSpc>
                <a:spcPts val="1608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instead — the Effect Ethos, on the next slide.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731520" y="632764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731520" y="6419088"/>
            <a:ext cx="5486400" cy="1532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spc="68">
                <a:solidFill>
                  <a:srgbClr val="6B7682"/>
                </a:solidFill>
                <a:latin typeface="JetBrains Mono"/>
              </a:rPr>
              <a:t>DEEPCAUSALITY · LF AI &amp; DATA · TAC 2026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31649" y="6419088"/>
            <a:ext cx="1828800" cy="1532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spc="68">
                <a:solidFill>
                  <a:srgbClr val="5CD4E1"/>
                </a:solidFill>
                <a:latin typeface="JetBrains Mono Medium"/>
              </a:rPr>
              <a:t>05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84048"/>
            <a:ext cx="10728929" cy="1929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PRIMITIVES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929" cy="4488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390"/>
              </a:lnSpc>
              <a:spcBef>
                <a:spcPts val="0"/>
              </a:spcBef>
              <a:spcAft>
                <a:spcPts val="0"/>
              </a:spcAft>
            </a:pPr>
            <a:r>
              <a:rPr sz="3000" spc="-36">
                <a:solidFill>
                  <a:srgbClr val="E6EDF3"/>
                </a:solidFill>
                <a:latin typeface="Geist Medium"/>
              </a:rPr>
              <a:t>Three primitives, and a safety layer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71194"/>
            <a:ext cx="9441457" cy="2743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AAB3BD"/>
                </a:solidFill>
                <a:latin typeface="Geist"/>
              </a:rPr>
              <a:t>Both primitives emit the same carrier, so structural and sequential reasoning compose in one path.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1600962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40080" y="2378202"/>
            <a:ext cx="1901952" cy="822960"/>
          </a:xfrm>
          <a:prstGeom prst="roundRect">
            <a:avLst>
              <a:gd name="adj" fmla="val 8888"/>
            </a:avLst>
          </a:prstGeom>
          <a:solidFill>
            <a:srgbClr val="0B1118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1" y="2579941"/>
            <a:ext cx="1755648" cy="2240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350" spc="-12">
                <a:solidFill>
                  <a:srgbClr val="E6EDF3"/>
                </a:solidFill>
                <a:latin typeface="Geist Medium"/>
              </a:rPr>
              <a:t>Causaloid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5" y="2831401"/>
            <a:ext cx="1737360" cy="18630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323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AAB3BD"/>
                </a:solidFill>
                <a:latin typeface="Geist"/>
              </a:rPr>
              <a:t>structural reasoning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658362"/>
            <a:ext cx="1901952" cy="822960"/>
          </a:xfrm>
          <a:prstGeom prst="roundRect">
            <a:avLst>
              <a:gd name="adj" fmla="val 8888"/>
            </a:avLst>
          </a:prstGeom>
          <a:solidFill>
            <a:srgbClr val="0B1118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1" y="3860101"/>
            <a:ext cx="1755648" cy="2240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350" spc="-12">
                <a:solidFill>
                  <a:srgbClr val="E6EDF3"/>
                </a:solidFill>
                <a:latin typeface="Geist Medium"/>
              </a:rPr>
              <a:t>Causal Monad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5" y="4111561"/>
            <a:ext cx="1737360" cy="18630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323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AAB3BD"/>
                </a:solidFill>
                <a:latin typeface="Geist"/>
              </a:rPr>
              <a:t>sequential reasoning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9504" y="3064002"/>
            <a:ext cx="2121408" cy="731520"/>
          </a:xfrm>
          <a:prstGeom prst="roundRect">
            <a:avLst>
              <a:gd name="adj" fmla="val 50000"/>
            </a:avLst>
          </a:prstGeom>
          <a:solidFill>
            <a:srgbClr val="5CD4E1">
              <a:alpha val="18000"/>
            </a:srgbClr>
          </a:solidFill>
          <a:ln w="9525">
            <a:solidFill>
              <a:srgbClr val="5CD4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89504" y="3326434"/>
            <a:ext cx="2121408" cy="2246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250" spc="20">
                <a:solidFill>
                  <a:srgbClr val="5CD4E1"/>
                </a:solidFill>
                <a:latin typeface="JetBrains Mono Medium"/>
              </a:rPr>
              <a:t>PropagatingEffect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58384" y="3018282"/>
            <a:ext cx="2066543" cy="822960"/>
          </a:xfrm>
          <a:prstGeom prst="roundRect">
            <a:avLst>
              <a:gd name="adj" fmla="val 8888"/>
            </a:avLst>
          </a:prstGeom>
          <a:solidFill>
            <a:srgbClr val="0B1118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31536" y="3227641"/>
            <a:ext cx="1920239" cy="2087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50" spc="-12">
                <a:solidFill>
                  <a:srgbClr val="E6EDF3"/>
                </a:solidFill>
                <a:latin typeface="Geist Medium"/>
              </a:rPr>
              <a:t>Causal State Machine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0680" y="3463861"/>
            <a:ext cx="1901951" cy="18630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323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AAB3BD"/>
                </a:solidFill>
                <a:latin typeface="Geist"/>
              </a:rPr>
              <a:t>infers active states at runtime</a:t>
            </a:r>
          </a:p>
        </p:txBody>
      </p:sp>
      <p:sp>
        <p:nvSpPr>
          <p:cNvPr id="17" name="Diamond 16"/>
          <p:cNvSpPr/>
          <p:nvPr/>
        </p:nvSpPr>
        <p:spPr>
          <a:xfrm>
            <a:off x="7735824" y="2771394"/>
            <a:ext cx="1536192" cy="1316736"/>
          </a:xfrm>
          <a:prstGeom prst="diamond">
            <a:avLst/>
          </a:prstGeom>
          <a:solidFill>
            <a:srgbClr val="0B1118"/>
          </a:solidFill>
          <a:ln w="11430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35824" y="3192018"/>
            <a:ext cx="1536192" cy="21513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E6EDF3"/>
                </a:solidFill>
                <a:latin typeface="Geist Medium"/>
              </a:rPr>
              <a:t>Effect Ethos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35824" y="3407156"/>
            <a:ext cx="1536192" cy="18364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302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AAB3BD"/>
                </a:solidFill>
                <a:latin typeface="Geist"/>
              </a:rPr>
              <a:t>verdict?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46920" y="2222754"/>
            <a:ext cx="1901952" cy="932688"/>
          </a:xfrm>
          <a:prstGeom prst="roundRect">
            <a:avLst>
              <a:gd name="adj" fmla="val 7843"/>
            </a:avLst>
          </a:prstGeom>
          <a:solidFill>
            <a:srgbClr val="0B1118"/>
          </a:solidFill>
          <a:ln w="9525">
            <a:solidFill>
              <a:srgbClr val="5CD4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20072" y="2391473"/>
            <a:ext cx="1755648" cy="1452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000"/>
              </a:lnSpc>
              <a:spcBef>
                <a:spcPts val="0"/>
              </a:spcBef>
              <a:spcAft>
                <a:spcPts val="0"/>
              </a:spcAft>
            </a:pPr>
            <a:r>
              <a:rPr sz="800" spc="64">
                <a:solidFill>
                  <a:srgbClr val="5CD4E1"/>
                </a:solidFill>
                <a:latin typeface="JetBrains Mono Medium"/>
              </a:rPr>
              <a:t>OBLIGATORY / OPTIONAL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20072" y="2582481"/>
            <a:ext cx="1755648" cy="2087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50" spc="-12">
                <a:solidFill>
                  <a:srgbClr val="E6EDF3"/>
                </a:solidFill>
                <a:latin typeface="Geist Medium"/>
              </a:rPr>
              <a:t>Action fires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29216" y="2818701"/>
            <a:ext cx="1737360" cy="18630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323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AAB3BD"/>
                </a:solidFill>
                <a:latin typeface="Geist"/>
              </a:rPr>
              <a:t>+ audit entry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646920" y="3704082"/>
            <a:ext cx="1901952" cy="932688"/>
          </a:xfrm>
          <a:prstGeom prst="roundRect">
            <a:avLst>
              <a:gd name="adj" fmla="val 7843"/>
            </a:avLst>
          </a:prstGeom>
          <a:solidFill>
            <a:srgbClr val="0B1118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20072" y="3872801"/>
            <a:ext cx="1755648" cy="1452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000"/>
              </a:lnSpc>
              <a:spcBef>
                <a:spcPts val="0"/>
              </a:spcBef>
              <a:spcAft>
                <a:spcPts val="0"/>
              </a:spcAft>
            </a:pPr>
            <a:r>
              <a:rPr sz="800" spc="64">
                <a:solidFill>
                  <a:srgbClr val="6B7682"/>
                </a:solidFill>
                <a:latin typeface="JetBrains Mono Medium"/>
              </a:rPr>
              <a:t>IMPERMISSIBLE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20072" y="4063809"/>
            <a:ext cx="1755648" cy="2087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50" spc="-12">
                <a:solidFill>
                  <a:srgbClr val="E6EDF3"/>
                </a:solidFill>
                <a:latin typeface="Geist Medium"/>
              </a:rPr>
              <a:t>Action stopped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29216" y="4300029"/>
            <a:ext cx="1737360" cy="18630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323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AAB3BD"/>
                </a:solidFill>
                <a:latin typeface="Geist"/>
              </a:rPr>
              <a:t>+ reason locked to log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560320" y="2789682"/>
            <a:ext cx="292608" cy="539496"/>
          </a:xfrm>
          <a:prstGeom prst="line">
            <a:avLst/>
          </a:prstGeom>
          <a:ln w="13970">
            <a:solidFill>
              <a:srgbClr val="2A3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2560320" y="3530346"/>
            <a:ext cx="292608" cy="539496"/>
          </a:xfrm>
          <a:prstGeom prst="line">
            <a:avLst/>
          </a:prstGeom>
          <a:ln w="13970">
            <a:solidFill>
              <a:srgbClr val="2A3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029200" y="3429762"/>
            <a:ext cx="292608" cy="0"/>
          </a:xfrm>
          <a:prstGeom prst="line">
            <a:avLst/>
          </a:prstGeom>
          <a:ln w="13970">
            <a:solidFill>
              <a:srgbClr val="2A3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461504" y="3429762"/>
            <a:ext cx="237744" cy="0"/>
          </a:xfrm>
          <a:prstGeom prst="line">
            <a:avLst/>
          </a:prstGeom>
          <a:ln w="13970">
            <a:solidFill>
              <a:srgbClr val="2A3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9290304" y="2771394"/>
            <a:ext cx="320040" cy="457200"/>
          </a:xfrm>
          <a:prstGeom prst="line">
            <a:avLst/>
          </a:prstGeom>
          <a:ln w="13970">
            <a:solidFill>
              <a:srgbClr val="5CD4E1">
                <a:alpha val="80000"/>
              </a:srgbClr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9290304" y="3630930"/>
            <a:ext cx="320040" cy="457200"/>
          </a:xfrm>
          <a:prstGeom prst="line">
            <a:avLst/>
          </a:prstGeom>
          <a:ln w="13970">
            <a:solidFill>
              <a:srgbClr val="2A3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40080" y="4956810"/>
            <a:ext cx="1901952" cy="621792"/>
          </a:xfrm>
          <a:prstGeom prst="roundRect">
            <a:avLst>
              <a:gd name="adj" fmla="val 11764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3231" y="5172456"/>
            <a:ext cx="1755648" cy="2087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50" spc="-12">
                <a:solidFill>
                  <a:srgbClr val="E6EDF3"/>
                </a:solidFill>
                <a:latin typeface="Geist Medium"/>
              </a:rPr>
              <a:t>Context</a:t>
            </a:r>
          </a:p>
        </p:txBody>
      </p:sp>
      <p:cxnSp>
        <p:nvCxnSpPr>
          <p:cNvPr id="36" name="Connector 35"/>
          <p:cNvCxnSpPr/>
          <p:nvPr/>
        </p:nvCxnSpPr>
        <p:spPr>
          <a:xfrm flipV="1">
            <a:off x="1591056" y="4536186"/>
            <a:ext cx="0" cy="402336"/>
          </a:xfrm>
          <a:prstGeom prst="line">
            <a:avLst/>
          </a:prstGeom>
          <a:ln w="12700">
            <a:solidFill>
              <a:srgbClr val="1F2A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2761488" y="4938522"/>
            <a:ext cx="8778240" cy="6675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A typed weighted hypergraph of contextoids carrying data, space, time, spacetime and symbolic payloads, mutated in</a:t>
            </a:r>
          </a:p>
          <a:p>
            <a:pPr algn="l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place across a run. Counterfactuals run as parallel extra-contexts against the same Causaloid, without disturbing the</a:t>
            </a:r>
          </a:p>
          <a:p>
            <a:pPr algn="l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primary one.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731520" y="632764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31520" y="6419088"/>
            <a:ext cx="5486400" cy="1532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spc="68">
                <a:solidFill>
                  <a:srgbClr val="6B7682"/>
                </a:solidFill>
                <a:latin typeface="JetBrains Mono"/>
              </a:rPr>
              <a:t>DEEPCAUSALITY · LF AI &amp; DATA · TAC 2026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31649" y="6419088"/>
            <a:ext cx="1828800" cy="1532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spc="68">
                <a:solidFill>
                  <a:srgbClr val="5CD4E1"/>
                </a:solidFill>
                <a:latin typeface="JetBrains Mono Medium"/>
              </a:rPr>
              <a:t>06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84048"/>
            <a:ext cx="10728929" cy="1929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SUBSTRATE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929" cy="4488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390"/>
              </a:lnSpc>
              <a:spcBef>
                <a:spcPts val="0"/>
              </a:spcBef>
              <a:spcAft>
                <a:spcPts val="0"/>
              </a:spcAft>
            </a:pPr>
            <a:r>
              <a:rPr sz="3000" spc="-36">
                <a:solidFill>
                  <a:srgbClr val="E6EDF3"/>
                </a:solidFill>
                <a:latin typeface="Geist Medium"/>
              </a:rPr>
              <a:t>One categorical interface across every math layer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71194"/>
            <a:ext cx="9441457" cy="2743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AAB3BD"/>
                </a:solidFill>
                <a:latin typeface="Geist"/>
              </a:rPr>
              <a:t>Most scientific stacks force a bridge between domain libraries. Everything here implements one surface.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1600962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731520" y="1875282"/>
            <a:ext cx="6437357" cy="3113913"/>
          </a:xfrm>
          <a:prstGeom prst="roundRect">
            <a:avLst>
              <a:gd name="adj" fmla="val 2642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2113025"/>
            <a:ext cx="5961869" cy="1929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DOMAIN · TYPE · CATEGORICAL ROLE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69264" y="2433955"/>
            <a:ext cx="596186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69264" y="2561971"/>
            <a:ext cx="1444752" cy="2329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E6EDF3"/>
                </a:solidFill>
                <a:latin typeface="Geist Medium"/>
              </a:rPr>
              <a:t>Mechanics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14016" y="2571115"/>
            <a:ext cx="2432304" cy="208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5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CD4E1"/>
                </a:solidFill>
                <a:latin typeface="JetBrains Mono Medium"/>
              </a:rPr>
              <a:t>CausalTensor&lt;T&gt;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2561971"/>
            <a:ext cx="2084813" cy="4145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Functor — map over field</a:t>
            </a:r>
          </a:p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data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69264" y="2872867"/>
            <a:ext cx="596186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969264" y="3000883"/>
            <a:ext cx="1444752" cy="2329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E6EDF3"/>
                </a:solidFill>
                <a:latin typeface="Geist Medium"/>
              </a:rPr>
              <a:t>Algebra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14016" y="3010027"/>
            <a:ext cx="2432304" cy="208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5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CD4E1"/>
                </a:solidFill>
                <a:latin typeface="JetBrains Mono Medium"/>
              </a:rPr>
              <a:t>CausalMultiVector&lt;T&gt;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3000883"/>
            <a:ext cx="2084813" cy="21640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Monad — chain operations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69264" y="3311779"/>
            <a:ext cx="596186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69264" y="3439795"/>
            <a:ext cx="1444752" cy="2329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E6EDF3"/>
                </a:solidFill>
                <a:latin typeface="Geist Medium"/>
              </a:rPr>
              <a:t>Topology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14016" y="3448939"/>
            <a:ext cx="2432304" cy="208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5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CD4E1"/>
                </a:solidFill>
                <a:latin typeface="JetBrains Mono Medium"/>
              </a:rPr>
              <a:t>Manifold&lt;T&gt;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3439795"/>
            <a:ext cx="2084813" cy="4145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Comonad — neighbourhood</a:t>
            </a:r>
          </a:p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analysis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69264" y="3750691"/>
            <a:ext cx="596186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969264" y="3878707"/>
            <a:ext cx="1444752" cy="2329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E6EDF3"/>
                </a:solidFill>
                <a:latin typeface="Geist Medium"/>
              </a:rPr>
              <a:t>Causality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14016" y="3887851"/>
            <a:ext cx="2432304" cy="208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5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CD4E1"/>
                </a:solidFill>
                <a:latin typeface="JetBrains Mono Medium"/>
              </a:rPr>
              <a:t>PropagatingEffect&lt;T&gt;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3878707"/>
            <a:ext cx="2084813" cy="4145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Monad — sequencing plus</a:t>
            </a:r>
          </a:p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log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69264" y="4189603"/>
            <a:ext cx="596186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69264" y="4354195"/>
            <a:ext cx="5961869" cy="41554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64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6B7682"/>
                </a:solidFill>
                <a:latin typeface="Geist"/>
              </a:rPr>
              <a:t>fmap, bind, extend and extract mean the same thing on every container. Arity-5 HKTs</a:t>
            </a:r>
          </a:p>
          <a:p>
            <a:pPr algn="l">
              <a:lnSpc>
                <a:spcPts val="1564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6B7682"/>
                </a:solidFill>
                <a:latin typeface="Geist"/>
              </a:rPr>
              <a:t>via the witness pattern, on stable Rust — monomorphized, no boxing.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24909" y="1875282"/>
            <a:ext cx="4035539" cy="1639443"/>
          </a:xfrm>
          <a:prstGeom prst="roundRect">
            <a:avLst>
              <a:gd name="adj" fmla="val 5019"/>
            </a:avLst>
          </a:prstGeom>
          <a:solidFill>
            <a:srgbClr val="121A23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7424909" y="1875282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424909" y="1875282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11295857" y="1875282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1460449" y="1875282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424909" y="3514725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7424909" y="3350133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11295857" y="3514725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11460449" y="3350133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7662653" y="2113025"/>
            <a:ext cx="3560051" cy="1929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ONE BIND CHAIN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62653" y="2397379"/>
            <a:ext cx="3560051" cy="41503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spc="8">
                <a:solidFill>
                  <a:srgbClr val="5CD4E1"/>
                </a:solidFill>
                <a:latin typeface="JetBrains Mono Medium"/>
              </a:rPr>
              <a:t>Tensor → MultiVector → Manifold →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spc="8">
                <a:solidFill>
                  <a:srgbClr val="5CD4E1"/>
                </a:solidFill>
                <a:latin typeface="JetBrains Mono Medium"/>
              </a:rPr>
              <a:t>PropagatingEffect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53" y="2885567"/>
            <a:ext cx="3560051" cy="4097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1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Relativity, geometric algebra, topology, causal logic</a:t>
            </a:r>
          </a:p>
          <a:p>
            <a:pPr algn="l">
              <a:lnSpc>
                <a:spcPts val="1541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— one chain, no adapters.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424909" y="3734181"/>
            <a:ext cx="4035539" cy="1633982"/>
          </a:xfrm>
          <a:prstGeom prst="roundRect">
            <a:avLst>
              <a:gd name="adj" fmla="val 5036"/>
            </a:avLst>
          </a:prstGeom>
          <a:solidFill>
            <a:srgbClr val="121A23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662653" y="3971925"/>
            <a:ext cx="3560051" cy="1929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PRECISION AS A PARAMETER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62653" y="4256278"/>
            <a:ext cx="3560051" cy="21386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39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5CD4E1"/>
                </a:solidFill>
                <a:latin typeface="JetBrains Mono Medium"/>
              </a:rPr>
              <a:t>pub type FloatType = Float106;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62653" y="4543298"/>
            <a:ext cx="3560051" cy="60540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1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One alias flows through every contraction, rotation,</a:t>
            </a:r>
          </a:p>
          <a:p>
            <a:pPr algn="l">
              <a:lnSpc>
                <a:spcPts val="1541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manifold extension and monadic step. f32, f64, or</a:t>
            </a:r>
          </a:p>
          <a:p>
            <a:pPr algn="l">
              <a:lnSpc>
                <a:spcPts val="1541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106-bit — switched in one line.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5587619"/>
            <a:ext cx="10728929" cy="43281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The GRMHD example runs exactly this: curvature feeds metric selection, which feeds a multivector Lorentz force, which feeds causal stability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analysis — in one chain.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731520" y="632764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731520" y="6419088"/>
            <a:ext cx="5486400" cy="1532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spc="68">
                <a:solidFill>
                  <a:srgbClr val="6B7682"/>
                </a:solidFill>
                <a:latin typeface="JetBrains Mono"/>
              </a:rPr>
              <a:t>DEEPCAUSALITY · LF AI &amp; DATA · TAC 2026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31649" y="6419088"/>
            <a:ext cx="1828800" cy="1532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spc="68">
                <a:solidFill>
                  <a:srgbClr val="5CD4E1"/>
                </a:solidFill>
                <a:latin typeface="JetBrains Mono Medium"/>
              </a:rPr>
              <a:t>07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84048"/>
            <a:ext cx="10728929" cy="1929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THE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929" cy="4488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390"/>
              </a:lnSpc>
              <a:spcBef>
                <a:spcPts val="0"/>
              </a:spcBef>
              <a:spcAft>
                <a:spcPts val="0"/>
              </a:spcAft>
            </a:pPr>
            <a:r>
              <a:rPr sz="3000" spc="-36">
                <a:solidFill>
                  <a:srgbClr val="E6EDF3"/>
                </a:solidFill>
                <a:latin typeface="Geist Medium"/>
              </a:rPr>
              <a:t>One Causal Stack: From Discovery to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71194"/>
            <a:ext cx="9441457" cy="2743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AAB3BD"/>
                </a:solidFill>
                <a:latin typeface="Geist"/>
              </a:rPr>
              <a:t>One uniform substrate for the whole causal lifecycle — not five tools joined by a pipeline.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1600962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896112" y="1875282"/>
            <a:ext cx="10399745" cy="3589020"/>
          </a:xfrm>
          <a:prstGeom prst="roundRect">
            <a:avLst>
              <a:gd name="adj" fmla="val 2547"/>
            </a:avLst>
          </a:prstGeom>
          <a:gradFill rotWithShape="1">
            <a:gsLst>
              <a:gs pos="0">
                <a:srgbClr val="070B10"/>
              </a:gs>
              <a:gs pos="100000">
                <a:srgbClr val="0B1118"/>
              </a:gs>
            </a:gsLst>
            <a:lin scaled="0" ang="16200000"/>
          </a:gra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896112" y="1875282"/>
            <a:ext cx="20116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96112" y="1875282"/>
            <a:ext cx="0" cy="20116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11094689" y="1875282"/>
            <a:ext cx="20116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295857" y="1875282"/>
            <a:ext cx="0" cy="20116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96112" y="5464302"/>
            <a:ext cx="20116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896112" y="5263134"/>
            <a:ext cx="0" cy="20116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11094689" y="5464302"/>
            <a:ext cx="20116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11295857" y="5263134"/>
            <a:ext cx="0" cy="20116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1097280" y="2097024"/>
            <a:ext cx="38404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53312" y="2012441"/>
            <a:ext cx="3108960" cy="1929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DISCOVER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53312" y="2223643"/>
            <a:ext cx="3108960" cy="250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29"/>
              </a:lnSpc>
              <a:spcBef>
                <a:spcPts val="0"/>
              </a:spcBef>
              <a:spcAft>
                <a:spcPts val="0"/>
              </a:spcAft>
            </a:pPr>
            <a:r>
              <a:rPr sz="1550" spc="-19">
                <a:solidFill>
                  <a:srgbClr val="E6EDF3"/>
                </a:solidFill>
                <a:latin typeface="Geist Medium"/>
              </a:rPr>
              <a:t>Causal Discovery Language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45152" y="2030730"/>
            <a:ext cx="4389120" cy="4500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AAB3BD"/>
                </a:solidFill>
                <a:latin typeface="Geist"/>
              </a:rPr>
              <a:t>Surface causal structure straight from raw observational</a:t>
            </a:r>
          </a:p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AAB3BD"/>
                </a:solidFill>
                <a:latin typeface="Geist"/>
              </a:rPr>
              <a:t>data.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7152" y="2049018"/>
            <a:ext cx="1786097" cy="18719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950" spc="25">
                <a:solidFill>
                  <a:srgbClr val="6B7682"/>
                </a:solidFill>
                <a:latin typeface="JetBrains Mono"/>
              </a:rPr>
              <a:t>SURD · MRMR · BRCD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96112" y="2593086"/>
            <a:ext cx="10399745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1097280" y="2814828"/>
            <a:ext cx="38404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53312" y="2730246"/>
            <a:ext cx="3108960" cy="1929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MODEL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53312" y="2941447"/>
            <a:ext cx="3108960" cy="250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29"/>
              </a:lnSpc>
              <a:spcBef>
                <a:spcPts val="0"/>
              </a:spcBef>
              <a:spcAft>
                <a:spcPts val="0"/>
              </a:spcAft>
            </a:pPr>
            <a:r>
              <a:rPr sz="1550" spc="-19">
                <a:solidFill>
                  <a:srgbClr val="E6EDF3"/>
                </a:solidFill>
                <a:latin typeface="Geist Medium"/>
              </a:rPr>
              <a:t>Causaloid &amp; Context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45152" y="2748534"/>
            <a:ext cx="4389120" cy="4500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AAB3BD"/>
                </a:solidFill>
                <a:latin typeface="Geist"/>
              </a:rPr>
              <a:t>Encode that structure as composable causal logic with an</a:t>
            </a:r>
          </a:p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AAB3BD"/>
                </a:solidFill>
                <a:latin typeface="Geist"/>
              </a:rPr>
              <a:t>explicit context.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17152" y="2766822"/>
            <a:ext cx="1786097" cy="35610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950" spc="25">
                <a:solidFill>
                  <a:srgbClr val="6B7682"/>
                </a:solidFill>
                <a:latin typeface="JetBrains Mono"/>
              </a:rPr>
              <a:t>Singleton · collection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950" spc="25">
                <a:solidFill>
                  <a:srgbClr val="6B7682"/>
                </a:solidFill>
                <a:latin typeface="JetBrains Mono"/>
              </a:rPr>
              <a:t>· graph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96112" y="3310890"/>
            <a:ext cx="10399745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1097280" y="3532631"/>
            <a:ext cx="38404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353312" y="3448049"/>
            <a:ext cx="3108960" cy="1929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ACT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53312" y="3659251"/>
            <a:ext cx="3108960" cy="250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29"/>
              </a:lnSpc>
              <a:spcBef>
                <a:spcPts val="0"/>
              </a:spcBef>
              <a:spcAft>
                <a:spcPts val="0"/>
              </a:spcAft>
            </a:pPr>
            <a:r>
              <a:rPr sz="1550" spc="-19">
                <a:solidFill>
                  <a:srgbClr val="E6EDF3"/>
                </a:solidFill>
                <a:latin typeface="Geist Medium"/>
              </a:rPr>
              <a:t>Causal State Machine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45152" y="3466337"/>
            <a:ext cx="4389120" cy="4500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AAB3BD"/>
                </a:solidFill>
                <a:latin typeface="Geist"/>
              </a:rPr>
              <a:t>Turn a causal verdict into an action and interact with the</a:t>
            </a:r>
          </a:p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AAB3BD"/>
                </a:solidFill>
                <a:latin typeface="Geist"/>
              </a:rPr>
              <a:t>outside world.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17152" y="3484625"/>
            <a:ext cx="1786097" cy="35610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950" spc="25">
                <a:solidFill>
                  <a:srgbClr val="6B7682"/>
                </a:solidFill>
                <a:latin typeface="JetBrains Mono"/>
              </a:rPr>
              <a:t>State inferred at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950" spc="25">
                <a:solidFill>
                  <a:srgbClr val="6B7682"/>
                </a:solidFill>
                <a:latin typeface="JetBrains Mono"/>
              </a:rPr>
              <a:t>runtime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96112" y="4028693"/>
            <a:ext cx="10399745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1097280" y="4250435"/>
            <a:ext cx="38404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53312" y="4165854"/>
            <a:ext cx="3108960" cy="1929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GOVERN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53312" y="4377055"/>
            <a:ext cx="3108960" cy="250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29"/>
              </a:lnSpc>
              <a:spcBef>
                <a:spcPts val="0"/>
              </a:spcBef>
              <a:spcAft>
                <a:spcPts val="0"/>
              </a:spcAft>
            </a:pPr>
            <a:r>
              <a:rPr sz="1550" spc="-19">
                <a:solidFill>
                  <a:srgbClr val="E6EDF3"/>
                </a:solidFill>
                <a:latin typeface="Geist Medium"/>
              </a:rPr>
              <a:t>Effect Ethos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45152" y="4184141"/>
            <a:ext cx="4389120" cy="2341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AAB3BD"/>
                </a:solidFill>
                <a:latin typeface="Geist"/>
              </a:rPr>
              <a:t>Verify deterministically what is allowed to happen.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17152" y="4202430"/>
            <a:ext cx="1786097" cy="35610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950" spc="25">
                <a:solidFill>
                  <a:srgbClr val="6B7682"/>
                </a:solidFill>
                <a:latin typeface="JetBrains Mono"/>
              </a:rPr>
              <a:t>Defeasible deontic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950" spc="25">
                <a:solidFill>
                  <a:srgbClr val="6B7682"/>
                </a:solidFill>
                <a:latin typeface="JetBrains Mono"/>
              </a:rPr>
              <a:t>calculus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896112" y="4746498"/>
            <a:ext cx="10399745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1097280" y="4968239"/>
            <a:ext cx="38404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353312" y="4883658"/>
            <a:ext cx="3108960" cy="1929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RUN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53312" y="5094859"/>
            <a:ext cx="3108960" cy="250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29"/>
              </a:lnSpc>
              <a:spcBef>
                <a:spcPts val="0"/>
              </a:spcBef>
              <a:spcAft>
                <a:spcPts val="0"/>
              </a:spcAft>
            </a:pPr>
            <a:r>
              <a:rPr sz="1550" spc="-19">
                <a:solidFill>
                  <a:srgbClr val="E6EDF3"/>
                </a:solidFill>
                <a:latin typeface="Geist Medium"/>
              </a:rPr>
              <a:t>Async Runtime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45152" y="4901946"/>
            <a:ext cx="4389120" cy="2341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AAB3BD"/>
                </a:solidFill>
                <a:latin typeface="Geist"/>
              </a:rPr>
              <a:t>Run the model thread-safe and asynchronously at scale.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17152" y="4920234"/>
            <a:ext cx="1786097" cy="35610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950" spc="25">
                <a:solidFill>
                  <a:srgbClr val="6B7682"/>
                </a:solidFill>
                <a:latin typeface="JetBrains Mono"/>
              </a:rPr>
              <a:t>Embeds in any Tokio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950" spc="25">
                <a:solidFill>
                  <a:srgbClr val="6B7682"/>
                </a:solidFill>
                <a:latin typeface="JetBrains Mono"/>
              </a:rPr>
              <a:t>handler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" y="5683758"/>
            <a:ext cx="10728929" cy="43281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Every stage exchanges work through the same propagating effect, and the audit log accumulates across all five. You can enter at any layer and leave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at any layer.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731520" y="632764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31520" y="6419088"/>
            <a:ext cx="5486400" cy="1532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spc="68">
                <a:solidFill>
                  <a:srgbClr val="6B7682"/>
                </a:solidFill>
                <a:latin typeface="JetBrains Mono"/>
              </a:rPr>
              <a:t>DEEPCAUSALITY · LF AI &amp; DATA · TAC 2026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31649" y="6419088"/>
            <a:ext cx="1828800" cy="1532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spc="68">
                <a:solidFill>
                  <a:srgbClr val="5CD4E1"/>
                </a:solidFill>
                <a:latin typeface="JetBrains Mono Medium"/>
              </a:rPr>
              <a:t>08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84048"/>
            <a:ext cx="10728929" cy="1929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DOWNSTREAM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929" cy="4488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390"/>
              </a:lnSpc>
              <a:spcBef>
                <a:spcPts val="0"/>
              </a:spcBef>
              <a:spcAft>
                <a:spcPts val="0"/>
              </a:spcAft>
            </a:pPr>
            <a:r>
              <a:rPr sz="3000" spc="-36">
                <a:solidFill>
                  <a:srgbClr val="E6EDF3"/>
                </a:solidFill>
                <a:latin typeface="Geist Medium"/>
              </a:rPr>
              <a:t>DeepCausality CFD — counterfactual fluid dynamics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71194"/>
            <a:ext cx="9441457" cy="2743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AAB3BD"/>
                </a:solidFill>
                <a:latin typeface="Geist"/>
              </a:rPr>
              <a:t>Released August 2026. Four of the six NASA CFD Vision 2030 grand challenges informed its design.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1600962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731520" y="1875282"/>
            <a:ext cx="5847266" cy="3557778"/>
          </a:xfrm>
          <a:prstGeom prst="roundRect">
            <a:avLst>
              <a:gd name="adj" fmla="val 2313"/>
            </a:avLst>
          </a:prstGeom>
          <a:solidFill>
            <a:srgbClr val="0B1118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731520" y="1875282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731520" y="1875282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6414194" y="1875282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578786" y="1875282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31520" y="5433060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31520" y="5268468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6414194" y="5433060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6578786" y="5268468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69264" y="2113025"/>
            <a:ext cx="5371778" cy="1929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WHAT IT DOES</a:t>
            </a:r>
          </a:p>
        </p:txBody>
      </p:sp>
      <p:sp>
        <p:nvSpPr>
          <p:cNvPr id="16" name="Oval 15"/>
          <p:cNvSpPr/>
          <p:nvPr/>
        </p:nvSpPr>
        <p:spPr>
          <a:xfrm>
            <a:off x="994409" y="2511221"/>
            <a:ext cx="50292" cy="50292"/>
          </a:xfrm>
          <a:prstGeom prst="ellipse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07008" y="2433955"/>
            <a:ext cx="5134034" cy="23164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E6EDF3"/>
                </a:solidFill>
                <a:latin typeface="Geist Medium"/>
              </a:rPr>
              <a:t>Couples disciplines.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8" y="2647315"/>
            <a:ext cx="5134034" cy="44500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Flow, plasma chemistry, navigation and control march in one typed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process — not four codes exchanging files.</a:t>
            </a:r>
          </a:p>
        </p:txBody>
      </p:sp>
      <p:sp>
        <p:nvSpPr>
          <p:cNvPr id="19" name="Oval 18"/>
          <p:cNvSpPr/>
          <p:nvPr/>
        </p:nvSpPr>
        <p:spPr>
          <a:xfrm>
            <a:off x="994409" y="3297605"/>
            <a:ext cx="50292" cy="50292"/>
          </a:xfrm>
          <a:prstGeom prst="ellipse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7008" y="3220339"/>
            <a:ext cx="5134034" cy="23164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E6EDF3"/>
                </a:solidFill>
                <a:latin typeface="Geist Medium"/>
              </a:rPr>
              <a:t>Forks the running simulation.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07008" y="3433699"/>
            <a:ext cx="5134034" cy="44500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March until a predicate fires, then fork the paused state in O(1) and fly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every branch concurrently.</a:t>
            </a:r>
          </a:p>
        </p:txBody>
      </p:sp>
      <p:sp>
        <p:nvSpPr>
          <p:cNvPr id="22" name="Oval 21"/>
          <p:cNvSpPr/>
          <p:nvPr/>
        </p:nvSpPr>
        <p:spPr>
          <a:xfrm>
            <a:off x="994409" y="4083989"/>
            <a:ext cx="50292" cy="50292"/>
          </a:xfrm>
          <a:prstGeom prst="ellipse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07008" y="4006723"/>
            <a:ext cx="5134034" cy="23164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E6EDF3"/>
                </a:solidFill>
                <a:latin typeface="Geist Medium"/>
              </a:rPr>
              <a:t>Carries its uncertainty.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07008" y="4220083"/>
            <a:ext cx="5134034" cy="44500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Ensembles and gates reduce a family of alternate worlds to one scored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verdict.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" y="4811395"/>
            <a:ext cx="5371778" cy="21107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18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6B7682"/>
                </a:solidFill>
                <a:latin typeface="Geist"/>
              </a:rPr>
              <a:t>cfd.deepcausality.com documents every solver, boundary and gate.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34818" y="1875282"/>
            <a:ext cx="4625630" cy="3557778"/>
          </a:xfrm>
          <a:prstGeom prst="roundRect">
            <a:avLst>
              <a:gd name="adj" fmla="val 2313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72562" y="2113025"/>
            <a:ext cx="4150142" cy="1929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MEASURED, NOT ASSERTED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072562" y="2415667"/>
            <a:ext cx="4150143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072562" y="2539111"/>
            <a:ext cx="1207008" cy="1833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spc="80">
                <a:solidFill>
                  <a:srgbClr val="5CD4E1"/>
                </a:solidFill>
                <a:latin typeface="JetBrains Mono Medium"/>
              </a:rPr>
              <a:t>SOD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9570" y="2525395"/>
            <a:ext cx="2943134" cy="2139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1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L1 ≤ 0.027 vs the exact Riemann solution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072562" y="2830830"/>
            <a:ext cx="4150143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7072562" y="2954274"/>
            <a:ext cx="1207008" cy="1833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spc="80">
                <a:solidFill>
                  <a:srgbClr val="5CD4E1"/>
                </a:solidFill>
                <a:latin typeface="JetBrains Mono Medium"/>
              </a:rPr>
              <a:t>CAVITY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9570" y="2940558"/>
            <a:ext cx="2943134" cy="4097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1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Ghia lid-driven cavity; graded MMS at</a:t>
            </a:r>
          </a:p>
          <a:p>
            <a:pPr algn="l">
              <a:lnSpc>
                <a:spcPts val="1541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order 2.00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072562" y="3441700"/>
            <a:ext cx="4150143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7072562" y="3565144"/>
            <a:ext cx="1207008" cy="1833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spc="80">
                <a:solidFill>
                  <a:srgbClr val="5CD4E1"/>
                </a:solidFill>
                <a:latin typeface="JetBrains Mono Medium"/>
              </a:rPr>
              <a:t>RAM-C II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9570" y="3551428"/>
            <a:ext cx="2943134" cy="4097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1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Peak electron density within ~2× of the</a:t>
            </a:r>
          </a:p>
          <a:p>
            <a:pPr algn="l">
              <a:lnSpc>
                <a:spcPts val="1541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flight anchor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072562" y="4052570"/>
            <a:ext cx="4150143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7072562" y="4176014"/>
            <a:ext cx="1207008" cy="1833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spc="80">
                <a:solidFill>
                  <a:srgbClr val="5CD4E1"/>
                </a:solidFill>
                <a:latin typeface="JetBrains Mono Medium"/>
              </a:rPr>
              <a:t>FORK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9570" y="4162298"/>
            <a:ext cx="2943134" cy="4097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1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Mid-burn fork departs frozen-drag by</a:t>
            </a:r>
          </a:p>
          <a:p>
            <a:pPr algn="l">
              <a:lnSpc>
                <a:spcPts val="1541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139.4 m/s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7072562" y="4663440"/>
            <a:ext cx="4150143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7072562" y="4809744"/>
            <a:ext cx="4150142" cy="4038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18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6B7682"/>
                </a:solidFill>
                <a:latin typeface="Geist"/>
              </a:rPr>
              <a:t>Every roadmap item ships with its measurement or its open</a:t>
            </a:r>
          </a:p>
          <a:p>
            <a:pPr algn="l">
              <a:lnSpc>
                <a:spcPts val="1518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6B7682"/>
                </a:solidFill>
                <a:latin typeface="Geist"/>
              </a:rPr>
              <a:t>question.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5670804"/>
            <a:ext cx="10728929" cy="1960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000" spc="30">
                <a:solidFill>
                  <a:srgbClr val="6B7682"/>
                </a:solidFill>
                <a:latin typeface="JetBrains Mono"/>
              </a:rPr>
              <a:t>cfd.deepcausality.com · every roadmap item states its measurement or its open question · two non-goals stated with their reasons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731520" y="632764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731520" y="6419088"/>
            <a:ext cx="5486400" cy="1532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spc="68">
                <a:solidFill>
                  <a:srgbClr val="6B7682"/>
                </a:solidFill>
                <a:latin typeface="JetBrains Mono"/>
              </a:rPr>
              <a:t>DEEPCAUSALITY · LF AI &amp; DATA · TAC 2026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31649" y="6419088"/>
            <a:ext cx="1828800" cy="1532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spc="68">
                <a:solidFill>
                  <a:srgbClr val="5CD4E1"/>
                </a:solidFill>
                <a:latin typeface="JetBrains Mono Medium"/>
              </a:rPr>
              <a:t>09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84048"/>
            <a:ext cx="10728929" cy="1929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DOWNSTREAM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929" cy="4488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390"/>
              </a:lnSpc>
              <a:spcBef>
                <a:spcPts val="0"/>
              </a:spcBef>
              <a:spcAft>
                <a:spcPts val="0"/>
              </a:spcAft>
            </a:pPr>
            <a:r>
              <a:rPr sz="3000" spc="-36">
                <a:solidFill>
                  <a:srgbClr val="E6EDF3"/>
                </a:solidFill>
                <a:latin typeface="Geist Medium"/>
              </a:rPr>
              <a:t>DeepCausality Quantum — quantum causal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71194"/>
            <a:ext cx="9441457" cy="2743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AAB3BD"/>
                </a:solidFill>
                <a:latin typeface="Geist"/>
              </a:rPr>
              <a:t>The same axiom, with quantum channels in place of conditional-probability tables.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1600962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731520" y="1875282"/>
            <a:ext cx="10728929" cy="1324356"/>
          </a:xfrm>
          <a:prstGeom prst="roundRect">
            <a:avLst>
              <a:gd name="adj" fmla="val 6214"/>
            </a:avLst>
          </a:prstGeom>
          <a:solidFill>
            <a:srgbClr val="121A23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731520" y="1875282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731520" y="1875282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11295857" y="1875282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460449" y="1875282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31520" y="3199638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31520" y="3035045"/>
            <a:ext cx="0" cy="164593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11295857" y="3199638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11460449" y="3035045"/>
            <a:ext cx="0" cy="164593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2113025"/>
            <a:ext cx="10728929" cy="3535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spc="15">
                <a:solidFill>
                  <a:srgbClr val="5CD4E1"/>
                </a:solidFill>
                <a:latin typeface="JetBrains Mono Medium"/>
              </a:rPr>
              <a:t>σ = ∏_i ρ_{A_i | Pa(A_i)}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2576322"/>
            <a:ext cx="8351489" cy="4038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518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A classical causal model factorizes a joint distribution over its graph. A quantum causal model factorizes a process</a:t>
            </a:r>
          </a:p>
          <a:p>
            <a:pPr algn="ctr">
              <a:lnSpc>
                <a:spcPts val="1518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operator into per-node Choi–Jamiołkowski operators.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455670"/>
            <a:ext cx="3417813" cy="2033016"/>
          </a:xfrm>
          <a:prstGeom prst="roundRect">
            <a:avLst>
              <a:gd name="adj" fmla="val 4047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3711701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7552" y="3693414"/>
            <a:ext cx="2924037" cy="2392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450" spc="-15">
                <a:solidFill>
                  <a:srgbClr val="E6EDF3"/>
                </a:solidFill>
                <a:latin typeface="Geist Medium"/>
              </a:rPr>
              <a:t>Freeze-time validation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" y="4024121"/>
            <a:ext cx="2924037" cy="124510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09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Not every product of operators is a legal</a:t>
            </a:r>
          </a:p>
          <a:p>
            <a:pPr algn="l">
              <a:lnSpc>
                <a:spcPts val="1609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model. The quantum Markov condition —</a:t>
            </a:r>
          </a:p>
          <a:p>
            <a:pPr algn="l">
              <a:lnSpc>
                <a:spcPts val="1609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factors with intersecting Hilbert support</a:t>
            </a:r>
          </a:p>
          <a:p>
            <a:pPr algn="l">
              <a:lnSpc>
                <a:spcPts val="1609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must pairwise commute — is a gate at the</a:t>
            </a:r>
          </a:p>
          <a:p>
            <a:pPr algn="l">
              <a:lnSpc>
                <a:spcPts val="1609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graph freeze boundary. It never accepts a</a:t>
            </a:r>
          </a:p>
          <a:p>
            <a:pPr algn="l">
              <a:lnSpc>
                <a:spcPts val="1609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non-commuting model.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87077" y="3455670"/>
            <a:ext cx="3417813" cy="2033016"/>
          </a:xfrm>
          <a:prstGeom prst="roundRect">
            <a:avLst>
              <a:gd name="adj" fmla="val 4047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87077" y="3711701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43109" y="3693414"/>
            <a:ext cx="2924037" cy="2392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450" spc="-15">
                <a:solidFill>
                  <a:srgbClr val="E6EDF3"/>
                </a:solidFill>
                <a:latin typeface="Geist Medium"/>
              </a:rPr>
              <a:t>Orthomodular verdict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43109" y="4024121"/>
            <a:ext cx="2924037" cy="104063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09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The Birkhoff–von Neumann projection</a:t>
            </a:r>
          </a:p>
          <a:p>
            <a:pPr algn="l">
              <a:lnSpc>
                <a:spcPts val="1609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lattice carries the Verdict, with Born-rule</a:t>
            </a:r>
          </a:p>
          <a:p>
            <a:pPr algn="l">
              <a:lnSpc>
                <a:spcPts val="1609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read-out to a probability. Quantum logic is</a:t>
            </a:r>
          </a:p>
          <a:p>
            <a:pPr algn="l">
              <a:lnSpc>
                <a:spcPts val="1609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not bolted on beside the causal engine; it</a:t>
            </a:r>
          </a:p>
          <a:p>
            <a:pPr algn="l">
              <a:lnSpc>
                <a:spcPts val="1609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is a verdict type inside it.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2635" y="3455670"/>
            <a:ext cx="3417813" cy="2033016"/>
          </a:xfrm>
          <a:prstGeom prst="roundRect">
            <a:avLst>
              <a:gd name="adj" fmla="val 4047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42635" y="3711701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98667" y="3693414"/>
            <a:ext cx="2924037" cy="2392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450" spc="-15">
                <a:solidFill>
                  <a:srgbClr val="E6EDF3"/>
                </a:solidFill>
                <a:latin typeface="Geist Medium"/>
              </a:rPr>
              <a:t>Two modalities, kept apart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98667" y="4024121"/>
            <a:ext cx="2924037" cy="104063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09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A verifiable default path backed by Lean</a:t>
            </a:r>
          </a:p>
          <a:p>
            <a:pPr algn="l">
              <a:lnSpc>
                <a:spcPts val="1609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proofs, and a physical-QPU seam behind a</a:t>
            </a:r>
          </a:p>
          <a:p>
            <a:pPr algn="l">
              <a:lnSpc>
                <a:spcPts val="1609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feature flag. Nesting is deliberately not</a:t>
            </a:r>
          </a:p>
          <a:p>
            <a:pPr algn="l">
              <a:lnSpc>
                <a:spcPts val="1609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offered: it is unestablished, and we would</a:t>
            </a:r>
          </a:p>
          <a:p>
            <a:pPr algn="l">
              <a:lnSpc>
                <a:spcPts val="1609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rather ship the flat model honestly.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708142"/>
            <a:ext cx="10728929" cy="41554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64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6B7682"/>
                </a:solidFill>
                <a:latin typeface="Geist"/>
              </a:rPr>
              <a:t>Gate kernels — Born probability, expectation value, commutator, fidelity — each wrap into a PropagatingEffect, so quantum mechanics enters the same</a:t>
            </a:r>
          </a:p>
          <a:p>
            <a:pPr algn="l">
              <a:lnSpc>
                <a:spcPts val="1564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6B7682"/>
                </a:solidFill>
                <a:latin typeface="Geist"/>
              </a:rPr>
              <a:t>causal chain as everything else. R. Lorenz (2022), Definition 3.3.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31520" y="632764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731520" y="6419088"/>
            <a:ext cx="5486400" cy="1532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spc="68">
                <a:solidFill>
                  <a:srgbClr val="6B7682"/>
                </a:solidFill>
                <a:latin typeface="JetBrains Mono"/>
              </a:rPr>
              <a:t>DEEPCAUSALITY · LF AI &amp; DATA · TAC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31649" y="6419088"/>
            <a:ext cx="1828800" cy="1532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spc="68">
                <a:solidFill>
                  <a:srgbClr val="5CD4E1"/>
                </a:solidFill>
                <a:latin typeface="JetBrains Mono Medium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84048"/>
            <a:ext cx="10728929" cy="1929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CASE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929" cy="4488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390"/>
              </a:lnSpc>
              <a:spcBef>
                <a:spcPts val="0"/>
              </a:spcBef>
              <a:spcAft>
                <a:spcPts val="0"/>
              </a:spcAft>
            </a:pPr>
            <a:r>
              <a:rPr sz="3000" spc="-36">
                <a:solidFill>
                  <a:srgbClr val="E6EDF3"/>
                </a:solidFill>
                <a:latin typeface="Geist Medium"/>
              </a:rPr>
              <a:t>DeepCausality at United Airlines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71194"/>
            <a:ext cx="9441457" cy="2743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AAB3BD"/>
                </a:solidFill>
                <a:latin typeface="Geist"/>
              </a:rPr>
              <a:t>via the Service Radar integration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1600962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731520" y="1875282"/>
            <a:ext cx="10728929" cy="4269486"/>
          </a:xfrm>
          <a:prstGeom prst="roundRect">
            <a:avLst>
              <a:gd name="adj" fmla="val 1927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731520" y="1875282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731520" y="1875282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11295857" y="1875282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460449" y="1875282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31520" y="6144768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31520" y="5980176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11295857" y="6144768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11460449" y="5980176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3735704"/>
            <a:ext cx="10728929" cy="2329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1300" spc="100">
                <a:solidFill>
                  <a:srgbClr val="6B7682"/>
                </a:solidFill>
                <a:latin typeface="JetBrains Mono"/>
              </a:rPr>
              <a:t>[ content to follow ]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907264" y="4192904"/>
            <a:ext cx="2377440" cy="0"/>
          </a:xfrm>
          <a:prstGeom prst="line">
            <a:avLst/>
          </a:prstGeom>
          <a:ln w="9525">
            <a:solidFill>
              <a:srgbClr val="2A3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478764" y="4170044"/>
            <a:ext cx="45720" cy="45720"/>
          </a:xfrm>
          <a:prstGeom prst="ellipse">
            <a:avLst/>
          </a:prstGeom>
          <a:solidFill>
            <a:srgbClr val="5CD4E1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073124" y="4170044"/>
            <a:ext cx="45720" cy="45720"/>
          </a:xfrm>
          <a:prstGeom prst="ellipse">
            <a:avLst/>
          </a:prstGeom>
          <a:solidFill>
            <a:srgbClr val="5CD4E1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667484" y="4170044"/>
            <a:ext cx="45720" cy="45720"/>
          </a:xfrm>
          <a:prstGeom prst="ellipse">
            <a:avLst/>
          </a:prstGeom>
          <a:solidFill>
            <a:srgbClr val="5CD4E1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731520" y="632764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1520" y="6419088"/>
            <a:ext cx="5486400" cy="1532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spc="68">
                <a:solidFill>
                  <a:srgbClr val="6B7682"/>
                </a:solidFill>
                <a:latin typeface="JetBrains Mono"/>
              </a:rPr>
              <a:t>DEEPCAUSALITY · LF AI &amp; DATA · TAC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31649" y="6419088"/>
            <a:ext cx="1828800" cy="1532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spc="68">
                <a:solidFill>
                  <a:srgbClr val="5CD4E1"/>
                </a:solidFill>
                <a:latin typeface="JetBrains Mono Medium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84048"/>
            <a:ext cx="10728929" cy="1929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929" cy="4488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390"/>
              </a:lnSpc>
              <a:spcBef>
                <a:spcPts val="0"/>
              </a:spcBef>
              <a:spcAft>
                <a:spcPts val="0"/>
              </a:spcAft>
            </a:pPr>
            <a:r>
              <a:rPr sz="3000" spc="-36">
                <a:solidFill>
                  <a:srgbClr val="E6EDF3"/>
                </a:solidFill>
                <a:latin typeface="Geist Medium"/>
              </a:rPr>
              <a:t>Laws proved in Lean, checked again in 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71194"/>
            <a:ext cx="9441457" cy="2743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AAB3BD"/>
                </a:solidFill>
                <a:latin typeface="Geist"/>
              </a:rPr>
              <a:t>No tool turns a Lean proof into a Rust test, so each property is stated twice and bound by a shared id.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1600962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731520" y="1875282"/>
            <a:ext cx="3417813" cy="1522501"/>
          </a:xfrm>
          <a:prstGeom prst="roundRect">
            <a:avLst>
              <a:gd name="adj" fmla="val 5405"/>
            </a:avLst>
          </a:prstGeom>
          <a:solidFill>
            <a:srgbClr val="0B1118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2065477"/>
            <a:ext cx="2942325" cy="4500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</a:pPr>
            <a:r>
              <a:rPr sz="3400" spc="-40">
                <a:solidFill>
                  <a:srgbClr val="5CD4E1"/>
                </a:solidFill>
                <a:latin typeface="Geist Medium"/>
              </a:rPr>
              <a:t>183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" y="2607005"/>
            <a:ext cx="2942325" cy="1751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950" spc="76">
                <a:solidFill>
                  <a:srgbClr val="E6EDF3"/>
                </a:solidFill>
                <a:latin typeface="JetBrains Mono Medium"/>
              </a:rPr>
              <a:t>THEOREMS PROVED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" y="2827858"/>
            <a:ext cx="2942325" cy="208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5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Lean 4 against Mathlib, pinned at v4.32.0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7077" y="1875282"/>
            <a:ext cx="3417813" cy="1522501"/>
          </a:xfrm>
          <a:prstGeom prst="roundRect">
            <a:avLst>
              <a:gd name="adj" fmla="val 5405"/>
            </a:avLst>
          </a:prstGeom>
          <a:solidFill>
            <a:srgbClr val="0B1118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24821" y="2065477"/>
            <a:ext cx="2942325" cy="4500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</a:pPr>
            <a:r>
              <a:rPr sz="3400" spc="-40">
                <a:solidFill>
                  <a:srgbClr val="5CD4E1"/>
                </a:solidFill>
                <a:latin typeface="Geist Medium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4821" y="2607005"/>
            <a:ext cx="2942325" cy="1751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950" spc="76">
                <a:solidFill>
                  <a:srgbClr val="E6EDF3"/>
                </a:solidFill>
                <a:latin typeface="JetBrains Mono Medium"/>
              </a:rPr>
              <a:t>SORRY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4821" y="2827858"/>
            <a:ext cx="2942325" cy="208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5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No unproved statement in the gated tree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2635" y="1875282"/>
            <a:ext cx="3417813" cy="1522501"/>
          </a:xfrm>
          <a:prstGeom prst="roundRect">
            <a:avLst>
              <a:gd name="adj" fmla="val 5405"/>
            </a:avLst>
          </a:prstGeom>
          <a:solidFill>
            <a:srgbClr val="0B1118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80379" y="2065477"/>
            <a:ext cx="2942325" cy="4500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</a:pPr>
            <a:r>
              <a:rPr sz="3400" spc="-40">
                <a:solidFill>
                  <a:srgbClr val="5CD4E1"/>
                </a:solidFill>
                <a:latin typeface="Geist Medium"/>
              </a:rPr>
              <a:t>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80379" y="2607005"/>
            <a:ext cx="2942325" cy="1751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950" spc="76">
                <a:solidFill>
                  <a:srgbClr val="E6EDF3"/>
                </a:solidFill>
                <a:latin typeface="JetBrains Mono Medium"/>
              </a:rPr>
              <a:t>KANI HARNESSES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0379" y="2827858"/>
            <a:ext cx="2942325" cy="398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5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Bounded model checking on the core</a:t>
            </a:r>
          </a:p>
          <a:p>
            <a:pPr algn="l">
              <a:lnSpc>
                <a:spcPts val="1495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carrier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653815"/>
            <a:ext cx="5579043" cy="2463292"/>
          </a:xfrm>
          <a:prstGeom prst="roundRect">
            <a:avLst>
              <a:gd name="adj" fmla="val 3340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9264" y="3891559"/>
            <a:ext cx="5103555" cy="1929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THE LAYERS UNDER PROOF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" y="4194200"/>
            <a:ext cx="5103555" cy="4373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100" spc="12">
                <a:solidFill>
                  <a:srgbClr val="5CD4E1"/>
                </a:solidFill>
                <a:latin typeface="JetBrains Mono Medium"/>
              </a:rPr>
              <a:t>Num · Algebra · Haft · Core · Complex &amp; Dual · Rational ·</a:t>
            </a:r>
          </a:p>
          <a:p>
            <a:pPr algn="l"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100" spc="12">
                <a:solidFill>
                  <a:srgbClr val="5CD4E1"/>
                </a:solidFill>
                <a:latin typeface="JetBrains Mono Medium"/>
              </a:rPr>
              <a:t>Topology · Quantum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69264" y="4777892"/>
            <a:ext cx="5103555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69264" y="4942484"/>
            <a:ext cx="5103555" cy="8361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09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Lean proves the statement — deductive, unbounded, higher-order. A Rust</a:t>
            </a:r>
          </a:p>
          <a:p>
            <a:pPr algn="l">
              <a:lnSpc>
                <a:spcPts val="1609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witness checks it independently: a law-test for the algebraic layers, a</a:t>
            </a:r>
          </a:p>
          <a:p>
            <a:pPr algn="l">
              <a:lnSpc>
                <a:spcPts val="1609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Kani harness for the core carrier. The monad laws, the Kleisli category</a:t>
            </a:r>
          </a:p>
          <a:p>
            <a:pPr algn="l">
              <a:lnSpc>
                <a:spcPts val="1609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laws and the causaloid fixpoint sit in here.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66595" y="3653815"/>
            <a:ext cx="4893854" cy="2463292"/>
          </a:xfrm>
          <a:prstGeom prst="roundRect">
            <a:avLst>
              <a:gd name="adj" fmla="val 3340"/>
            </a:avLst>
          </a:prstGeom>
          <a:solidFill>
            <a:srgbClr val="121A23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6566595" y="3653815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566595" y="3653815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11295857" y="3653815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1460449" y="3653815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566595" y="6117107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6566595" y="5952515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11295857" y="6117107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11460449" y="5952515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804339" y="3891559"/>
            <a:ext cx="4418366" cy="1929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E3B341"/>
                </a:solidFill>
                <a:latin typeface="JetBrains Mono Medium"/>
              </a:rPr>
              <a:t>THE EDGES WE PUBLISH</a:t>
            </a:r>
          </a:p>
        </p:txBody>
      </p:sp>
      <p:sp>
        <p:nvSpPr>
          <p:cNvPr id="33" name="Oval 32"/>
          <p:cNvSpPr/>
          <p:nvPr/>
        </p:nvSpPr>
        <p:spPr>
          <a:xfrm>
            <a:off x="6829485" y="4284085"/>
            <a:ext cx="50292" cy="50292"/>
          </a:xfrm>
          <a:prstGeom prst="ellipse">
            <a:avLst/>
          </a:prstGeom>
          <a:solidFill>
            <a:srgbClr val="E3B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2083" y="4212488"/>
            <a:ext cx="4180622" cy="4213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Float106 bit-exact error bounds are open. Lean proves the</a:t>
            </a:r>
          </a:p>
          <a:p>
            <a:pPr algn="l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real-field laws; the empirical bounds are Rust tests only.</a:t>
            </a:r>
          </a:p>
        </p:txBody>
      </p:sp>
      <p:sp>
        <p:nvSpPr>
          <p:cNvPr id="35" name="Oval 34"/>
          <p:cNvSpPr/>
          <p:nvPr/>
        </p:nvSpPr>
        <p:spPr>
          <a:xfrm>
            <a:off x="6829485" y="4815199"/>
            <a:ext cx="50292" cy="50292"/>
          </a:xfrm>
          <a:prstGeom prst="ellipse">
            <a:avLst/>
          </a:prstGeom>
          <a:solidFill>
            <a:srgbClr val="E3B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042083" y="4743602"/>
            <a:ext cx="4180622" cy="4213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Octonions sit outside the proved layer — Mathlib does not</a:t>
            </a:r>
          </a:p>
          <a:p>
            <a:pPr algn="l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carry them.</a:t>
            </a:r>
          </a:p>
        </p:txBody>
      </p:sp>
      <p:sp>
        <p:nvSpPr>
          <p:cNvPr id="37" name="Oval 36"/>
          <p:cNvSpPr/>
          <p:nvPr/>
        </p:nvSpPr>
        <p:spPr>
          <a:xfrm>
            <a:off x="6829485" y="5346313"/>
            <a:ext cx="50292" cy="50292"/>
          </a:xfrm>
          <a:prstGeom prst="ellipse">
            <a:avLst/>
          </a:prstGeom>
          <a:solidFill>
            <a:srgbClr val="E3B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2083" y="5274716"/>
            <a:ext cx="4180622" cy="6229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The unconditional quantum partial-trace preservation is</a:t>
            </a:r>
          </a:p>
          <a:p>
            <a:pPr algn="l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proved FALSE, with a witnessed counterexample. Only the</a:t>
            </a:r>
          </a:p>
          <a:p>
            <a:pPr algn="l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conditional version holds.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731520" y="632764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731520" y="6419088"/>
            <a:ext cx="5486400" cy="1532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spc="68">
                <a:solidFill>
                  <a:srgbClr val="6B7682"/>
                </a:solidFill>
                <a:latin typeface="JetBrains Mono"/>
              </a:rPr>
              <a:t>DEEPCAUSALITY · LF AI &amp; DATA · TAC 2026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31649" y="6419088"/>
            <a:ext cx="1828800" cy="1532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spc="68">
                <a:solidFill>
                  <a:srgbClr val="5CD4E1"/>
                </a:solidFill>
                <a:latin typeface="JetBrains Mono Medium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84048"/>
            <a:ext cx="10728929" cy="1929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PROJECT HEALTH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929" cy="4488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390"/>
              </a:lnSpc>
              <a:spcBef>
                <a:spcPts val="0"/>
              </a:spcBef>
              <a:spcAft>
                <a:spcPts val="0"/>
              </a:spcAft>
            </a:pPr>
            <a:r>
              <a:rPr sz="3000" spc="-36">
                <a:solidFill>
                  <a:srgbClr val="E6EDF3"/>
                </a:solidFill>
                <a:latin typeface="Geist Medium"/>
              </a:rPr>
              <a:t>Where the project stands in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71194"/>
            <a:ext cx="9441457" cy="2743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AAB3BD"/>
                </a:solidFill>
                <a:latin typeface="Geist"/>
              </a:rPr>
              <a:t>In September 2023, at the point of the Sandbox proposal, the repository held four crates.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1600962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731520" y="1875282"/>
            <a:ext cx="3430005" cy="1233510"/>
          </a:xfrm>
          <a:prstGeom prst="roundRect">
            <a:avLst>
              <a:gd name="adj" fmla="val 6671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092177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2046457"/>
            <a:ext cx="2936229" cy="4246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200"/>
              </a:lnSpc>
              <a:spcBef>
                <a:spcPts val="0"/>
              </a:spcBef>
              <a:spcAft>
                <a:spcPts val="0"/>
              </a:spcAft>
            </a:pPr>
            <a:r>
              <a:rPr sz="3200" spc="-38">
                <a:solidFill>
                  <a:srgbClr val="E6EDF3"/>
                </a:solidFill>
                <a:latin typeface="Geist Medium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2544297"/>
            <a:ext cx="2936229" cy="1751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950" spc="76">
                <a:solidFill>
                  <a:srgbClr val="5CD4E1"/>
                </a:solidFill>
                <a:latin typeface="JetBrains Mono Medium"/>
              </a:rPr>
              <a:t>CRATES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2756006"/>
            <a:ext cx="2936229" cy="19989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AAB3BD"/>
                </a:solidFill>
                <a:latin typeface="Geist"/>
              </a:rPr>
              <a:t>Four in 2023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0981" y="1875282"/>
            <a:ext cx="3430005" cy="1233510"/>
          </a:xfrm>
          <a:prstGeom prst="roundRect">
            <a:avLst>
              <a:gd name="adj" fmla="val 6671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0981" y="2092177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7013" y="2046457"/>
            <a:ext cx="2936229" cy="4246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200"/>
              </a:lnSpc>
              <a:spcBef>
                <a:spcPts val="0"/>
              </a:spcBef>
              <a:spcAft>
                <a:spcPts val="0"/>
              </a:spcAft>
            </a:pPr>
            <a:r>
              <a:rPr sz="3200" spc="-38">
                <a:solidFill>
                  <a:srgbClr val="E6EDF3"/>
                </a:solidFill>
                <a:latin typeface="Geist Medium"/>
              </a:rPr>
              <a:t>438k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7013" y="2544297"/>
            <a:ext cx="2936229" cy="1751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950" spc="76">
                <a:solidFill>
                  <a:srgbClr val="5CD4E1"/>
                </a:solidFill>
                <a:latin typeface="JetBrains Mono Medium"/>
              </a:rPr>
              <a:t>LINES OF RUST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7013" y="2756006"/>
            <a:ext cx="2936229" cy="19989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AAB3BD"/>
                </a:solidFill>
                <a:latin typeface="Geist"/>
              </a:rPr>
              <a:t>20.7k in 2023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30443" y="1875282"/>
            <a:ext cx="3430005" cy="1233510"/>
          </a:xfrm>
          <a:prstGeom prst="roundRect">
            <a:avLst>
              <a:gd name="adj" fmla="val 6671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30443" y="2092177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86475" y="2046457"/>
            <a:ext cx="2936229" cy="4246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200"/>
              </a:lnSpc>
              <a:spcBef>
                <a:spcPts val="0"/>
              </a:spcBef>
              <a:spcAft>
                <a:spcPts val="0"/>
              </a:spcAft>
            </a:pPr>
            <a:r>
              <a:rPr sz="3200" spc="-38">
                <a:solidFill>
                  <a:srgbClr val="E6EDF3"/>
                </a:solidFill>
                <a:latin typeface="Geist Medium"/>
              </a:rPr>
              <a:t>10,967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6475" y="2544297"/>
            <a:ext cx="2936229" cy="1751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950" spc="76">
                <a:solidFill>
                  <a:srgbClr val="5CD4E1"/>
                </a:solidFill>
                <a:latin typeface="JetBrains Mono Medium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6475" y="2756006"/>
            <a:ext cx="2936229" cy="19989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AAB3BD"/>
                </a:solidFill>
                <a:latin typeface="Geist"/>
              </a:rPr>
              <a:t>534 in 2023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3328248"/>
            <a:ext cx="3430005" cy="1233510"/>
          </a:xfrm>
          <a:prstGeom prst="roundRect">
            <a:avLst>
              <a:gd name="adj" fmla="val 6671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" y="3545144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" y="3499424"/>
            <a:ext cx="2936229" cy="4246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200"/>
              </a:lnSpc>
              <a:spcBef>
                <a:spcPts val="0"/>
              </a:spcBef>
              <a:spcAft>
                <a:spcPts val="0"/>
              </a:spcAft>
            </a:pPr>
            <a:r>
              <a:rPr sz="3200" spc="-38">
                <a:solidFill>
                  <a:srgbClr val="E6EDF3"/>
                </a:solidFill>
                <a:latin typeface="Geist Medium"/>
              </a:rPr>
              <a:t>113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" y="3997264"/>
            <a:ext cx="2936229" cy="1751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950" spc="76">
                <a:solidFill>
                  <a:srgbClr val="5CD4E1"/>
                </a:solidFill>
                <a:latin typeface="JetBrains Mono Medium"/>
              </a:rPr>
              <a:t>RUNNABLE EXAMPLES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7552" y="4208973"/>
            <a:ext cx="2936229" cy="19989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AAB3BD"/>
                </a:solidFill>
                <a:latin typeface="Geist"/>
              </a:rPr>
              <a:t>Across 14 domains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80981" y="3328248"/>
            <a:ext cx="3430005" cy="1233510"/>
          </a:xfrm>
          <a:prstGeom prst="roundRect">
            <a:avLst>
              <a:gd name="adj" fmla="val 6671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80981" y="3545144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37013" y="3499424"/>
            <a:ext cx="2936229" cy="4246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200"/>
              </a:lnSpc>
              <a:spcBef>
                <a:spcPts val="0"/>
              </a:spcBef>
              <a:spcAft>
                <a:spcPts val="0"/>
              </a:spcAft>
            </a:pPr>
            <a:r>
              <a:rPr sz="3200" spc="-38">
                <a:solidFill>
                  <a:srgbClr val="E6EDF3"/>
                </a:solidFill>
                <a:latin typeface="Geist Medium"/>
              </a:rPr>
              <a:t>183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37013" y="3997264"/>
            <a:ext cx="2936229" cy="1751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950" spc="76">
                <a:solidFill>
                  <a:srgbClr val="5CD4E1"/>
                </a:solidFill>
                <a:latin typeface="JetBrains Mono Medium"/>
              </a:rPr>
              <a:t>LEAN THEOREMS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37013" y="4208973"/>
            <a:ext cx="2936229" cy="19989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AAB3BD"/>
                </a:solidFill>
                <a:latin typeface="Geist"/>
              </a:rPr>
              <a:t>Bound to Rust witnesses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30443" y="3328248"/>
            <a:ext cx="3430005" cy="1233510"/>
          </a:xfrm>
          <a:prstGeom prst="roundRect">
            <a:avLst>
              <a:gd name="adj" fmla="val 6671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30443" y="3545144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86475" y="3499424"/>
            <a:ext cx="2936229" cy="4246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200"/>
              </a:lnSpc>
              <a:spcBef>
                <a:spcPts val="0"/>
              </a:spcBef>
              <a:spcAft>
                <a:spcPts val="0"/>
              </a:spcAft>
            </a:pPr>
            <a:r>
              <a:rPr sz="3200" spc="-38">
                <a:solidFill>
                  <a:srgbClr val="E6EDF3"/>
                </a:solidFill>
                <a:latin typeface="Geist Medium"/>
              </a:rPr>
              <a:t>23 / 29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86475" y="3997264"/>
            <a:ext cx="2936229" cy="1751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sz="950" spc="76">
                <a:solidFill>
                  <a:srgbClr val="5CD4E1"/>
                </a:solidFill>
                <a:latin typeface="JetBrains Mono Medium"/>
              </a:rPr>
              <a:t>ZERO-DEPENDENCY CRATES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86475" y="4208973"/>
            <a:ext cx="2936229" cy="19989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AAB3BD"/>
                </a:solidFill>
                <a:latin typeface="Geist"/>
              </a:rPr>
              <a:t>No external runtime deps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31520" y="4799502"/>
            <a:ext cx="10728929" cy="1042629"/>
          </a:xfrm>
          <a:prstGeom prst="roundRect">
            <a:avLst>
              <a:gd name="adj" fmla="val 7893"/>
            </a:avLst>
          </a:prstGeom>
          <a:solidFill>
            <a:srgbClr val="121A23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4988966"/>
            <a:ext cx="41148" cy="292608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9264" y="4970678"/>
            <a:ext cx="10253441" cy="25069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30"/>
              </a:lnSpc>
              <a:spcBef>
                <a:spcPts val="0"/>
              </a:spcBef>
              <a:spcAft>
                <a:spcPts val="0"/>
              </a:spcAft>
            </a:pPr>
            <a:r>
              <a:rPr sz="1500" spc="-17">
                <a:solidFill>
                  <a:srgbClr val="E6EDF3"/>
                </a:solidFill>
                <a:latin typeface="Geist Medium"/>
              </a:rPr>
              <a:t>Two build systems, one workspace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9264" y="5285384"/>
            <a:ext cx="10253441" cy="4038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18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Cargo and Bazel both build and test the full tree, and CI checks that no Cargo example is missing its Bazel target. unsafe_code = "forbid" is set</a:t>
            </a:r>
          </a:p>
          <a:p>
            <a:pPr algn="l">
              <a:lnSpc>
                <a:spcPts val="1518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repo-wide, with three exemptions, each carrying a written justification.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731520" y="632764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731520" y="6419088"/>
            <a:ext cx="5486400" cy="1532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spc="68">
                <a:solidFill>
                  <a:srgbClr val="6B7682"/>
                </a:solidFill>
                <a:latin typeface="JetBrains Mono"/>
              </a:rPr>
              <a:t>DEEPCAUSALITY · LF AI &amp; DATA · TAC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31649" y="6419088"/>
            <a:ext cx="1828800" cy="1532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spc="68">
                <a:solidFill>
                  <a:srgbClr val="5CD4E1"/>
                </a:solidFill>
                <a:latin typeface="JetBrains Mono Medium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84048"/>
            <a:ext cx="10728929" cy="1929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929" cy="4488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390"/>
              </a:lnSpc>
              <a:spcBef>
                <a:spcPts val="0"/>
              </a:spcBef>
              <a:spcAft>
                <a:spcPts val="0"/>
              </a:spcAft>
            </a:pPr>
            <a:r>
              <a:rPr sz="3000" spc="-36">
                <a:solidFill>
                  <a:srgbClr val="E6EDF3"/>
                </a:solidFill>
                <a:latin typeface="Geist Medium"/>
              </a:rPr>
              <a:t>How the project is run and supported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122605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731520" y="1500378"/>
            <a:ext cx="6598291" cy="4187952"/>
          </a:xfrm>
          <a:prstGeom prst="roundRect">
            <a:avLst>
              <a:gd name="adj" fmla="val 1965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9264" y="1738122"/>
            <a:ext cx="6122803" cy="1929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GOVERNANCE AND POSTURE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69264" y="2059051"/>
            <a:ext cx="6122803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969264" y="2191639"/>
            <a:ext cx="1700784" cy="1833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spc="80">
                <a:solidFill>
                  <a:srgbClr val="5CD4E1"/>
                </a:solidFill>
                <a:latin typeface="JetBrains Mono Medium"/>
              </a:rPr>
              <a:t>FOUNDATION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70048" y="2177923"/>
            <a:ext cx="4422019" cy="2139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1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LF AI &amp; Data Sandbox project since September 2023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69264" y="2492502"/>
            <a:ext cx="6122803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69264" y="2625090"/>
            <a:ext cx="1700784" cy="1833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spc="80">
                <a:solidFill>
                  <a:srgbClr val="5CD4E1"/>
                </a:solidFill>
                <a:latin typeface="JetBrains Mono Medium"/>
              </a:rPr>
              <a:t>LICENSE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70048" y="2611374"/>
            <a:ext cx="4422019" cy="2139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1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MIT, across every crate in the workspace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69264" y="2925953"/>
            <a:ext cx="6122803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69264" y="3058541"/>
            <a:ext cx="1700784" cy="1833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spc="80">
                <a:solidFill>
                  <a:srgbClr val="5CD4E1"/>
                </a:solidFill>
                <a:latin typeface="JetBrains Mono Medium"/>
              </a:rPr>
              <a:t>SECURITY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70048" y="3044825"/>
            <a:ext cx="4422019" cy="2139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1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OpenSSF Best Practices badge, security policy, Miri in CI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69264" y="3359404"/>
            <a:ext cx="6122803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69264" y="3491992"/>
            <a:ext cx="1700784" cy="1833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spc="80">
                <a:solidFill>
                  <a:srgbClr val="5CD4E1"/>
                </a:solidFill>
                <a:latin typeface="JetBrains Mono Medium"/>
              </a:rPr>
              <a:t>SUPPLY 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70048" y="3478276"/>
            <a:ext cx="4422019" cy="2139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1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OSV-Scanner on every pull request, merge group and push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69264" y="3792854"/>
            <a:ext cx="6122803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969264" y="3925442"/>
            <a:ext cx="1700784" cy="1833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spc="80">
                <a:solidFill>
                  <a:srgbClr val="5CD4E1"/>
                </a:solidFill>
                <a:latin typeface="JetBrains Mono Medium"/>
              </a:rPr>
              <a:t>QUALITY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70048" y="3911726"/>
            <a:ext cx="4422019" cy="2139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1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Codecov, CodeFactor, clippy and rustfmt gates on every PR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69264" y="4226306"/>
            <a:ext cx="6122803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969264" y="4358893"/>
            <a:ext cx="1700784" cy="1833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spc="80">
                <a:solidFill>
                  <a:srgbClr val="5CD4E1"/>
                </a:solidFill>
                <a:latin typeface="JetBrains Mono Medium"/>
              </a:rPr>
              <a:t>RELEASES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70048" y="4345177"/>
            <a:ext cx="4422019" cy="2139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1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release-plz publishes from CI and writes the changelog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69264" y="4659756"/>
            <a:ext cx="6122803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69264" y="4792344"/>
            <a:ext cx="1700784" cy="1833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spc="80">
                <a:solidFill>
                  <a:srgbClr val="5CD4E1"/>
                </a:solidFill>
                <a:latin typeface="JetBrains Mono Medium"/>
              </a:rPr>
              <a:t>PROOFS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70048" y="4778628"/>
            <a:ext cx="4422019" cy="2139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1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AAB3BD"/>
                </a:solidFill>
                <a:latin typeface="Geist"/>
              </a:rPr>
              <a:t>CI fails if a Lean theorem id has lost its Rust witness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69264" y="5093207"/>
            <a:ext cx="6122803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69264" y="5257799"/>
            <a:ext cx="6122803" cy="21107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18"/>
              </a:lnSpc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6B7682"/>
                </a:solidFill>
                <a:latin typeface="Geist"/>
              </a:rPr>
              <a:t>Contributing guide, code of conduct, and a written policy for AI coding assistants.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85843" y="1500378"/>
            <a:ext cx="3874605" cy="1476248"/>
          </a:xfrm>
          <a:prstGeom prst="roundRect">
            <a:avLst>
              <a:gd name="adj" fmla="val 5574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23587" y="1738122"/>
            <a:ext cx="3399117" cy="1929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COMMUNITY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23587" y="2059051"/>
            <a:ext cx="3399117" cy="2310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75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E6EDF3"/>
                </a:solidFill>
                <a:latin typeface="Geist"/>
              </a:rPr>
              <a:t>Discord · GitHub Discussions · LF lists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23587" y="2381504"/>
            <a:ext cx="3399117" cy="37566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07"/>
              </a:lnSpc>
              <a:spcBef>
                <a:spcPts val="0"/>
              </a:spcBef>
              <a:spcAft>
                <a:spcPts val="0"/>
              </a:spcAft>
            </a:pPr>
            <a:r>
              <a:rPr sz="1050" spc="15">
                <a:solidFill>
                  <a:srgbClr val="5CD4E1"/>
                </a:solidFill>
                <a:latin typeface="JetBrains Mono Medium"/>
              </a:rPr>
              <a:t>deepcausality.com ·</a:t>
            </a:r>
          </a:p>
          <a:p>
            <a:pPr algn="l">
              <a:lnSpc>
                <a:spcPts val="1407"/>
              </a:lnSpc>
              <a:spcBef>
                <a:spcPts val="0"/>
              </a:spcBef>
              <a:spcAft>
                <a:spcPts val="0"/>
              </a:spcAft>
            </a:pPr>
            <a:r>
              <a:rPr sz="1050" spc="15">
                <a:solidFill>
                  <a:srgbClr val="5CD4E1"/>
                </a:solidFill>
                <a:latin typeface="JetBrains Mono Medium"/>
              </a:rPr>
              <a:t>cfd.deepcausality.com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585843" y="3232658"/>
            <a:ext cx="3874605" cy="2520353"/>
          </a:xfrm>
          <a:prstGeom prst="roundRect">
            <a:avLst>
              <a:gd name="adj" fmla="val 3265"/>
            </a:avLst>
          </a:prstGeom>
          <a:solidFill>
            <a:srgbClr val="0B1118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7585843" y="3232658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7585843" y="3232658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11295857" y="3232658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1460449" y="3232658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7585843" y="5753011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7585843" y="5588419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>
            <a:off x="11295857" y="5753011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11460449" y="5588419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7823587" y="3470402"/>
            <a:ext cx="3399117" cy="1929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SPONSORS</a:t>
            </a:r>
          </a:p>
        </p:txBody>
      </p:sp>
      <p:pic>
        <p:nvPicPr>
          <p:cNvPr id="44" name="Picture 43" descr="jetbrai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4171" y="3855338"/>
            <a:ext cx="658368" cy="65919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939155" y="3886611"/>
            <a:ext cx="2283549" cy="21513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spc="-13">
                <a:solidFill>
                  <a:srgbClr val="E6EDF3"/>
                </a:solidFill>
                <a:latin typeface="Geist Medium"/>
              </a:rPr>
              <a:t>JetBrains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939155" y="4120037"/>
            <a:ext cx="2283549" cy="38150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AAB3BD"/>
                </a:solidFill>
                <a:latin typeface="Geist"/>
              </a:rPr>
              <a:t>All-product licences for core</a:t>
            </a:r>
          </a:p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AAB3BD"/>
                </a:solidFill>
                <a:latin typeface="Geist"/>
              </a:rPr>
              <a:t>maintainers</a:t>
            </a:r>
          </a:p>
        </p:txBody>
      </p:sp>
      <p:pic>
        <p:nvPicPr>
          <p:cNvPr id="47" name="Picture 46" descr="center_emblem_cre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0163" y="4807137"/>
            <a:ext cx="786384" cy="66241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8939155" y="4930824"/>
            <a:ext cx="2283549" cy="21513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spc="-13">
                <a:solidFill>
                  <a:srgbClr val="E6EDF3"/>
                </a:solidFill>
                <a:latin typeface="Geist Medium"/>
              </a:rPr>
              <a:t>Center for Dynamic Causality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939155" y="5164250"/>
            <a:ext cx="2283549" cy="19989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AAB3BD"/>
                </a:solidFill>
                <a:latin typeface="Geist"/>
              </a:rPr>
              <a:t>Ongoing research and resources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731520" y="632764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731520" y="6419088"/>
            <a:ext cx="5486400" cy="1532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spc="68">
                <a:solidFill>
                  <a:srgbClr val="6B7682"/>
                </a:solidFill>
                <a:latin typeface="JetBrains Mono"/>
              </a:rPr>
              <a:t>DEEPCAUSALITY · LF AI &amp; DATA · TAC 2026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31649" y="6419088"/>
            <a:ext cx="1828800" cy="1532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spc="68">
                <a:solidFill>
                  <a:srgbClr val="5CD4E1"/>
                </a:solidFill>
                <a:latin typeface="JetBrains Mono Medium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84048"/>
            <a:ext cx="10728929" cy="1929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spc="88">
                <a:solidFill>
                  <a:srgbClr val="5CD4E1"/>
                </a:solidFill>
                <a:latin typeface="JetBrains Mono Medium"/>
              </a:rPr>
              <a:t>COLLABORATE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929" cy="4488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390"/>
              </a:lnSpc>
              <a:spcBef>
                <a:spcPts val="0"/>
              </a:spcBef>
              <a:spcAft>
                <a:spcPts val="0"/>
              </a:spcAft>
            </a:pPr>
            <a:r>
              <a:rPr sz="3000" spc="-36">
                <a:solidFill>
                  <a:srgbClr val="E6EDF3"/>
                </a:solidFill>
                <a:latin typeface="Geist Medium"/>
              </a:rPr>
              <a:t>Where the project would value help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1235202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731520" y="1527810"/>
            <a:ext cx="3417813" cy="2156460"/>
          </a:xfrm>
          <a:prstGeom prst="roundRect">
            <a:avLst>
              <a:gd name="adj" fmla="val 3816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783842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1765554"/>
            <a:ext cx="2924037" cy="25450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59"/>
              </a:lnSpc>
              <a:spcBef>
                <a:spcPts val="0"/>
              </a:spcBef>
              <a:spcAft>
                <a:spcPts val="0"/>
              </a:spcAft>
            </a:pPr>
            <a:r>
              <a:rPr sz="1550" spc="-17">
                <a:solidFill>
                  <a:srgbClr val="E6EDF3"/>
                </a:solidFill>
                <a:latin typeface="Geist Medium"/>
              </a:rPr>
              <a:t>Domain partners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2129790"/>
            <a:ext cx="2924037" cy="133502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The stack is strongest where a</a:t>
            </a:r>
          </a:p>
          <a:p>
            <a:pPr algn="l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regulated domain needs an audit trail:</a:t>
            </a:r>
          </a:p>
          <a:p>
            <a:pPr algn="l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avionics, medicine, industrial control,</a:t>
            </a:r>
          </a:p>
          <a:p>
            <a:pPr algn="l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finance. A partner with a real decision</a:t>
            </a:r>
          </a:p>
          <a:p>
            <a:pPr algn="l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boundary is worth more than another</a:t>
            </a:r>
          </a:p>
          <a:p>
            <a:pPr algn="l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benchmark.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7077" y="1527810"/>
            <a:ext cx="3417813" cy="2156460"/>
          </a:xfrm>
          <a:prstGeom prst="roundRect">
            <a:avLst>
              <a:gd name="adj" fmla="val 3816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7077" y="1783842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43109" y="1765554"/>
            <a:ext cx="2924037" cy="25450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59"/>
              </a:lnSpc>
              <a:spcBef>
                <a:spcPts val="0"/>
              </a:spcBef>
              <a:spcAft>
                <a:spcPts val="0"/>
              </a:spcAft>
            </a:pPr>
            <a:r>
              <a:rPr sz="1550" spc="-17">
                <a:solidFill>
                  <a:srgbClr val="E6EDF3"/>
                </a:solidFill>
                <a:latin typeface="Geist Medium"/>
              </a:rPr>
              <a:t>Adjacent LF projects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3109" y="2129790"/>
            <a:ext cx="2924037" cy="11155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The propagating effect is a natural seam</a:t>
            </a:r>
          </a:p>
          <a:p>
            <a:pPr algn="l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for anything that already produces a</a:t>
            </a:r>
          </a:p>
          <a:p>
            <a:pPr algn="l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verdict and then has to explain it. If your</a:t>
            </a:r>
          </a:p>
          <a:p>
            <a:pPr algn="l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project has that shape, the integration</a:t>
            </a:r>
          </a:p>
          <a:p>
            <a:pPr algn="l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surface is small.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2635" y="1527810"/>
            <a:ext cx="3417813" cy="2156460"/>
          </a:xfrm>
          <a:prstGeom prst="roundRect">
            <a:avLst>
              <a:gd name="adj" fmla="val 3816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2635" y="1783842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8667" y="1765554"/>
            <a:ext cx="2924037" cy="25450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59"/>
              </a:lnSpc>
              <a:spcBef>
                <a:spcPts val="0"/>
              </a:spcBef>
              <a:spcAft>
                <a:spcPts val="0"/>
              </a:spcAft>
            </a:pPr>
            <a:r>
              <a:rPr sz="1550" spc="-17">
                <a:solidFill>
                  <a:srgbClr val="E6EDF3"/>
                </a:solidFill>
                <a:latin typeface="Geist Medium"/>
              </a:rPr>
              <a:t>Reviewers and provers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8667" y="2129790"/>
            <a:ext cx="2924037" cy="8961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The Lean layer publishes its open edges.</a:t>
            </a:r>
          </a:p>
          <a:p>
            <a:pPr algn="l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Extending the proved surface —</a:t>
            </a:r>
          </a:p>
          <a:p>
            <a:pPr algn="l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particularly the quantum foundation —</a:t>
            </a:r>
          </a:p>
          <a:p>
            <a:pPr algn="l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AB3BD"/>
                </a:solidFill>
                <a:latin typeface="Geist"/>
              </a:rPr>
              <a:t>is well-scoped, self-contained work.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31520" y="4251198"/>
            <a:ext cx="10728929" cy="0"/>
          </a:xfrm>
          <a:prstGeom prst="line">
            <a:avLst/>
          </a:prstGeom>
          <a:ln w="9525">
            <a:solidFill>
              <a:srgbClr val="2A3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3390892" y="4228338"/>
            <a:ext cx="45720" cy="45720"/>
          </a:xfrm>
          <a:prstGeom prst="ellipse">
            <a:avLst/>
          </a:prstGeom>
          <a:solidFill>
            <a:srgbClr val="5CD4E1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073124" y="4228338"/>
            <a:ext cx="45720" cy="45720"/>
          </a:xfrm>
          <a:prstGeom prst="ellipse">
            <a:avLst/>
          </a:prstGeom>
          <a:solidFill>
            <a:srgbClr val="5CD4E1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55357" y="4228338"/>
            <a:ext cx="45720" cy="45720"/>
          </a:xfrm>
          <a:prstGeom prst="ellipse">
            <a:avLst/>
          </a:prstGeom>
          <a:solidFill>
            <a:srgbClr val="5CD4E1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0" y="4562094"/>
            <a:ext cx="12191969" cy="42011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3163"/>
              </a:lnSpc>
              <a:spcBef>
                <a:spcPts val="0"/>
              </a:spcBef>
              <a:spcAft>
                <a:spcPts val="0"/>
              </a:spcAft>
            </a:pPr>
            <a:r>
              <a:rPr sz="2800" spc="-33">
                <a:solidFill>
                  <a:srgbClr val="E6EDF3"/>
                </a:solidFill>
                <a:latin typeface="Geist Medium"/>
              </a:rPr>
              <a:t>Thank you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0" y="5183378"/>
            <a:ext cx="12191969" cy="2246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AAB3BD"/>
                </a:solidFill>
                <a:latin typeface="Geist"/>
              </a:rPr>
              <a:t>Marvin Hansen · Director, Center for Dynamic Causality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0" y="5462905"/>
            <a:ext cx="12191969" cy="19164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365"/>
              </a:lnSpc>
              <a:spcBef>
                <a:spcPts val="0"/>
              </a:spcBef>
              <a:spcAft>
                <a:spcPts val="0"/>
              </a:spcAft>
            </a:pPr>
            <a:r>
              <a:rPr sz="1050" spc="25">
                <a:solidFill>
                  <a:srgbClr val="5CD4E1"/>
                </a:solidFill>
                <a:latin typeface="JetBrains Mono Medium"/>
              </a:rPr>
              <a:t>github.com/deepcausality-rs/deep_causality · deepcausality.com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31520" y="632764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31520" y="6419088"/>
            <a:ext cx="5486400" cy="1532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spc="68">
                <a:solidFill>
                  <a:srgbClr val="6B7682"/>
                </a:solidFill>
                <a:latin typeface="JetBrains Mono"/>
              </a:rPr>
              <a:t>DEEPCAUSALITY · LF AI &amp; DATA · TAC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31649" y="6419088"/>
            <a:ext cx="1828800" cy="1532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spc="68">
                <a:solidFill>
                  <a:srgbClr val="5CD4E1"/>
                </a:solidFill>
                <a:latin typeface="JetBrains Mono Medium"/>
              </a:rP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